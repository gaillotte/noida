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deck covers what KMIP is, how this implementation is designed on top of PKCS#11, what a full KMS needs beyond it, where we stand against the commercial market, and the route forward. Every number on this slide was verified by running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KMIP is substitution. Before it, key management was a lock-in surface. Note it is a protocol and object model, not a product — a distinction that matters again three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Deactivated rule is the one people get wrong: a retired key keeps Decrypt and Verify. If it did not, retiring a key would destroy access to everything it ever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hinge of the deck. Everything we later call a gap 'outside KMIP' traces back to the right-hand column — it is not that we have not implemented those things, it is that the protocol has no way to express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to remember: everything above the shim is protocol and policy; everything below is the token. That boundary is what makes a validated-HSM swap a procurement decision rather than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matched-pair point is the one operators get wrong. Restore refuses a mismatched token for exactly this reason, and backup verification proves a stored secret actually decrypts rather than assuming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slide from this section survives, it should be this one. The left card is the design constraint for the next section; the middle card is the answer to 'why not just add threads'.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card is the design discipline. It is tempting to expose encrypt/decrypt over REST because it is easy; that is how products end up with divergent authorization on two paths to the same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sequencing argument: the service layer in the middle is the first thing to build, and it can be built and shipped before any REST endpoint exists, as a pure refactor proven by the existing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statistic is the one to dwell on: 23 of the shortfalls are not backlog items for the KMIP layer at all. Integration and identity are where the concentration of gaps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for all of it: 816 tests running live against a real SoftHSM2 token rather than mocks, built up across phases 0 to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them: the red five are engineering we could start tomorrow — except the fifth, which is a reason to prefer a token that binds policy to the key. The amber three are trade-offs with known costs. The blue two depend on suppliers rather than on us. The last two red and amber cards came from reading Securosys and HashiCorp Vault in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 assessed features, 50 short of full coverage; these 26 steps close 50. Phases 0 to 5 used exactly this structure and all six gates were met, so the format is proven on this codebase rather than borrowed.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one to insist on. It ships no feature and removes the risk that every later endpoint quietly bypasses dual control. If the plan gets cut, cut from the end, not from the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boundary rather than the feature list. The previous revision deferred sixteen features; this one routes all of them and names what each blocked step is waiting for instead. That is a more useful statement and a more demanding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1783080"/>
            <a:ext cx="11027664"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KMIP on PKCS#11</a:t>
            </a:r>
            <a:endParaRPr lang="en-US" sz="5400" dirty="0"/>
          </a:p>
        </p:txBody>
      </p:sp>
      <p:sp>
        <p:nvSpPr>
          <p:cNvPr id="3" name="Text 1"/>
          <p:cNvSpPr txBox="1"/>
          <p:nvPr/>
        </p:nvSpPr>
        <p:spPr>
          <a:xfrm>
            <a:off x="566928" y="2743200"/>
            <a:ext cx="11027664" cy="457200"/>
          </a:xfrm>
          <a:prstGeom prst="rect">
            <a:avLst/>
          </a:prstGeom>
          <a:noFill/>
          <a:ln/>
        </p:spPr>
        <p:txBody>
          <a:bodyPr wrap="square" lIns="0" tIns="0" rIns="0" bIns="0" rtlCol="0" anchor="ctr"/>
          <a:lstStyle/>
          <a:p>
            <a:pPr indent="0" marL="0">
              <a:buNone/>
            </a:pPr>
            <a:r>
              <a:rPr lang="en-US" sz="2400" dirty="0">
                <a:solidFill>
                  <a:srgbClr val="9DB8D4"/>
                </a:solidFill>
                <a:latin typeface="Cambria" pitchFamily="34" charset="0"/>
                <a:ea typeface="Cambria" pitchFamily="34" charset="-122"/>
                <a:cs typeface="Cambria" pitchFamily="34" charset="-120"/>
              </a:rPr>
              <a:t>From key server to key management service</a:t>
            </a:r>
            <a:endParaRPr lang="en-US" sz="2400" dirty="0"/>
          </a:p>
        </p:txBody>
      </p:sp>
      <p:sp>
        <p:nvSpPr>
          <p:cNvPr id="4" name="Text 2"/>
          <p:cNvSpPr txBox="1"/>
          <p:nvPr/>
        </p:nvSpPr>
        <p:spPr>
          <a:xfrm>
            <a:off x="566928" y="3310128"/>
            <a:ext cx="11027664" cy="365760"/>
          </a:xfrm>
          <a:prstGeom prst="rect">
            <a:avLst/>
          </a:prstGeom>
          <a:noFill/>
          <a:ln/>
        </p:spPr>
        <p:txBody>
          <a:bodyPr wrap="square" lIns="0" tIns="0" rIns="0" bIns="0" rtlCol="0" anchor="ctr"/>
          <a:lstStyle/>
          <a:p>
            <a:pPr indent="0" marL="0">
              <a:buNone/>
            </a:pPr>
            <a:r>
              <a:rPr lang="en-US" sz="1400" spc="140" kern="0" dirty="0">
                <a:solidFill>
                  <a:srgbClr val="C8952B"/>
                </a:solidFill>
                <a:latin typeface="Calibri" pitchFamily="34" charset="0"/>
                <a:ea typeface="Calibri" pitchFamily="34" charset="-122"/>
                <a:cs typeface="Calibri" pitchFamily="34" charset="-120"/>
              </a:rPr>
              <a:t>Design · gap analysis · roadmap</a:t>
            </a:r>
            <a:endParaRPr lang="en-US" sz="1400" dirty="0"/>
          </a:p>
        </p:txBody>
      </p:sp>
      <p:sp>
        <p:nvSpPr>
          <p:cNvPr id="5" name="Text 3"/>
          <p:cNvSpPr txBox="1"/>
          <p:nvPr/>
        </p:nvSpPr>
        <p:spPr>
          <a:xfrm>
            <a:off x="56692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41 / 53</a:t>
            </a:r>
            <a:endParaRPr lang="en-US" sz="3000" dirty="0"/>
          </a:p>
        </p:txBody>
      </p:sp>
      <p:sp>
        <p:nvSpPr>
          <p:cNvPr id="6" name="Text 4"/>
          <p:cNvSpPr txBox="1"/>
          <p:nvPr/>
        </p:nvSpPr>
        <p:spPr>
          <a:xfrm>
            <a:off x="56692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KMIP 2.1 operations</a:t>
            </a:r>
            <a:endParaRPr lang="en-US" sz="1150" dirty="0"/>
          </a:p>
        </p:txBody>
      </p:sp>
      <p:sp>
        <p:nvSpPr>
          <p:cNvPr id="7" name="Text 5"/>
          <p:cNvSpPr txBox="1"/>
          <p:nvPr/>
        </p:nvSpPr>
        <p:spPr>
          <a:xfrm>
            <a:off x="335584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816</a:t>
            </a:r>
            <a:endParaRPr lang="en-US" sz="3000" dirty="0"/>
          </a:p>
        </p:txBody>
      </p:sp>
      <p:sp>
        <p:nvSpPr>
          <p:cNvPr id="8" name="Text 6"/>
          <p:cNvSpPr txBox="1"/>
          <p:nvPr/>
        </p:nvSpPr>
        <p:spPr>
          <a:xfrm>
            <a:off x="335584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tests, live against a token</a:t>
            </a:r>
            <a:endParaRPr lang="en-US" sz="1150" dirty="0"/>
          </a:p>
        </p:txBody>
      </p:sp>
      <p:sp>
        <p:nvSpPr>
          <p:cNvPr id="9" name="Text 7"/>
          <p:cNvSpPr txBox="1"/>
          <p:nvPr/>
        </p:nvSpPr>
        <p:spPr>
          <a:xfrm>
            <a:off x="614476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82</a:t>
            </a:r>
            <a:endParaRPr lang="en-US" sz="3000" dirty="0"/>
          </a:p>
        </p:txBody>
      </p:sp>
      <p:sp>
        <p:nvSpPr>
          <p:cNvPr id="10" name="Text 8"/>
          <p:cNvSpPr txBox="1"/>
          <p:nvPr/>
        </p:nvSpPr>
        <p:spPr>
          <a:xfrm>
            <a:off x="614476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features assessed vs market</a:t>
            </a:r>
            <a:endParaRPr lang="en-US" sz="1150" dirty="0"/>
          </a:p>
        </p:txBody>
      </p:sp>
      <p:sp>
        <p:nvSpPr>
          <p:cNvPr id="11" name="Text 9"/>
          <p:cNvSpPr txBox="1"/>
          <p:nvPr/>
        </p:nvSpPr>
        <p:spPr>
          <a:xfrm>
            <a:off x="893368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23</a:t>
            </a:r>
            <a:endParaRPr lang="en-US" sz="3000" dirty="0"/>
          </a:p>
        </p:txBody>
      </p:sp>
      <p:sp>
        <p:nvSpPr>
          <p:cNvPr id="12" name="Text 10"/>
          <p:cNvSpPr txBox="1"/>
          <p:nvPr/>
        </p:nvSpPr>
        <p:spPr>
          <a:xfrm>
            <a:off x="893368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gaps outside KMIP's reach</a:t>
            </a:r>
            <a:endParaRPr lang="en-US" sz="1150" dirty="0"/>
          </a:p>
        </p:txBody>
      </p:sp>
      <p:sp>
        <p:nvSpPr>
          <p:cNvPr id="13" name="Text 11"/>
          <p:cNvSpPr txBox="1"/>
          <p:nvPr/>
        </p:nvSpPr>
        <p:spPr>
          <a:xfrm>
            <a:off x="566928" y="6108192"/>
            <a:ext cx="11027664" cy="274320"/>
          </a:xfrm>
          <a:prstGeom prst="rect">
            <a:avLst/>
          </a:prstGeom>
          <a:noFill/>
          <a:ln/>
        </p:spPr>
        <p:txBody>
          <a:bodyPr wrap="square" lIns="0" tIns="0" rIns="0" bIns="0" rtlCol="0" anchor="ctr"/>
          <a:lstStyle/>
          <a:p>
            <a:pPr indent="0" marL="0">
              <a:buNone/>
            </a:pPr>
            <a:r>
              <a:rPr lang="en-US" sz="1050" dirty="0">
                <a:solidFill>
                  <a:srgbClr val="6B8299"/>
                </a:solidFill>
                <a:latin typeface="Calibri" pitchFamily="34" charset="0"/>
                <a:ea typeface="Calibri" pitchFamily="34" charset="-122"/>
                <a:cs typeface="Calibri" pitchFamily="34" charset="-120"/>
              </a:rPr>
              <a:t>kmip_pkcs11  ·  September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One protocol for every key store</a:t>
            </a:r>
            <a:endParaRPr lang="en-US" sz="3400" dirty="0"/>
          </a:p>
        </p:txBody>
      </p:sp>
      <p:sp>
        <p:nvSpPr>
          <p:cNvPr id="4" name="Shape 2"/>
          <p:cNvSpPr/>
          <p:nvPr/>
        </p:nvSpPr>
        <p:spPr>
          <a:xfrm>
            <a:off x="566928" y="1572768"/>
            <a:ext cx="5394960" cy="2560320"/>
          </a:xfrm>
          <a:prstGeom prst="roundRect">
            <a:avLst>
              <a:gd name="adj" fmla="val 214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BEFORE</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N vendors, N integrations</a:t>
            </a:r>
            <a:endParaRPr lang="en-US" sz="1600" dirty="0"/>
          </a:p>
        </p:txBody>
      </p:sp>
      <p:sp>
        <p:nvSpPr>
          <p:cNvPr id="7" name="Text 5"/>
          <p:cNvSpPr txBox="1"/>
          <p:nvPr/>
        </p:nvSpPr>
        <p:spPr>
          <a:xfrm>
            <a:off x="804672" y="2393696"/>
            <a:ext cx="4919472" cy="15748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Every HSM and KMS exposed its own proprietary API</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Each database, backup tool and storage array needed bespoke work</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Changing vendor meant rewriting every integration</a:t>
            </a:r>
            <a:endParaRPr lang="en-US" sz="1300" dirty="0"/>
          </a:p>
        </p:txBody>
      </p:sp>
      <p:sp>
        <p:nvSpPr>
          <p:cNvPr id="8" name="Shape 6"/>
          <p:cNvSpPr/>
          <p:nvPr/>
        </p:nvSpPr>
        <p:spPr>
          <a:xfrm>
            <a:off x="6236208" y="1572768"/>
            <a:ext cx="5394960" cy="2560320"/>
          </a:xfrm>
          <a:prstGeom prst="roundRect">
            <a:avLst>
              <a:gd name="adj" fmla="val 2143"/>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WITH KMIP</a:t>
            </a:r>
            <a:endParaRPr lang="en-US" sz="1000" dirty="0"/>
          </a:p>
        </p:txBody>
      </p:sp>
      <p:sp>
        <p:nvSpPr>
          <p:cNvPr id="10" name="Text 8"/>
          <p:cNvSpPr txBox="1"/>
          <p:nvPr/>
        </p:nvSpPr>
        <p:spPr>
          <a:xfrm>
            <a:off x="647395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One protocol, many products</a:t>
            </a:r>
            <a:endParaRPr lang="en-US" sz="1600" dirty="0"/>
          </a:p>
        </p:txBody>
      </p:sp>
      <p:sp>
        <p:nvSpPr>
          <p:cNvPr id="11" name="Text 9"/>
          <p:cNvSpPr txBox="1"/>
          <p:nvPr/>
        </p:nvSpPr>
        <p:spPr>
          <a:xfrm>
            <a:off x="6473952" y="2393696"/>
            <a:ext cx="4919472" cy="15748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 client speaks KMIP once and talks to any compliant server</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Oracle TDE, SQL Server, NetApp, VMware and Veeam all speak it</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Vendor substitution becomes a configuration change</a:t>
            </a:r>
            <a:endParaRPr lang="en-US" sz="1300" dirty="0"/>
          </a:p>
        </p:txBody>
      </p:sp>
      <p:sp>
        <p:nvSpPr>
          <p:cNvPr id="12" name="Shape 10"/>
          <p:cNvSpPr/>
          <p:nvPr/>
        </p:nvSpPr>
        <p:spPr>
          <a:xfrm>
            <a:off x="566928" y="4315968"/>
            <a:ext cx="11027664" cy="2121408"/>
          </a:xfrm>
          <a:prstGeom prst="roundRect">
            <a:avLst>
              <a:gd name="adj" fmla="val 258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04672" y="4517136"/>
            <a:ext cx="10552176"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the standard actually is</a:t>
            </a:r>
            <a:endParaRPr lang="en-US" sz="1600" dirty="0"/>
          </a:p>
        </p:txBody>
      </p:sp>
      <p:sp>
        <p:nvSpPr>
          <p:cNvPr id="14" name="Text 12"/>
          <p:cNvSpPr txBox="1"/>
          <p:nvPr/>
        </p:nvSpPr>
        <p:spPr>
          <a:xfrm>
            <a:off x="804672" y="4862576"/>
            <a:ext cx="10552176" cy="141020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An OASIS standard: a wire protocol plus an object model, not a product</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TTLV — tag, type, length, value — a compact binary encoding carried over TLS</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Client/server, request/response, with batching; 53 operations defined in version 2.1</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Governs the whole life of a key: create, use, rotate, retire, destroy, and prove what happened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Managed objects, attributes, a lifecycle</a:t>
            </a:r>
            <a:endParaRPr lang="en-US" sz="3400" dirty="0"/>
          </a:p>
        </p:txBody>
      </p:sp>
      <p:sp>
        <p:nvSpPr>
          <p:cNvPr id="4" name="Shape 2"/>
          <p:cNvSpPr/>
          <p:nvPr/>
        </p:nvSpPr>
        <p:spPr>
          <a:xfrm>
            <a:off x="566928" y="1572768"/>
            <a:ext cx="3520440" cy="2944368"/>
          </a:xfrm>
          <a:prstGeom prst="roundRect">
            <a:avLst>
              <a:gd name="adj" fmla="val 186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OBJECT TYPES</a:t>
            </a:r>
            <a:endParaRPr lang="en-US" sz="1000" dirty="0"/>
          </a:p>
        </p:txBody>
      </p:sp>
      <p:sp>
        <p:nvSpPr>
          <p:cNvPr id="6" name="Text 4"/>
          <p:cNvSpPr txBox="1"/>
          <p:nvPr/>
        </p:nvSpPr>
        <p:spPr>
          <a:xfrm>
            <a:off x="804672" y="204825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KMIP manages</a:t>
            </a:r>
            <a:endParaRPr lang="en-US" sz="1600" dirty="0"/>
          </a:p>
        </p:txBody>
      </p:sp>
      <p:sp>
        <p:nvSpPr>
          <p:cNvPr id="7" name="Text 5"/>
          <p:cNvSpPr txBox="1"/>
          <p:nvPr/>
        </p:nvSpPr>
        <p:spPr>
          <a:xfrm>
            <a:off x="804672" y="2393696"/>
            <a:ext cx="3044952" cy="195884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SymmetricKey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PublicKey / PrivateKey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Certificate</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SecretData</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OpaqueObject</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SplitKey</a:t>
            </a:r>
            <a:endParaRPr lang="en-US" sz="1250" dirty="0"/>
          </a:p>
        </p:txBody>
      </p:sp>
      <p:sp>
        <p:nvSpPr>
          <p:cNvPr id="8" name="Shape 6"/>
          <p:cNvSpPr/>
          <p:nvPr/>
        </p:nvSpPr>
        <p:spPr>
          <a:xfrm>
            <a:off x="4334256" y="1572768"/>
            <a:ext cx="3520440" cy="2944368"/>
          </a:xfrm>
          <a:prstGeom prst="roundRect">
            <a:avLst>
              <a:gd name="adj" fmla="val 186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4572000" y="177393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ATTRIBUTES</a:t>
            </a:r>
            <a:endParaRPr lang="en-US" sz="1000" dirty="0"/>
          </a:p>
        </p:txBody>
      </p:sp>
      <p:sp>
        <p:nvSpPr>
          <p:cNvPr id="10" name="Text 8"/>
          <p:cNvSpPr txBox="1"/>
          <p:nvPr/>
        </p:nvSpPr>
        <p:spPr>
          <a:xfrm>
            <a:off x="4572000" y="204825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describes them</a:t>
            </a:r>
            <a:endParaRPr lang="en-US" sz="1600" dirty="0"/>
          </a:p>
        </p:txBody>
      </p:sp>
      <p:sp>
        <p:nvSpPr>
          <p:cNvPr id="11" name="Text 9"/>
          <p:cNvSpPr txBox="1"/>
          <p:nvPr/>
        </p:nvSpPr>
        <p:spPr>
          <a:xfrm>
            <a:off x="4572000" y="2393696"/>
            <a:ext cx="3044952" cy="195884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Algorithm and length</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Cryptographic usage mask</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Name and custom x- attributes</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Links between keys</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Dates: activation, deactivation</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Owner and state</a:t>
            </a:r>
            <a:endParaRPr lang="en-US" sz="1250" dirty="0"/>
          </a:p>
        </p:txBody>
      </p:sp>
      <p:sp>
        <p:nvSpPr>
          <p:cNvPr id="12" name="Shape 10"/>
          <p:cNvSpPr/>
          <p:nvPr/>
        </p:nvSpPr>
        <p:spPr>
          <a:xfrm>
            <a:off x="8101584" y="1572768"/>
            <a:ext cx="3529584" cy="2944368"/>
          </a:xfrm>
          <a:prstGeom prst="roundRect">
            <a:avLst>
              <a:gd name="adj" fmla="val 186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339328" y="1773936"/>
            <a:ext cx="305409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SUBTLE ONE</a:t>
            </a:r>
            <a:endParaRPr lang="en-US" sz="1000" dirty="0"/>
          </a:p>
        </p:txBody>
      </p:sp>
      <p:sp>
        <p:nvSpPr>
          <p:cNvPr id="14" name="Text 12"/>
          <p:cNvSpPr txBox="1"/>
          <p:nvPr/>
        </p:nvSpPr>
        <p:spPr>
          <a:xfrm>
            <a:off x="8339328" y="2048256"/>
            <a:ext cx="3054096"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Cryptoperiod</a:t>
            </a:r>
            <a:endParaRPr lang="en-US" sz="1600" dirty="0"/>
          </a:p>
        </p:txBody>
      </p:sp>
      <p:sp>
        <p:nvSpPr>
          <p:cNvPr id="15" name="Text 13"/>
          <p:cNvSpPr txBox="1"/>
          <p:nvPr/>
        </p:nvSpPr>
        <p:spPr>
          <a:xfrm>
            <a:off x="8339328" y="2393696"/>
            <a:ext cx="3054096" cy="195884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KMIP defines no cryptoperiod attribute. The Deactivation Date is the end of the period — so enforcing a cryptoperiod means acting on a standard attribute, not inventing a parallel one.</a:t>
            </a:r>
            <a:endParaRPr lang="en-US" sz="1250" dirty="0"/>
          </a:p>
        </p:txBody>
      </p:sp>
      <p:sp>
        <p:nvSpPr>
          <p:cNvPr id="16" name="Text 14"/>
          <p:cNvSpPr txBox="1"/>
          <p:nvPr/>
        </p:nvSpPr>
        <p:spPr>
          <a:xfrm>
            <a:off x="566928" y="4681728"/>
            <a:ext cx="2743200" cy="256032"/>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Lifecycle</a:t>
            </a:r>
            <a:endParaRPr lang="en-US" sz="1000" dirty="0"/>
          </a:p>
        </p:txBody>
      </p:sp>
      <p:sp>
        <p:nvSpPr>
          <p:cNvPr id="17" name="Shape 15"/>
          <p:cNvSpPr/>
          <p:nvPr/>
        </p:nvSpPr>
        <p:spPr>
          <a:xfrm>
            <a:off x="566928" y="4974336"/>
            <a:ext cx="1901952" cy="566928"/>
          </a:xfrm>
          <a:prstGeom prst="roundRect">
            <a:avLst>
              <a:gd name="adj" fmla="val 9677"/>
            </a:avLst>
          </a:prstGeom>
          <a:solidFill>
            <a:srgbClr val="2E6DA4"/>
          </a:solidFill>
          <a:ln w="12700">
            <a:solidFill>
              <a:srgbClr val="2E6DA4"/>
            </a:solidFill>
            <a:prstDash val="solid"/>
          </a:ln>
        </p:spPr>
      </p:sp>
      <p:sp>
        <p:nvSpPr>
          <p:cNvPr id="18" name="Text 16"/>
          <p:cNvSpPr txBox="1"/>
          <p:nvPr/>
        </p:nvSpPr>
        <p:spPr>
          <a:xfrm>
            <a:off x="566928"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Pre-Active</a:t>
            </a:r>
            <a:endParaRPr lang="en-US" sz="1300" dirty="0"/>
          </a:p>
        </p:txBody>
      </p:sp>
      <p:sp>
        <p:nvSpPr>
          <p:cNvPr id="19" name="Shape 17"/>
          <p:cNvSpPr/>
          <p:nvPr/>
        </p:nvSpPr>
        <p:spPr>
          <a:xfrm>
            <a:off x="2496312" y="5175504"/>
            <a:ext cx="256032" cy="164592"/>
          </a:xfrm>
          <a:prstGeom prst="rightArrow">
            <a:avLst/>
          </a:prstGeom>
          <a:solidFill>
            <a:srgbClr val="2E6DA4"/>
          </a:solidFill>
          <a:ln w="12700">
            <a:solidFill>
              <a:srgbClr val="2E6DA4"/>
            </a:solidFill>
            <a:prstDash val="solid"/>
          </a:ln>
        </p:spPr>
      </p:sp>
      <p:sp>
        <p:nvSpPr>
          <p:cNvPr id="20" name="Shape 18"/>
          <p:cNvSpPr/>
          <p:nvPr/>
        </p:nvSpPr>
        <p:spPr>
          <a:xfrm>
            <a:off x="2779776" y="4974336"/>
            <a:ext cx="1901952" cy="566928"/>
          </a:xfrm>
          <a:prstGeom prst="roundRect">
            <a:avLst>
              <a:gd name="adj" fmla="val 9677"/>
            </a:avLst>
          </a:prstGeom>
          <a:solidFill>
            <a:srgbClr val="1A3A5C"/>
          </a:solidFill>
          <a:ln w="12700">
            <a:solidFill>
              <a:srgbClr val="1A3A5C"/>
            </a:solidFill>
            <a:prstDash val="solid"/>
          </a:ln>
        </p:spPr>
      </p:sp>
      <p:sp>
        <p:nvSpPr>
          <p:cNvPr id="21" name="Text 19"/>
          <p:cNvSpPr txBox="1"/>
          <p:nvPr/>
        </p:nvSpPr>
        <p:spPr>
          <a:xfrm>
            <a:off x="2779776"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Active</a:t>
            </a:r>
            <a:endParaRPr lang="en-US" sz="1300" dirty="0"/>
          </a:p>
        </p:txBody>
      </p:sp>
      <p:sp>
        <p:nvSpPr>
          <p:cNvPr id="22" name="Shape 20"/>
          <p:cNvSpPr/>
          <p:nvPr/>
        </p:nvSpPr>
        <p:spPr>
          <a:xfrm>
            <a:off x="4709160" y="5175504"/>
            <a:ext cx="256032" cy="164592"/>
          </a:xfrm>
          <a:prstGeom prst="rightArrow">
            <a:avLst/>
          </a:prstGeom>
          <a:solidFill>
            <a:srgbClr val="2E6DA4"/>
          </a:solidFill>
          <a:ln w="12700">
            <a:solidFill>
              <a:srgbClr val="2E6DA4"/>
            </a:solidFill>
            <a:prstDash val="solid"/>
          </a:ln>
        </p:spPr>
      </p:sp>
      <p:sp>
        <p:nvSpPr>
          <p:cNvPr id="23" name="Shape 21"/>
          <p:cNvSpPr/>
          <p:nvPr/>
        </p:nvSpPr>
        <p:spPr>
          <a:xfrm>
            <a:off x="4992624" y="4974336"/>
            <a:ext cx="1901952" cy="566928"/>
          </a:xfrm>
          <a:prstGeom prst="roundRect">
            <a:avLst>
              <a:gd name="adj" fmla="val 9677"/>
            </a:avLst>
          </a:prstGeom>
          <a:solidFill>
            <a:srgbClr val="5A7184"/>
          </a:solidFill>
          <a:ln w="12700">
            <a:solidFill>
              <a:srgbClr val="5A7184"/>
            </a:solidFill>
            <a:prstDash val="solid"/>
          </a:ln>
        </p:spPr>
      </p:sp>
      <p:sp>
        <p:nvSpPr>
          <p:cNvPr id="24" name="Text 22"/>
          <p:cNvSpPr txBox="1"/>
          <p:nvPr/>
        </p:nvSpPr>
        <p:spPr>
          <a:xfrm>
            <a:off x="4992624"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Deactivated</a:t>
            </a:r>
            <a:endParaRPr lang="en-US" sz="1300" dirty="0"/>
          </a:p>
        </p:txBody>
      </p:sp>
      <p:sp>
        <p:nvSpPr>
          <p:cNvPr id="25" name="Shape 23"/>
          <p:cNvSpPr/>
          <p:nvPr/>
        </p:nvSpPr>
        <p:spPr>
          <a:xfrm>
            <a:off x="6922008" y="5175504"/>
            <a:ext cx="256032" cy="164592"/>
          </a:xfrm>
          <a:prstGeom prst="rightArrow">
            <a:avLst/>
          </a:prstGeom>
          <a:solidFill>
            <a:srgbClr val="2E6DA4"/>
          </a:solidFill>
          <a:ln w="12700">
            <a:solidFill>
              <a:srgbClr val="2E6DA4"/>
            </a:solidFill>
            <a:prstDash val="solid"/>
          </a:ln>
        </p:spPr>
      </p:sp>
      <p:sp>
        <p:nvSpPr>
          <p:cNvPr id="26" name="Shape 24"/>
          <p:cNvSpPr/>
          <p:nvPr/>
        </p:nvSpPr>
        <p:spPr>
          <a:xfrm>
            <a:off x="7205472" y="4974336"/>
            <a:ext cx="1901952" cy="566928"/>
          </a:xfrm>
          <a:prstGeom prst="roundRect">
            <a:avLst>
              <a:gd name="adj" fmla="val 9677"/>
            </a:avLst>
          </a:prstGeom>
          <a:solidFill>
            <a:srgbClr val="3B4A58"/>
          </a:solidFill>
          <a:ln w="12700">
            <a:solidFill>
              <a:srgbClr val="3B4A58"/>
            </a:solidFill>
            <a:prstDash val="solid"/>
          </a:ln>
        </p:spPr>
      </p:sp>
      <p:sp>
        <p:nvSpPr>
          <p:cNvPr id="27" name="Text 25"/>
          <p:cNvSpPr txBox="1"/>
          <p:nvPr/>
        </p:nvSpPr>
        <p:spPr>
          <a:xfrm>
            <a:off x="7205472"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Destroyed</a:t>
            </a:r>
            <a:endParaRPr lang="en-US" sz="1300" dirty="0"/>
          </a:p>
        </p:txBody>
      </p:sp>
      <p:sp>
        <p:nvSpPr>
          <p:cNvPr id="28" name="Shape 26"/>
          <p:cNvSpPr/>
          <p:nvPr/>
        </p:nvSpPr>
        <p:spPr>
          <a:xfrm>
            <a:off x="9729216" y="4974336"/>
            <a:ext cx="1901952" cy="566928"/>
          </a:xfrm>
          <a:prstGeom prst="roundRect">
            <a:avLst>
              <a:gd name="adj" fmla="val 9677"/>
            </a:avLst>
          </a:prstGeom>
          <a:solidFill>
            <a:srgbClr val="B3261E"/>
          </a:solidFill>
          <a:ln w="12700">
            <a:solidFill>
              <a:srgbClr val="B3261E"/>
            </a:solidFill>
            <a:prstDash val="solid"/>
          </a:ln>
        </p:spPr>
      </p:sp>
      <p:sp>
        <p:nvSpPr>
          <p:cNvPr id="29" name="Text 27"/>
          <p:cNvSpPr txBox="1"/>
          <p:nvPr/>
        </p:nvSpPr>
        <p:spPr>
          <a:xfrm>
            <a:off x="9729216"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Compromised</a:t>
            </a:r>
            <a:endParaRPr lang="en-US" sz="1300" dirty="0"/>
          </a:p>
        </p:txBody>
      </p:sp>
      <p:sp>
        <p:nvSpPr>
          <p:cNvPr id="30" name="Text 28"/>
          <p:cNvSpPr txBox="1"/>
          <p:nvPr/>
        </p:nvSpPr>
        <p:spPr>
          <a:xfrm>
            <a:off x="9729216" y="5614416"/>
            <a:ext cx="1901952" cy="237744"/>
          </a:xfrm>
          <a:prstGeom prst="rect">
            <a:avLst/>
          </a:prstGeom>
          <a:noFill/>
          <a:ln/>
        </p:spPr>
        <p:txBody>
          <a:bodyPr wrap="square" lIns="0" tIns="0" rIns="0" bIns="0" rtlCol="0" anchor="ctr"/>
          <a:lstStyle/>
          <a:p>
            <a:pPr algn="ctr" indent="0" marL="0">
              <a:buNone/>
            </a:pPr>
            <a:r>
              <a:rPr lang="en-US" sz="950" dirty="0">
                <a:solidFill>
                  <a:srgbClr val="7B8794"/>
                </a:solidFill>
                <a:latin typeface="Calibri" pitchFamily="34" charset="0"/>
                <a:ea typeface="Calibri" pitchFamily="34" charset="-122"/>
                <a:cs typeface="Calibri" pitchFamily="34" charset="-120"/>
              </a:rPr>
              <a:t>from any live state</a:t>
            </a:r>
            <a:endParaRPr lang="en-US" sz="950" dirty="0"/>
          </a:p>
        </p:txBody>
      </p:sp>
      <p:sp>
        <p:nvSpPr>
          <p:cNvPr id="31" name="Text 29"/>
          <p:cNvSpPr txBox="1"/>
          <p:nvPr/>
        </p:nvSpPr>
        <p:spPr>
          <a:xfrm>
            <a:off x="566928" y="5961888"/>
            <a:ext cx="11027664" cy="329184"/>
          </a:xfrm>
          <a:prstGeom prst="rect">
            <a:avLst/>
          </a:prstGeom>
          <a:noFill/>
          <a:ln/>
        </p:spPr>
        <p:txBody>
          <a:bodyPr wrap="square" lIns="0" tIns="0" rIns="0" bIns="0" rtlCol="0" anchor="ctr"/>
          <a:lstStyle/>
          <a:p>
            <a:pPr indent="0" marL="0">
              <a:buNone/>
            </a:pPr>
            <a:r>
              <a:rPr lang="en-US" sz="1300" i="1" dirty="0">
                <a:solidFill>
                  <a:srgbClr val="1A3A5C"/>
                </a:solidFill>
                <a:latin typeface="Calibri" pitchFamily="34" charset="0"/>
                <a:ea typeface="Calibri" pitchFamily="34" charset="-122"/>
                <a:cs typeface="Calibri" pitchFamily="34" charset="-120"/>
              </a:rPr>
              <a:t>Deactivated keys may still decrypt and verify — retiring a key must not strand the data encrypted under it.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What the standard deliberately leaves out</a:t>
            </a:r>
            <a:endParaRPr lang="en-US" sz="3400" dirty="0"/>
          </a:p>
        </p:txBody>
      </p:sp>
      <p:sp>
        <p:nvSpPr>
          <p:cNvPr id="4" name="Shape 2"/>
          <p:cNvSpPr/>
          <p:nvPr/>
        </p:nvSpPr>
        <p:spPr>
          <a:xfrm>
            <a:off x="566928" y="1572768"/>
            <a:ext cx="5394960" cy="2633472"/>
          </a:xfrm>
          <a:prstGeom prst="roundRect">
            <a:avLst>
              <a:gd name="adj" fmla="val 2083"/>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KMIP DEFINES</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Keys, and operations on keys</a:t>
            </a:r>
            <a:endParaRPr lang="en-US" sz="1600" dirty="0"/>
          </a:p>
        </p:txBody>
      </p:sp>
      <p:sp>
        <p:nvSpPr>
          <p:cNvPr id="7" name="Text 5"/>
          <p:cNvSpPr txBox="1"/>
          <p:nvPr/>
        </p:nvSpPr>
        <p:spPr>
          <a:xfrm>
            <a:off x="804672" y="2393696"/>
            <a:ext cx="4919472" cy="164795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Managed objects and their attributes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The lifecycle state machine</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Cryptographic operations: encrypt, sign, MAC, derive, wrap</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Search over objects (Locate), batching, version negotiation</a:t>
            </a:r>
            <a:endParaRPr lang="en-US" sz="1300" dirty="0"/>
          </a:p>
        </p:txBody>
      </p:sp>
      <p:sp>
        <p:nvSpPr>
          <p:cNvPr id="8" name="Shape 6"/>
          <p:cNvSpPr/>
          <p:nvPr/>
        </p:nvSpPr>
        <p:spPr>
          <a:xfrm>
            <a:off x="6236208" y="1572768"/>
            <a:ext cx="5394960" cy="2633472"/>
          </a:xfrm>
          <a:prstGeom prst="roundRect">
            <a:avLst>
              <a:gd name="adj" fmla="val 208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KMIP DOES NOT DEFINE</a:t>
            </a:r>
            <a:endParaRPr lang="en-US" sz="1000" dirty="0"/>
          </a:p>
        </p:txBody>
      </p:sp>
      <p:sp>
        <p:nvSpPr>
          <p:cNvPr id="10" name="Text 8"/>
          <p:cNvSpPr txBox="1"/>
          <p:nvPr/>
        </p:nvSpPr>
        <p:spPr>
          <a:xfrm>
            <a:off x="647395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Everything around them</a:t>
            </a:r>
            <a:endParaRPr lang="en-US" sz="1600" dirty="0"/>
          </a:p>
        </p:txBody>
      </p:sp>
      <p:sp>
        <p:nvSpPr>
          <p:cNvPr id="11" name="Text 9"/>
          <p:cNvSpPr txBox="1"/>
          <p:nvPr/>
        </p:nvSpPr>
        <p:spPr>
          <a:xfrm>
            <a:off x="6473952" y="2393696"/>
            <a:ext cx="4919472" cy="164795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Identities, roles, groups, grants — no user management at all</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Any HTTP or REST binding: TTLV over TCP only</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Tenancy, quotas, reporting, dashboards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Administrative operations of any kind</a:t>
            </a:r>
            <a:endParaRPr lang="en-US" sz="1300" dirty="0"/>
          </a:p>
        </p:txBody>
      </p:sp>
      <p:sp>
        <p:nvSpPr>
          <p:cNvPr id="12" name="Shape 10"/>
          <p:cNvSpPr/>
          <p:nvPr/>
        </p:nvSpPr>
        <p:spPr>
          <a:xfrm>
            <a:off x="566928" y="4407408"/>
            <a:ext cx="6858000" cy="1938528"/>
          </a:xfrm>
          <a:prstGeom prst="roundRect">
            <a:avLst>
              <a:gd name="adj" fmla="val 2830"/>
            </a:avLst>
          </a:prstGeom>
          <a:solidFill>
            <a:srgbClr val="1A3A5C"/>
          </a:solidFill>
          <a:ln w="12700">
            <a:solidFill>
              <a:srgbClr val="E8EFF6"/>
            </a:solidFill>
            <a:prstDash val="solid"/>
          </a:ln>
        </p:spPr>
      </p:sp>
      <p:sp>
        <p:nvSpPr>
          <p:cNvPr id="13" name="Text 11"/>
          <p:cNvSpPr txBox="1"/>
          <p:nvPr/>
        </p:nvSpPr>
        <p:spPr>
          <a:xfrm>
            <a:off x="804672" y="4608576"/>
            <a:ext cx="638251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consequence</a:t>
            </a:r>
            <a:endParaRPr lang="en-US" sz="1600" dirty="0"/>
          </a:p>
        </p:txBody>
      </p:sp>
      <p:sp>
        <p:nvSpPr>
          <p:cNvPr id="14" name="Text 12"/>
          <p:cNvSpPr txBox="1"/>
          <p:nvPr/>
        </p:nvSpPr>
        <p:spPr>
          <a:xfrm>
            <a:off x="804672" y="4954016"/>
            <a:ext cx="6382512" cy="1227328"/>
          </a:xfrm>
          <a:prstGeom prst="rect">
            <a:avLst/>
          </a:prstGeom>
          <a:noFill/>
          <a:ln/>
        </p:spPr>
        <p:txBody>
          <a:bodyPr wrap="square" lIns="0" tIns="0" rIns="0" bIns="0" rtlCol="0" anchor="t"/>
          <a:lstStyle/>
          <a:p>
            <a:pPr indent="0" marL="0">
              <a:lnSpc>
                <a:spcPts val="1700"/>
              </a:lnSpc>
              <a:buNone/>
            </a:pPr>
            <a:r>
              <a:rPr lang="en-US" sz="1350" dirty="0">
                <a:solidFill>
                  <a:srgbClr val="C9DAEA"/>
                </a:solidFill>
                <a:latin typeface="Calibri" pitchFamily="34" charset="0"/>
                <a:ea typeface="Calibri" pitchFamily="34" charset="-122"/>
                <a:cs typeface="Calibri" pitchFamily="34" charset="-120"/>
              </a:rPr>
              <a:t>Every commercial KMS bolts an administrative plane onto its KMIP server. A KMIP layer is an interoperability surface — it is not, by itself, a product.</a:t>
            </a:r>
            <a:endParaRPr lang="en-US" sz="1350" dirty="0"/>
          </a:p>
        </p:txBody>
      </p:sp>
      <p:sp>
        <p:nvSpPr>
          <p:cNvPr id="15" name="Shape 13"/>
          <p:cNvSpPr/>
          <p:nvPr/>
        </p:nvSpPr>
        <p:spPr>
          <a:xfrm>
            <a:off x="7699248" y="4407408"/>
            <a:ext cx="3931920" cy="1938528"/>
          </a:xfrm>
          <a:prstGeom prst="roundRect">
            <a:avLst>
              <a:gd name="adj" fmla="val 2830"/>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6" name="Text 14"/>
          <p:cNvSpPr txBox="1"/>
          <p:nvPr/>
        </p:nvSpPr>
        <p:spPr>
          <a:xfrm>
            <a:off x="7936992" y="4608576"/>
            <a:ext cx="345643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VERSIONS</a:t>
            </a:r>
            <a:endParaRPr lang="en-US" sz="1000" dirty="0"/>
          </a:p>
        </p:txBody>
      </p:sp>
      <p:sp>
        <p:nvSpPr>
          <p:cNvPr id="17" name="Text 15"/>
          <p:cNvSpPr txBox="1"/>
          <p:nvPr/>
        </p:nvSpPr>
        <p:spPr>
          <a:xfrm>
            <a:off x="7936992" y="4882896"/>
            <a:ext cx="345643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2.1 → 3.0</a:t>
            </a:r>
            <a:endParaRPr lang="en-US" sz="1600" dirty="0"/>
          </a:p>
        </p:txBody>
      </p:sp>
      <p:sp>
        <p:nvSpPr>
          <p:cNvPr id="18" name="Text 16"/>
          <p:cNvSpPr txBox="1"/>
          <p:nvPr/>
        </p:nvSpPr>
        <p:spPr>
          <a:xfrm>
            <a:off x="7936992" y="5228336"/>
            <a:ext cx="3456432" cy="95300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2.1 (2019) is what this project implements. 3.0 CSD02 (May 2026) adds ML-KEM, ML-DSA, SLH-DSA and Encapsulate/Decapsulate.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KMIP 2.1 on a PKCS#11 token</a:t>
            </a:r>
            <a:endParaRPr lang="en-US" sz="3400" dirty="0"/>
          </a:p>
        </p:txBody>
      </p:sp>
      <p:sp>
        <p:nvSpPr>
          <p:cNvPr id="4" name="Shape 2"/>
          <p:cNvSpPr/>
          <p:nvPr/>
        </p:nvSpPr>
        <p:spPr>
          <a:xfrm>
            <a:off x="3977640" y="1517904"/>
            <a:ext cx="4206240" cy="475488"/>
          </a:xfrm>
          <a:prstGeom prst="roundRect">
            <a:avLst>
              <a:gd name="adj" fmla="val 11538"/>
            </a:avLst>
          </a:prstGeom>
          <a:solidFill>
            <a:srgbClr val="6B8299"/>
          </a:solidFill>
          <a:ln w="12700">
            <a:solidFill>
              <a:srgbClr val="6B8299"/>
            </a:solidFill>
            <a:prstDash val="solid"/>
          </a:ln>
        </p:spPr>
      </p:sp>
      <p:sp>
        <p:nvSpPr>
          <p:cNvPr id="5" name="Text 3"/>
          <p:cNvSpPr txBox="1"/>
          <p:nvPr/>
        </p:nvSpPr>
        <p:spPr>
          <a:xfrm>
            <a:off x="3977640" y="1517904"/>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clients</a:t>
            </a:r>
            <a:endParaRPr lang="en-US" sz="1250" dirty="0"/>
          </a:p>
        </p:txBody>
      </p:sp>
      <p:sp>
        <p:nvSpPr>
          <p:cNvPr id="6" name="Text 4"/>
          <p:cNvSpPr txBox="1"/>
          <p:nvPr/>
        </p:nvSpPr>
        <p:spPr>
          <a:xfrm>
            <a:off x="8348472" y="1591056"/>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Oracle TDE · VMware · NetApp · scripts</a:t>
            </a:r>
            <a:endParaRPr lang="en-US" sz="1050" dirty="0"/>
          </a:p>
        </p:txBody>
      </p:sp>
      <p:sp>
        <p:nvSpPr>
          <p:cNvPr id="7" name="Shape 5"/>
          <p:cNvSpPr/>
          <p:nvPr/>
        </p:nvSpPr>
        <p:spPr>
          <a:xfrm>
            <a:off x="5998464" y="2002536"/>
            <a:ext cx="164592" cy="182880"/>
          </a:xfrm>
          <a:prstGeom prst="downArrow">
            <a:avLst/>
          </a:prstGeom>
          <a:solidFill>
            <a:srgbClr val="2E6DA4"/>
          </a:solidFill>
          <a:ln w="12700">
            <a:solidFill>
              <a:srgbClr val="2E6DA4"/>
            </a:solidFill>
            <a:prstDash val="solid"/>
          </a:ln>
        </p:spPr>
      </p:sp>
      <p:sp>
        <p:nvSpPr>
          <p:cNvPr id="8" name="Shape 6"/>
          <p:cNvSpPr/>
          <p:nvPr/>
        </p:nvSpPr>
        <p:spPr>
          <a:xfrm>
            <a:off x="3977640" y="2199132"/>
            <a:ext cx="4206240" cy="475488"/>
          </a:xfrm>
          <a:prstGeom prst="roundRect">
            <a:avLst>
              <a:gd name="adj" fmla="val 11538"/>
            </a:avLst>
          </a:prstGeom>
          <a:solidFill>
            <a:srgbClr val="2E6DA4"/>
          </a:solidFill>
          <a:ln w="12700">
            <a:solidFill>
              <a:srgbClr val="2E6DA4"/>
            </a:solidFill>
            <a:prstDash val="solid"/>
          </a:ln>
        </p:spPr>
      </p:sp>
      <p:sp>
        <p:nvSpPr>
          <p:cNvPr id="9" name="Text 7"/>
          <p:cNvSpPr txBox="1"/>
          <p:nvPr/>
        </p:nvSpPr>
        <p:spPr>
          <a:xfrm>
            <a:off x="3977640" y="2199132"/>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TLS 1.2+  ·  TCP 5696</a:t>
            </a:r>
            <a:endParaRPr lang="en-US" sz="1250" dirty="0"/>
          </a:p>
        </p:txBody>
      </p:sp>
      <p:sp>
        <p:nvSpPr>
          <p:cNvPr id="10" name="Text 8"/>
          <p:cNvSpPr txBox="1"/>
          <p:nvPr/>
        </p:nvSpPr>
        <p:spPr>
          <a:xfrm>
            <a:off x="8348472" y="2272284"/>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enforced by default; mTLS optional</a:t>
            </a:r>
            <a:endParaRPr lang="en-US" sz="1050" dirty="0"/>
          </a:p>
        </p:txBody>
      </p:sp>
      <p:sp>
        <p:nvSpPr>
          <p:cNvPr id="11" name="Shape 9"/>
          <p:cNvSpPr/>
          <p:nvPr/>
        </p:nvSpPr>
        <p:spPr>
          <a:xfrm>
            <a:off x="5998464" y="2683764"/>
            <a:ext cx="164592" cy="182880"/>
          </a:xfrm>
          <a:prstGeom prst="downArrow">
            <a:avLst/>
          </a:prstGeom>
          <a:solidFill>
            <a:srgbClr val="2E6DA4"/>
          </a:solidFill>
          <a:ln w="12700">
            <a:solidFill>
              <a:srgbClr val="2E6DA4"/>
            </a:solidFill>
            <a:prstDash val="solid"/>
          </a:ln>
        </p:spPr>
      </p:sp>
      <p:sp>
        <p:nvSpPr>
          <p:cNvPr id="12" name="Shape 10"/>
          <p:cNvSpPr/>
          <p:nvPr/>
        </p:nvSpPr>
        <p:spPr>
          <a:xfrm>
            <a:off x="3977640" y="2880360"/>
            <a:ext cx="4206240" cy="475488"/>
          </a:xfrm>
          <a:prstGeom prst="roundRect">
            <a:avLst>
              <a:gd name="adj" fmla="val 11538"/>
            </a:avLst>
          </a:prstGeom>
          <a:solidFill>
            <a:srgbClr val="1A3A5C"/>
          </a:solidFill>
          <a:ln w="12700">
            <a:solidFill>
              <a:srgbClr val="1A3A5C"/>
            </a:solidFill>
            <a:prstDash val="solid"/>
          </a:ln>
        </p:spPr>
      </p:sp>
      <p:sp>
        <p:nvSpPr>
          <p:cNvPr id="13" name="Text 11"/>
          <p:cNvSpPr txBox="1"/>
          <p:nvPr/>
        </p:nvSpPr>
        <p:spPr>
          <a:xfrm>
            <a:off x="3977640" y="2880360"/>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  thread per connection</a:t>
            </a:r>
            <a:endParaRPr lang="en-US" sz="1250" dirty="0"/>
          </a:p>
        </p:txBody>
      </p:sp>
      <p:sp>
        <p:nvSpPr>
          <p:cNvPr id="14" name="Text 12"/>
          <p:cNvSpPr txBox="1"/>
          <p:nvPr/>
        </p:nvSpPr>
        <p:spPr>
          <a:xfrm>
            <a:off x="8348472" y="2953512"/>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request caps, handshake timeout</a:t>
            </a:r>
            <a:endParaRPr lang="en-US" sz="1050" dirty="0"/>
          </a:p>
        </p:txBody>
      </p:sp>
      <p:sp>
        <p:nvSpPr>
          <p:cNvPr id="15" name="Shape 13"/>
          <p:cNvSpPr/>
          <p:nvPr/>
        </p:nvSpPr>
        <p:spPr>
          <a:xfrm>
            <a:off x="5998464" y="3364992"/>
            <a:ext cx="164592" cy="182880"/>
          </a:xfrm>
          <a:prstGeom prst="downArrow">
            <a:avLst/>
          </a:prstGeom>
          <a:solidFill>
            <a:srgbClr val="2E6DA4"/>
          </a:solidFill>
          <a:ln w="12700">
            <a:solidFill>
              <a:srgbClr val="2E6DA4"/>
            </a:solidFill>
            <a:prstDash val="solid"/>
          </a:ln>
        </p:spPr>
      </p:sp>
      <p:sp>
        <p:nvSpPr>
          <p:cNvPr id="16" name="Shape 14"/>
          <p:cNvSpPr/>
          <p:nvPr/>
        </p:nvSpPr>
        <p:spPr>
          <a:xfrm>
            <a:off x="3977640" y="3561588"/>
            <a:ext cx="4206240" cy="475488"/>
          </a:xfrm>
          <a:prstGeom prst="roundRect">
            <a:avLst>
              <a:gd name="adj" fmla="val 11538"/>
            </a:avLst>
          </a:prstGeom>
          <a:solidFill>
            <a:srgbClr val="1A3A5C"/>
          </a:solidFill>
          <a:ln w="12700">
            <a:solidFill>
              <a:srgbClr val="1A3A5C"/>
            </a:solidFill>
            <a:prstDash val="solid"/>
          </a:ln>
        </p:spPr>
      </p:sp>
      <p:sp>
        <p:nvSpPr>
          <p:cNvPr id="17" name="Text 15"/>
          <p:cNvSpPr txBox="1"/>
          <p:nvPr/>
        </p:nvSpPr>
        <p:spPr>
          <a:xfrm>
            <a:off x="3977640" y="3561588"/>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Dispatcher  ·  41 operations</a:t>
            </a:r>
            <a:endParaRPr lang="en-US" sz="1250" dirty="0"/>
          </a:p>
        </p:txBody>
      </p:sp>
      <p:sp>
        <p:nvSpPr>
          <p:cNvPr id="18" name="Text 16"/>
          <p:cNvSpPr txBox="1"/>
          <p:nvPr/>
        </p:nvSpPr>
        <p:spPr>
          <a:xfrm>
            <a:off x="8348472" y="3634740"/>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authorization · dual control · audit · metrics</a:t>
            </a:r>
            <a:endParaRPr lang="en-US" sz="1050" dirty="0"/>
          </a:p>
        </p:txBody>
      </p:sp>
      <p:sp>
        <p:nvSpPr>
          <p:cNvPr id="19" name="Shape 17"/>
          <p:cNvSpPr/>
          <p:nvPr/>
        </p:nvSpPr>
        <p:spPr>
          <a:xfrm>
            <a:off x="5998464" y="4046220"/>
            <a:ext cx="164592" cy="182880"/>
          </a:xfrm>
          <a:prstGeom prst="downArrow">
            <a:avLst/>
          </a:prstGeom>
          <a:solidFill>
            <a:srgbClr val="2E6DA4"/>
          </a:solidFill>
          <a:ln w="12700">
            <a:solidFill>
              <a:srgbClr val="2E6DA4"/>
            </a:solidFill>
            <a:prstDash val="solid"/>
          </a:ln>
        </p:spPr>
      </p:sp>
      <p:sp>
        <p:nvSpPr>
          <p:cNvPr id="20" name="Shape 18"/>
          <p:cNvSpPr/>
          <p:nvPr/>
        </p:nvSpPr>
        <p:spPr>
          <a:xfrm>
            <a:off x="3977640" y="4242816"/>
            <a:ext cx="4206240" cy="475488"/>
          </a:xfrm>
          <a:prstGeom prst="roundRect">
            <a:avLst>
              <a:gd name="adj" fmla="val 11538"/>
            </a:avLst>
          </a:prstGeom>
          <a:solidFill>
            <a:srgbClr val="2E6DA4"/>
          </a:solidFill>
          <a:ln w="12700">
            <a:solidFill>
              <a:srgbClr val="2E6DA4"/>
            </a:solidFill>
            <a:prstDash val="solid"/>
          </a:ln>
        </p:spPr>
      </p:sp>
      <p:sp>
        <p:nvSpPr>
          <p:cNvPr id="21" name="Text 19"/>
          <p:cNvSpPr txBox="1"/>
          <p:nvPr/>
        </p:nvSpPr>
        <p:spPr>
          <a:xfrm>
            <a:off x="3977640" y="4242816"/>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40 operation handlers</a:t>
            </a:r>
            <a:endParaRPr lang="en-US" sz="1250" dirty="0"/>
          </a:p>
        </p:txBody>
      </p:sp>
      <p:sp>
        <p:nvSpPr>
          <p:cNvPr id="22" name="Text 20"/>
          <p:cNvSpPr txBox="1"/>
          <p:nvPr/>
        </p:nvSpPr>
        <p:spPr>
          <a:xfrm>
            <a:off x="8348472" y="4315968"/>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one file per KMIP operation</a:t>
            </a:r>
            <a:endParaRPr lang="en-US" sz="1050" dirty="0"/>
          </a:p>
        </p:txBody>
      </p:sp>
      <p:sp>
        <p:nvSpPr>
          <p:cNvPr id="23" name="Shape 21"/>
          <p:cNvSpPr/>
          <p:nvPr/>
        </p:nvSpPr>
        <p:spPr>
          <a:xfrm>
            <a:off x="5998464" y="4727448"/>
            <a:ext cx="164592" cy="182880"/>
          </a:xfrm>
          <a:prstGeom prst="downArrow">
            <a:avLst/>
          </a:prstGeom>
          <a:solidFill>
            <a:srgbClr val="2E6DA4"/>
          </a:solidFill>
          <a:ln w="12700">
            <a:solidFill>
              <a:srgbClr val="2E6DA4"/>
            </a:solidFill>
            <a:prstDash val="solid"/>
          </a:ln>
        </p:spPr>
      </p:sp>
      <p:sp>
        <p:nvSpPr>
          <p:cNvPr id="24" name="Shape 22"/>
          <p:cNvSpPr/>
          <p:nvPr/>
        </p:nvSpPr>
        <p:spPr>
          <a:xfrm>
            <a:off x="3977640" y="4924044"/>
            <a:ext cx="4206240" cy="475488"/>
          </a:xfrm>
          <a:prstGeom prst="roundRect">
            <a:avLst>
              <a:gd name="adj" fmla="val 11538"/>
            </a:avLst>
          </a:prstGeom>
          <a:solidFill>
            <a:srgbClr val="C8952B"/>
          </a:solidFill>
          <a:ln w="12700">
            <a:solidFill>
              <a:srgbClr val="C8952B"/>
            </a:solidFill>
            <a:prstDash val="solid"/>
          </a:ln>
        </p:spPr>
      </p:sp>
      <p:sp>
        <p:nvSpPr>
          <p:cNvPr id="25" name="Text 23"/>
          <p:cNvSpPr txBox="1"/>
          <p:nvPr/>
        </p:nvSpPr>
        <p:spPr>
          <a:xfrm>
            <a:off x="3977640" y="4924044"/>
            <a:ext cx="4206240" cy="475488"/>
          </a:xfrm>
          <a:prstGeom prst="rect">
            <a:avLst/>
          </a:prstGeom>
          <a:noFill/>
          <a:ln/>
        </p:spPr>
        <p:txBody>
          <a:bodyPr wrap="square" lIns="0" tIns="0" rIns="0" bIns="0" rtlCol="0" anchor="ctr"/>
          <a:lstStyle/>
          <a:p>
            <a:pPr algn="ctr" indent="0" marL="0">
              <a:buNone/>
            </a:pPr>
            <a:r>
              <a:rPr lang="en-US" sz="1250" b="1" dirty="0">
                <a:solidFill>
                  <a:srgbClr val="102437"/>
                </a:solidFill>
                <a:latin typeface="Calibri" pitchFamily="34" charset="0"/>
                <a:ea typeface="Calibri" pitchFamily="34" charset="-122"/>
                <a:cs typeface="Calibri" pitchFamily="34" charset="-120"/>
              </a:rPr>
              <a:t>PKCS#11 shim</a:t>
            </a:r>
            <a:endParaRPr lang="en-US" sz="1250" dirty="0"/>
          </a:p>
        </p:txBody>
      </p:sp>
      <p:sp>
        <p:nvSpPr>
          <p:cNvPr id="26" name="Text 24"/>
          <p:cNvSpPr txBox="1"/>
          <p:nvPr/>
        </p:nvSpPr>
        <p:spPr>
          <a:xfrm>
            <a:off x="8348472" y="4997196"/>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the only file that imports pkcs11</a:t>
            </a:r>
            <a:endParaRPr lang="en-US" sz="1050" dirty="0"/>
          </a:p>
        </p:txBody>
      </p:sp>
      <p:sp>
        <p:nvSpPr>
          <p:cNvPr id="27" name="Shape 25"/>
          <p:cNvSpPr/>
          <p:nvPr/>
        </p:nvSpPr>
        <p:spPr>
          <a:xfrm>
            <a:off x="5998464" y="5408676"/>
            <a:ext cx="164592" cy="182880"/>
          </a:xfrm>
          <a:prstGeom prst="downArrow">
            <a:avLst/>
          </a:prstGeom>
          <a:solidFill>
            <a:srgbClr val="2E6DA4"/>
          </a:solidFill>
          <a:ln w="12700">
            <a:solidFill>
              <a:srgbClr val="2E6DA4"/>
            </a:solidFill>
            <a:prstDash val="solid"/>
          </a:ln>
        </p:spPr>
      </p:sp>
      <p:sp>
        <p:nvSpPr>
          <p:cNvPr id="28" name="Shape 26"/>
          <p:cNvSpPr/>
          <p:nvPr/>
        </p:nvSpPr>
        <p:spPr>
          <a:xfrm>
            <a:off x="3977640" y="5605272"/>
            <a:ext cx="4206240" cy="475488"/>
          </a:xfrm>
          <a:prstGeom prst="roundRect">
            <a:avLst>
              <a:gd name="adj" fmla="val 11538"/>
            </a:avLst>
          </a:prstGeom>
          <a:solidFill>
            <a:srgbClr val="102437"/>
          </a:solidFill>
          <a:ln w="12700">
            <a:solidFill>
              <a:srgbClr val="102437"/>
            </a:solidFill>
            <a:prstDash val="solid"/>
          </a:ln>
        </p:spPr>
      </p:sp>
      <p:sp>
        <p:nvSpPr>
          <p:cNvPr id="29" name="Text 27"/>
          <p:cNvSpPr txBox="1"/>
          <p:nvPr/>
        </p:nvSpPr>
        <p:spPr>
          <a:xfrm>
            <a:off x="3977640" y="5605272"/>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Token  ·  SoftHSM2 2.7.0</a:t>
            </a:r>
            <a:endParaRPr lang="en-US" sz="1250" dirty="0"/>
          </a:p>
        </p:txBody>
      </p:sp>
      <p:sp>
        <p:nvSpPr>
          <p:cNvPr id="30" name="Text 28"/>
          <p:cNvSpPr txBox="1"/>
          <p:nvPr/>
        </p:nvSpPr>
        <p:spPr>
          <a:xfrm>
            <a:off x="8348472" y="5678424"/>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79 mechanisms · keys never leave</a:t>
            </a:r>
            <a:endParaRPr lang="en-US" sz="1050" dirty="0"/>
          </a:p>
        </p:txBody>
      </p:sp>
      <p:sp>
        <p:nvSpPr>
          <p:cNvPr id="31" name="Shape 29"/>
          <p:cNvSpPr/>
          <p:nvPr/>
        </p:nvSpPr>
        <p:spPr>
          <a:xfrm>
            <a:off x="566928" y="1517904"/>
            <a:ext cx="3200400" cy="2148840"/>
          </a:xfrm>
          <a:prstGeom prst="roundRect">
            <a:avLst>
              <a:gd name="adj" fmla="val 255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2" name="Text 30"/>
          <p:cNvSpPr txBox="1"/>
          <p:nvPr/>
        </p:nvSpPr>
        <p:spPr>
          <a:xfrm>
            <a:off x="804672" y="1719072"/>
            <a:ext cx="272491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ALONGSIDE</a:t>
            </a:r>
            <a:endParaRPr lang="en-US" sz="1000" dirty="0"/>
          </a:p>
        </p:txBody>
      </p:sp>
      <p:sp>
        <p:nvSpPr>
          <p:cNvPr id="33" name="Text 31"/>
          <p:cNvSpPr txBox="1"/>
          <p:nvPr/>
        </p:nvSpPr>
        <p:spPr>
          <a:xfrm>
            <a:off x="804672" y="1993392"/>
            <a:ext cx="27249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Metadata store</a:t>
            </a:r>
            <a:endParaRPr lang="en-US" sz="1600" dirty="0"/>
          </a:p>
        </p:txBody>
      </p:sp>
      <p:sp>
        <p:nvSpPr>
          <p:cNvPr id="34" name="Text 32"/>
          <p:cNvSpPr txBox="1"/>
          <p:nvPr/>
        </p:nvSpPr>
        <p:spPr>
          <a:xfrm>
            <a:off x="804672" y="2338832"/>
            <a:ext cx="2724912" cy="116332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SQLite, WAL mode</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KMIP attributes and state</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Identities, roles, grants</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Hash-chained audit log</a:t>
            </a:r>
            <a:endParaRPr lang="en-US" sz="1200" dirty="0"/>
          </a:p>
        </p:txBody>
      </p:sp>
      <p:sp>
        <p:nvSpPr>
          <p:cNvPr id="35" name="Shape 33"/>
          <p:cNvSpPr/>
          <p:nvPr/>
        </p:nvSpPr>
        <p:spPr>
          <a:xfrm>
            <a:off x="566928" y="3840480"/>
            <a:ext cx="3200400" cy="2304288"/>
          </a:xfrm>
          <a:prstGeom prst="roundRect">
            <a:avLst>
              <a:gd name="adj" fmla="val 2381"/>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6" name="Text 34"/>
          <p:cNvSpPr txBox="1"/>
          <p:nvPr/>
        </p:nvSpPr>
        <p:spPr>
          <a:xfrm>
            <a:off x="804672" y="4041648"/>
            <a:ext cx="272491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SWAP POINT</a:t>
            </a:r>
            <a:endParaRPr lang="en-US" sz="1000" dirty="0"/>
          </a:p>
        </p:txBody>
      </p:sp>
      <p:sp>
        <p:nvSpPr>
          <p:cNvPr id="37" name="Text 35"/>
          <p:cNvSpPr txBox="1"/>
          <p:nvPr/>
        </p:nvSpPr>
        <p:spPr>
          <a:xfrm>
            <a:off x="804672" y="4315968"/>
            <a:ext cx="27249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Any PKCS#11 HSM</a:t>
            </a:r>
            <a:endParaRPr lang="en-US" sz="1600" dirty="0"/>
          </a:p>
        </p:txBody>
      </p:sp>
      <p:sp>
        <p:nvSpPr>
          <p:cNvPr id="38" name="Text 36"/>
          <p:cNvSpPr txBox="1"/>
          <p:nvPr/>
        </p:nvSpPr>
        <p:spPr>
          <a:xfrm>
            <a:off x="804672" y="4661408"/>
            <a:ext cx="2724912" cy="131876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One file imports the binding. Pointing it at validated hardware needs no change above the shim — the capability probe reports whatever that token supports.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Two stores, one matched pair</a:t>
            </a:r>
            <a:endParaRPr lang="en-US" sz="3400" dirty="0"/>
          </a:p>
        </p:txBody>
      </p:sp>
      <p:sp>
        <p:nvSpPr>
          <p:cNvPr id="4" name="Shape 2"/>
          <p:cNvSpPr/>
          <p:nvPr/>
        </p:nvSpPr>
        <p:spPr>
          <a:xfrm>
            <a:off x="566928" y="1572768"/>
            <a:ext cx="5394960" cy="2286000"/>
          </a:xfrm>
          <a:prstGeom prst="roundRect">
            <a:avLst>
              <a:gd name="adj" fmla="val 2400"/>
            </a:avLst>
          </a:prstGeom>
          <a:solidFill>
            <a:srgbClr val="102437"/>
          </a:solidFill>
          <a:ln w="12700">
            <a:solidFill>
              <a:srgbClr val="E8EFF6"/>
            </a:solidFill>
            <a:prstDash val="solid"/>
          </a:ln>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C8952B"/>
                </a:solidFill>
                <a:latin typeface="Calibri" pitchFamily="34" charset="0"/>
                <a:ea typeface="Calibri" pitchFamily="34" charset="-122"/>
                <a:cs typeface="Calibri" pitchFamily="34" charset="-120"/>
              </a:rPr>
              <a:t>IN THE TOKEN</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Key material</a:t>
            </a:r>
            <a:endParaRPr lang="en-US" sz="1600" dirty="0"/>
          </a:p>
        </p:txBody>
      </p:sp>
      <p:sp>
        <p:nvSpPr>
          <p:cNvPr id="7" name="Text 5"/>
          <p:cNvSpPr txBox="1"/>
          <p:nvPr/>
        </p:nvSpPr>
        <p:spPr>
          <a:xfrm>
            <a:off x="804672" y="2393696"/>
            <a:ext cx="4919472" cy="130048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Generated inside the HSM, never leaves it</a:t>
            </a:r>
            <a:endParaRPr lang="en-US" sz="1300" dirty="0"/>
          </a:p>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Non-extractable; the usage mask is enforced by the token</a:t>
            </a:r>
            <a:endParaRPr lang="en-US" sz="1300" dirty="0"/>
          </a:p>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Referenced from the database only by CKA_ID</a:t>
            </a:r>
            <a:endParaRPr lang="en-US" sz="1300" dirty="0"/>
          </a:p>
        </p:txBody>
      </p:sp>
      <p:sp>
        <p:nvSpPr>
          <p:cNvPr id="8" name="Shape 6"/>
          <p:cNvSpPr/>
          <p:nvPr/>
        </p:nvSpPr>
        <p:spPr>
          <a:xfrm>
            <a:off x="6236208" y="1572768"/>
            <a:ext cx="5394960" cy="2286000"/>
          </a:xfrm>
          <a:prstGeom prst="roundRect">
            <a:avLst>
              <a:gd name="adj" fmla="val 240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IN THE DATABASE</a:t>
            </a:r>
            <a:endParaRPr lang="en-US" sz="1000" dirty="0"/>
          </a:p>
        </p:txBody>
      </p:sp>
      <p:sp>
        <p:nvSpPr>
          <p:cNvPr id="10" name="Text 8"/>
          <p:cNvSpPr txBox="1"/>
          <p:nvPr/>
        </p:nvSpPr>
        <p:spPr>
          <a:xfrm>
            <a:off x="6473952" y="2048256"/>
            <a:ext cx="4919472" cy="510540"/>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Everything KMIP needs that PKCS#11 has no room for</a:t>
            </a:r>
            <a:endParaRPr lang="en-US" sz="1500" dirty="0"/>
          </a:p>
        </p:txBody>
      </p:sp>
      <p:sp>
        <p:nvSpPr>
          <p:cNvPr id="11" name="Text 9"/>
          <p:cNvSpPr txBox="1"/>
          <p:nvPr/>
        </p:nvSpPr>
        <p:spPr>
          <a:xfrm>
            <a:off x="6473952" y="2631948"/>
            <a:ext cx="4919472" cy="106222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Attributes, state, dates, names, links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Owner, grants, groups, role allowlists, approvals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The tamper-evident audit chain</a:t>
            </a:r>
            <a:endParaRPr lang="en-US" sz="1300" dirty="0"/>
          </a:p>
        </p:txBody>
      </p:sp>
      <p:sp>
        <p:nvSpPr>
          <p:cNvPr id="12" name="Shape 10"/>
          <p:cNvSpPr/>
          <p:nvPr/>
        </p:nvSpPr>
        <p:spPr>
          <a:xfrm>
            <a:off x="566928" y="4059936"/>
            <a:ext cx="6858000" cy="1993392"/>
          </a:xfrm>
          <a:prstGeom prst="roundRect">
            <a:avLst>
              <a:gd name="adj" fmla="val 2752"/>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04672" y="4261104"/>
            <a:ext cx="638251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EXCEPTION</a:t>
            </a:r>
            <a:endParaRPr lang="en-US" sz="1000" dirty="0"/>
          </a:p>
        </p:txBody>
      </p:sp>
      <p:sp>
        <p:nvSpPr>
          <p:cNvPr id="14" name="Text 12"/>
          <p:cNvSpPr txBox="1"/>
          <p:nvPr/>
        </p:nvSpPr>
        <p:spPr>
          <a:xfrm>
            <a:off x="804672" y="4535424"/>
            <a:ext cx="63825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Objects with no PKCS#11 representation</a:t>
            </a:r>
            <a:endParaRPr lang="en-US" sz="1600" dirty="0"/>
          </a:p>
        </p:txBody>
      </p:sp>
      <p:sp>
        <p:nvSpPr>
          <p:cNvPr id="15" name="Text 13"/>
          <p:cNvSpPr txBox="1"/>
          <p:nvPr/>
        </p:nvSpPr>
        <p:spPr>
          <a:xfrm>
            <a:off x="804672" y="4880864"/>
            <a:ext cx="6382512" cy="1007872"/>
          </a:xfrm>
          <a:prstGeom prst="rect">
            <a:avLst/>
          </a:prstGeom>
          <a:noFill/>
          <a:ln/>
        </p:spPr>
        <p:txBody>
          <a:bodyPr wrap="square" lIns="0" tIns="0" rIns="0" bIns="0" rtlCol="0" anchor="t"/>
          <a:lstStyle/>
          <a:p>
            <a:pPr indent="0" marL="0">
              <a:lnSpc>
                <a:spcPts val="1700"/>
              </a:lnSpc>
              <a:buNone/>
            </a:pPr>
            <a:r>
              <a:rPr lang="en-US" sz="1300" dirty="0">
                <a:solidFill>
                  <a:srgbClr val="4D5A68"/>
                </a:solidFill>
                <a:latin typeface="Calibri" pitchFamily="34" charset="0"/>
                <a:ea typeface="Calibri" pitchFamily="34" charset="-122"/>
                <a:cs typeface="Calibri" pitchFamily="34" charset="-120"/>
              </a:rPr>
              <a:t>SecretData, OpaqueObject and SplitKey shares have no token object behind them, so their bytes would sit in the database in the clear. They are sealed with AES-256-GCM under a master key that is generated on, and never leaves, the HSM.</a:t>
            </a:r>
            <a:endParaRPr lang="en-US" sz="1300" dirty="0"/>
          </a:p>
        </p:txBody>
      </p:sp>
      <p:sp>
        <p:nvSpPr>
          <p:cNvPr id="16" name="Shape 14"/>
          <p:cNvSpPr/>
          <p:nvPr/>
        </p:nvSpPr>
        <p:spPr>
          <a:xfrm>
            <a:off x="7699248" y="4059936"/>
            <a:ext cx="3931920" cy="1993392"/>
          </a:xfrm>
          <a:prstGeom prst="roundRect">
            <a:avLst>
              <a:gd name="adj" fmla="val 2752"/>
            </a:avLst>
          </a:prstGeom>
          <a:solidFill>
            <a:srgbClr val="1A3A5C"/>
          </a:solidFill>
          <a:ln w="12700">
            <a:solidFill>
              <a:srgbClr val="E8EFF6"/>
            </a:solidFill>
            <a:prstDash val="solid"/>
          </a:ln>
        </p:spPr>
      </p:sp>
      <p:sp>
        <p:nvSpPr>
          <p:cNvPr id="17" name="Text 15"/>
          <p:cNvSpPr txBox="1"/>
          <p:nvPr/>
        </p:nvSpPr>
        <p:spPr>
          <a:xfrm>
            <a:off x="7936992" y="4261104"/>
            <a:ext cx="345643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Back them up together</a:t>
            </a:r>
            <a:endParaRPr lang="en-US" sz="1600" dirty="0"/>
          </a:p>
        </p:txBody>
      </p:sp>
      <p:sp>
        <p:nvSpPr>
          <p:cNvPr id="18" name="Text 16"/>
          <p:cNvSpPr txBox="1"/>
          <p:nvPr/>
        </p:nvSpPr>
        <p:spPr>
          <a:xfrm>
            <a:off x="7936992" y="4606544"/>
            <a:ext cx="3456432" cy="1282192"/>
          </a:xfrm>
          <a:prstGeom prst="rect">
            <a:avLst/>
          </a:prstGeom>
          <a:noFill/>
          <a:ln/>
        </p:spPr>
        <p:txBody>
          <a:bodyPr wrap="square" lIns="0" tIns="0" rIns="0" bIns="0" rtlCol="0" anchor="t"/>
          <a:lstStyle/>
          <a:p>
            <a:pPr indent="0" marL="0">
              <a:lnSpc>
                <a:spcPts val="1700"/>
              </a:lnSpc>
              <a:buNone/>
            </a:pPr>
            <a:r>
              <a:rPr lang="en-US" sz="1300" dirty="0">
                <a:solidFill>
                  <a:srgbClr val="C9DAEA"/>
                </a:solidFill>
                <a:latin typeface="Calibri" pitchFamily="34" charset="0"/>
                <a:ea typeface="Calibri" pitchFamily="34" charset="-122"/>
                <a:cs typeface="Calibri" pitchFamily="34" charset="-120"/>
              </a:rPr>
              <a:t>A database restored beside a different token is not a degraded backup. It is unreadable.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Where authorization, approval and audit live</a:t>
            </a:r>
            <a:endParaRPr lang="en-US" sz="3400" dirty="0"/>
          </a:p>
        </p:txBody>
      </p:sp>
      <p:sp>
        <p:nvSpPr>
          <p:cNvPr id="4" name="Shape 2"/>
          <p:cNvSpPr/>
          <p:nvPr/>
        </p:nvSpPr>
        <p:spPr>
          <a:xfrm>
            <a:off x="566928" y="1591056"/>
            <a:ext cx="1975104" cy="603504"/>
          </a:xfrm>
          <a:prstGeom prst="roundRect">
            <a:avLst>
              <a:gd name="adj" fmla="val 9091"/>
            </a:avLst>
          </a:prstGeom>
          <a:solidFill>
            <a:srgbClr val="6B8299"/>
          </a:solidFill>
          <a:ln w="12700">
            <a:solidFill>
              <a:srgbClr val="6B8299"/>
            </a:solidFill>
            <a:prstDash val="solid"/>
          </a:ln>
        </p:spPr>
      </p:sp>
      <p:sp>
        <p:nvSpPr>
          <p:cNvPr id="5" name="Text 3"/>
          <p:cNvSpPr txBox="1"/>
          <p:nvPr/>
        </p:nvSpPr>
        <p:spPr>
          <a:xfrm>
            <a:off x="566928"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Request</a:t>
            </a:r>
            <a:endParaRPr lang="en-US" sz="1200" dirty="0"/>
          </a:p>
        </p:txBody>
      </p:sp>
      <p:sp>
        <p:nvSpPr>
          <p:cNvPr id="6" name="Shape 4"/>
          <p:cNvSpPr/>
          <p:nvPr/>
        </p:nvSpPr>
        <p:spPr>
          <a:xfrm>
            <a:off x="2569464" y="1810512"/>
            <a:ext cx="237744" cy="164592"/>
          </a:xfrm>
          <a:prstGeom prst="rightArrow">
            <a:avLst/>
          </a:prstGeom>
          <a:solidFill>
            <a:srgbClr val="2E6DA4"/>
          </a:solidFill>
          <a:ln w="12700">
            <a:solidFill>
              <a:srgbClr val="2E6DA4"/>
            </a:solidFill>
            <a:prstDash val="solid"/>
          </a:ln>
        </p:spPr>
      </p:sp>
      <p:sp>
        <p:nvSpPr>
          <p:cNvPr id="7" name="Shape 5"/>
          <p:cNvSpPr/>
          <p:nvPr/>
        </p:nvSpPr>
        <p:spPr>
          <a:xfrm>
            <a:off x="2825496" y="1591056"/>
            <a:ext cx="1975104" cy="603504"/>
          </a:xfrm>
          <a:prstGeom prst="roundRect">
            <a:avLst>
              <a:gd name="adj" fmla="val 9091"/>
            </a:avLst>
          </a:prstGeom>
          <a:solidFill>
            <a:srgbClr val="2E6DA4"/>
          </a:solidFill>
          <a:ln w="12700">
            <a:solidFill>
              <a:srgbClr val="2E6DA4"/>
            </a:solidFill>
            <a:prstDash val="solid"/>
          </a:ln>
        </p:spPr>
      </p:sp>
      <p:sp>
        <p:nvSpPr>
          <p:cNvPr id="8" name="Text 6"/>
          <p:cNvSpPr txBox="1"/>
          <p:nvPr/>
        </p:nvSpPr>
        <p:spPr>
          <a:xfrm>
            <a:off x="2825496"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Role allowlist</a:t>
            </a:r>
            <a:endParaRPr lang="en-US" sz="1200" dirty="0"/>
          </a:p>
        </p:txBody>
      </p:sp>
      <p:sp>
        <p:nvSpPr>
          <p:cNvPr id="9" name="Shape 7"/>
          <p:cNvSpPr/>
          <p:nvPr/>
        </p:nvSpPr>
        <p:spPr>
          <a:xfrm>
            <a:off x="4828032" y="1810512"/>
            <a:ext cx="237744" cy="164592"/>
          </a:xfrm>
          <a:prstGeom prst="rightArrow">
            <a:avLst/>
          </a:prstGeom>
          <a:solidFill>
            <a:srgbClr val="2E6DA4"/>
          </a:solidFill>
          <a:ln w="12700">
            <a:solidFill>
              <a:srgbClr val="2E6DA4"/>
            </a:solidFill>
            <a:prstDash val="solid"/>
          </a:ln>
        </p:spPr>
      </p:sp>
      <p:sp>
        <p:nvSpPr>
          <p:cNvPr id="10" name="Shape 8"/>
          <p:cNvSpPr/>
          <p:nvPr/>
        </p:nvSpPr>
        <p:spPr>
          <a:xfrm>
            <a:off x="5084064" y="1591056"/>
            <a:ext cx="1975104" cy="603504"/>
          </a:xfrm>
          <a:prstGeom prst="roundRect">
            <a:avLst>
              <a:gd name="adj" fmla="val 9091"/>
            </a:avLst>
          </a:prstGeom>
          <a:solidFill>
            <a:srgbClr val="C8952B"/>
          </a:solidFill>
          <a:ln w="12700">
            <a:solidFill>
              <a:srgbClr val="C8952B"/>
            </a:solidFill>
            <a:prstDash val="solid"/>
          </a:ln>
        </p:spPr>
      </p:sp>
      <p:sp>
        <p:nvSpPr>
          <p:cNvPr id="11" name="Text 9"/>
          <p:cNvSpPr txBox="1"/>
          <p:nvPr/>
        </p:nvSpPr>
        <p:spPr>
          <a:xfrm>
            <a:off x="5084064" y="1591056"/>
            <a:ext cx="1975104" cy="603504"/>
          </a:xfrm>
          <a:prstGeom prst="rect">
            <a:avLst/>
          </a:prstGeom>
          <a:noFill/>
          <a:ln/>
        </p:spPr>
        <p:txBody>
          <a:bodyPr wrap="square" lIns="0" tIns="0" rIns="0" bIns="0" rtlCol="0" anchor="ctr"/>
          <a:lstStyle/>
          <a:p>
            <a:pPr algn="ctr" indent="0" marL="0">
              <a:buNone/>
            </a:pPr>
            <a:r>
              <a:rPr lang="en-US" sz="1200" b="1" dirty="0">
                <a:solidFill>
                  <a:srgbClr val="102437"/>
                </a:solidFill>
                <a:latin typeface="Calibri" pitchFamily="34" charset="0"/>
                <a:ea typeface="Calibri" pitchFamily="34" charset="-122"/>
                <a:cs typeface="Calibri" pitchFamily="34" charset="-120"/>
              </a:rPr>
              <a:t>Dual control</a:t>
            </a:r>
            <a:endParaRPr lang="en-US" sz="1200" dirty="0"/>
          </a:p>
        </p:txBody>
      </p:sp>
      <p:sp>
        <p:nvSpPr>
          <p:cNvPr id="12" name="Shape 10"/>
          <p:cNvSpPr/>
          <p:nvPr/>
        </p:nvSpPr>
        <p:spPr>
          <a:xfrm>
            <a:off x="7086600" y="1810512"/>
            <a:ext cx="237744" cy="164592"/>
          </a:xfrm>
          <a:prstGeom prst="rightArrow">
            <a:avLst/>
          </a:prstGeom>
          <a:solidFill>
            <a:srgbClr val="2E6DA4"/>
          </a:solidFill>
          <a:ln w="12700">
            <a:solidFill>
              <a:srgbClr val="2E6DA4"/>
            </a:solidFill>
            <a:prstDash val="solid"/>
          </a:ln>
        </p:spPr>
      </p:sp>
      <p:sp>
        <p:nvSpPr>
          <p:cNvPr id="13" name="Shape 11"/>
          <p:cNvSpPr/>
          <p:nvPr/>
        </p:nvSpPr>
        <p:spPr>
          <a:xfrm>
            <a:off x="7342632" y="1591056"/>
            <a:ext cx="1975104" cy="603504"/>
          </a:xfrm>
          <a:prstGeom prst="roundRect">
            <a:avLst>
              <a:gd name="adj" fmla="val 9091"/>
            </a:avLst>
          </a:prstGeom>
          <a:solidFill>
            <a:srgbClr val="1A3A5C"/>
          </a:solidFill>
          <a:ln w="12700">
            <a:solidFill>
              <a:srgbClr val="1A3A5C"/>
            </a:solidFill>
            <a:prstDash val="solid"/>
          </a:ln>
        </p:spPr>
      </p:sp>
      <p:sp>
        <p:nvSpPr>
          <p:cNvPr id="14" name="Text 12"/>
          <p:cNvSpPr txBox="1"/>
          <p:nvPr/>
        </p:nvSpPr>
        <p:spPr>
          <a:xfrm>
            <a:off x="7342632"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Handler</a:t>
            </a:r>
            <a:endParaRPr lang="en-US" sz="1200" dirty="0"/>
          </a:p>
        </p:txBody>
      </p:sp>
      <p:sp>
        <p:nvSpPr>
          <p:cNvPr id="15" name="Shape 13"/>
          <p:cNvSpPr/>
          <p:nvPr/>
        </p:nvSpPr>
        <p:spPr>
          <a:xfrm>
            <a:off x="9345168" y="1810512"/>
            <a:ext cx="237744" cy="164592"/>
          </a:xfrm>
          <a:prstGeom prst="rightArrow">
            <a:avLst/>
          </a:prstGeom>
          <a:solidFill>
            <a:srgbClr val="2E6DA4"/>
          </a:solidFill>
          <a:ln w="12700">
            <a:solidFill>
              <a:srgbClr val="2E6DA4"/>
            </a:solidFill>
            <a:prstDash val="solid"/>
          </a:ln>
        </p:spPr>
      </p:sp>
      <p:sp>
        <p:nvSpPr>
          <p:cNvPr id="16" name="Shape 14"/>
          <p:cNvSpPr/>
          <p:nvPr/>
        </p:nvSpPr>
        <p:spPr>
          <a:xfrm>
            <a:off x="9601200" y="1591056"/>
            <a:ext cx="1975104" cy="603504"/>
          </a:xfrm>
          <a:prstGeom prst="roundRect">
            <a:avLst>
              <a:gd name="adj" fmla="val 9091"/>
            </a:avLst>
          </a:prstGeom>
          <a:solidFill>
            <a:srgbClr val="3B4A58"/>
          </a:solidFill>
          <a:ln w="12700">
            <a:solidFill>
              <a:srgbClr val="3B4A58"/>
            </a:solidFill>
            <a:prstDash val="solid"/>
          </a:ln>
        </p:spPr>
      </p:sp>
      <p:sp>
        <p:nvSpPr>
          <p:cNvPr id="17" name="Text 15"/>
          <p:cNvSpPr txBox="1"/>
          <p:nvPr/>
        </p:nvSpPr>
        <p:spPr>
          <a:xfrm>
            <a:off x="9601200"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Audit + metrics</a:t>
            </a:r>
            <a:endParaRPr lang="en-US" sz="1200" dirty="0"/>
          </a:p>
        </p:txBody>
      </p:sp>
      <p:sp>
        <p:nvSpPr>
          <p:cNvPr id="18" name="Text 16"/>
          <p:cNvSpPr txBox="1"/>
          <p:nvPr/>
        </p:nvSpPr>
        <p:spPr>
          <a:xfrm>
            <a:off x="566928" y="2304288"/>
            <a:ext cx="11027664" cy="292608"/>
          </a:xfrm>
          <a:prstGeom prst="rect">
            <a:avLst/>
          </a:prstGeom>
          <a:noFill/>
          <a:ln/>
        </p:spPr>
        <p:txBody>
          <a:bodyPr wrap="square" lIns="0" tIns="0" rIns="0" bIns="0" rtlCol="0" anchor="ctr"/>
          <a:lstStyle/>
          <a:p>
            <a:pPr indent="0" marL="0">
              <a:buNone/>
            </a:pPr>
            <a:r>
              <a:rPr lang="en-US" sz="1300" i="1" dirty="0">
                <a:solidFill>
                  <a:srgbClr val="1A3A5C"/>
                </a:solidFill>
                <a:latin typeface="Calibri" pitchFamily="34" charset="0"/>
                <a:ea typeface="Calibri" pitchFamily="34" charset="-122"/>
                <a:cs typeface="Calibri" pitchFamily="34" charset="-120"/>
              </a:rPr>
              <a:t>The dispatcher wraps every one of the 41 operations in this pipeline.</a:t>
            </a:r>
            <a:endParaRPr lang="en-US" sz="1300" dirty="0"/>
          </a:p>
        </p:txBody>
      </p:sp>
      <p:sp>
        <p:nvSpPr>
          <p:cNvPr id="19" name="Shape 17"/>
          <p:cNvSpPr/>
          <p:nvPr/>
        </p:nvSpPr>
        <p:spPr>
          <a:xfrm>
            <a:off x="566928" y="2761488"/>
            <a:ext cx="3520440" cy="2761488"/>
          </a:xfrm>
          <a:prstGeom prst="roundRect">
            <a:avLst>
              <a:gd name="adj" fmla="val 1987"/>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04672" y="2962656"/>
            <a:ext cx="304495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THE HAZARD</a:t>
            </a:r>
            <a:endParaRPr lang="en-US" sz="1000" dirty="0"/>
          </a:p>
        </p:txBody>
      </p:sp>
      <p:sp>
        <p:nvSpPr>
          <p:cNvPr id="21" name="Text 19"/>
          <p:cNvSpPr txBox="1"/>
          <p:nvPr/>
        </p:nvSpPr>
        <p:spPr>
          <a:xfrm>
            <a:off x="804672" y="323697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Bypass</a:t>
            </a:r>
            <a:endParaRPr lang="en-US" sz="1600" dirty="0"/>
          </a:p>
        </p:txBody>
      </p:sp>
      <p:sp>
        <p:nvSpPr>
          <p:cNvPr id="22" name="Text 20"/>
          <p:cNvSpPr txBox="1"/>
          <p:nvPr/>
        </p:nvSpPr>
        <p:spPr>
          <a:xfrm>
            <a:off x="804672" y="3582416"/>
            <a:ext cx="3044952" cy="177596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Anything that calls the store directly skips all four checks. Add a second transport carelessly and dual control silently stops applying to it — which is why a shared service layer must come before a REST API.</a:t>
            </a:r>
            <a:endParaRPr lang="en-US" sz="1250" dirty="0"/>
          </a:p>
        </p:txBody>
      </p:sp>
      <p:sp>
        <p:nvSpPr>
          <p:cNvPr id="23" name="Shape 21"/>
          <p:cNvSpPr/>
          <p:nvPr/>
        </p:nvSpPr>
        <p:spPr>
          <a:xfrm>
            <a:off x="4334256" y="2761488"/>
            <a:ext cx="3520440" cy="2761488"/>
          </a:xfrm>
          <a:prstGeom prst="roundRect">
            <a:avLst>
              <a:gd name="adj" fmla="val 198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4" name="Text 22"/>
          <p:cNvSpPr txBox="1"/>
          <p:nvPr/>
        </p:nvSpPr>
        <p:spPr>
          <a:xfrm>
            <a:off x="4572000" y="296265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CONCURRENCY</a:t>
            </a:r>
            <a:endParaRPr lang="en-US" sz="1000" dirty="0"/>
          </a:p>
        </p:txBody>
      </p:sp>
      <p:sp>
        <p:nvSpPr>
          <p:cNvPr id="25" name="Text 23"/>
          <p:cNvSpPr txBox="1"/>
          <p:nvPr/>
        </p:nvSpPr>
        <p:spPr>
          <a:xfrm>
            <a:off x="4572000" y="323697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One session per process</a:t>
            </a:r>
            <a:endParaRPr lang="en-US" sz="1600" dirty="0"/>
          </a:p>
        </p:txBody>
      </p:sp>
      <p:sp>
        <p:nvSpPr>
          <p:cNvPr id="26" name="Text 24"/>
          <p:cNvSpPr txBox="1"/>
          <p:nvPr/>
        </p:nvSpPr>
        <p:spPr>
          <a:xfrm>
            <a:off x="4572000" y="3582416"/>
            <a:ext cx="3044952" cy="177596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A PKCS#11 session pool was built, tested, and reproducibly segfaulted: python-pkcs11 calls C_Initialize(NULL), so the library's own thread safety is never enabled. Scale with pre-fork workers, never with threads. This is permanent design, not a stopgap.</a:t>
            </a:r>
            <a:endParaRPr lang="en-US" sz="1250" dirty="0"/>
          </a:p>
        </p:txBody>
      </p:sp>
      <p:sp>
        <p:nvSpPr>
          <p:cNvPr id="27" name="Shape 25"/>
          <p:cNvSpPr/>
          <p:nvPr/>
        </p:nvSpPr>
        <p:spPr>
          <a:xfrm>
            <a:off x="8101584" y="2761488"/>
            <a:ext cx="3529584" cy="2761488"/>
          </a:xfrm>
          <a:prstGeom prst="roundRect">
            <a:avLst>
              <a:gd name="adj" fmla="val 198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8" name="Text 26"/>
          <p:cNvSpPr txBox="1"/>
          <p:nvPr/>
        </p:nvSpPr>
        <p:spPr>
          <a:xfrm>
            <a:off x="8339328" y="2962656"/>
            <a:ext cx="30540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CAPABILITY PROBE</a:t>
            </a:r>
            <a:endParaRPr lang="en-US" sz="1000" dirty="0"/>
          </a:p>
        </p:txBody>
      </p:sp>
      <p:sp>
        <p:nvSpPr>
          <p:cNvPr id="29" name="Text 27"/>
          <p:cNvSpPr txBox="1"/>
          <p:nvPr/>
        </p:nvSpPr>
        <p:spPr>
          <a:xfrm>
            <a:off x="8339328" y="3236976"/>
            <a:ext cx="3054096" cy="544576"/>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Ask the token, don't assume</a:t>
            </a:r>
            <a:endParaRPr lang="en-US" sz="1600" dirty="0"/>
          </a:p>
        </p:txBody>
      </p:sp>
      <p:sp>
        <p:nvSpPr>
          <p:cNvPr id="30" name="Text 28"/>
          <p:cNvSpPr txBox="1"/>
          <p:nvPr/>
        </p:nvSpPr>
        <p:spPr>
          <a:xfrm>
            <a:off x="8339328" y="3854704"/>
            <a:ext cx="3054096" cy="1503680"/>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The shim reads the token's real mechanism list at startup and gates every dispatch on it. An unsupported algorithm fails cleanly and by name, instead of surfacing a raw PKCS#11 error from deep inside an operation.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A FULL KMS · 1 OF 2</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Why a REST layer is not optional</a:t>
            </a:r>
            <a:endParaRPr lang="en-US" sz="3400" dirty="0"/>
          </a:p>
        </p:txBody>
      </p:sp>
      <p:sp>
        <p:nvSpPr>
          <p:cNvPr id="4" name="Shape 2"/>
          <p:cNvSpPr/>
          <p:nvPr/>
        </p:nvSpPr>
        <p:spPr>
          <a:xfrm>
            <a:off x="566928"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01</a:t>
            </a:r>
            <a:endParaRPr lang="en-US" sz="1000" dirty="0"/>
          </a:p>
        </p:txBody>
      </p:sp>
      <p:sp>
        <p:nvSpPr>
          <p:cNvPr id="6" name="Text 4"/>
          <p:cNvSpPr txBox="1"/>
          <p:nvPr/>
        </p:nvSpPr>
        <p:spPr>
          <a:xfrm>
            <a:off x="804672"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operations do not exist</a:t>
            </a:r>
            <a:endParaRPr lang="en-US" sz="1400" dirty="0"/>
          </a:p>
        </p:txBody>
      </p:sp>
      <p:sp>
        <p:nvSpPr>
          <p:cNvPr id="7" name="Text 5"/>
          <p:cNvSpPr txBox="1"/>
          <p:nvPr/>
        </p:nvSpPr>
        <p:spPr>
          <a:xfrm>
            <a:off x="804672"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Identities, roles, grants, approvals, cryptoperiods, audit search, backups — KMIP defines none of them.</a:t>
            </a:r>
            <a:endParaRPr lang="en-US" sz="1200" dirty="0"/>
          </a:p>
        </p:txBody>
      </p:sp>
      <p:sp>
        <p:nvSpPr>
          <p:cNvPr id="8" name="Shape 6"/>
          <p:cNvSpPr/>
          <p:nvPr/>
        </p:nvSpPr>
        <p:spPr>
          <a:xfrm>
            <a:off x="4334256"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4572000"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02</a:t>
            </a:r>
            <a:endParaRPr lang="en-US" sz="1000" dirty="0"/>
          </a:p>
        </p:txBody>
      </p:sp>
      <p:sp>
        <p:nvSpPr>
          <p:cNvPr id="10" name="Text 8"/>
          <p:cNvSpPr txBox="1"/>
          <p:nvPr/>
        </p:nvSpPr>
        <p:spPr>
          <a:xfrm>
            <a:off x="4572000"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A browser cannot speak TTLV</a:t>
            </a:r>
            <a:endParaRPr lang="en-US" sz="1400" dirty="0"/>
          </a:p>
        </p:txBody>
      </p:sp>
      <p:sp>
        <p:nvSpPr>
          <p:cNvPr id="11" name="Text 9"/>
          <p:cNvSpPr txBox="1"/>
          <p:nvPr/>
        </p:nvSpPr>
        <p:spPr>
          <a:xfrm>
            <a:off x="4572000"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Binary over raw TCP. A browser has fetch and WebSocket. Something must translate — and that translator is the API.</a:t>
            </a:r>
            <a:endParaRPr lang="en-US" sz="1200" dirty="0"/>
          </a:p>
        </p:txBody>
      </p:sp>
      <p:sp>
        <p:nvSpPr>
          <p:cNvPr id="12" name="Shape 10"/>
          <p:cNvSpPr/>
          <p:nvPr/>
        </p:nvSpPr>
        <p:spPr>
          <a:xfrm>
            <a:off x="8101584"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339328"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03</a:t>
            </a:r>
            <a:endParaRPr lang="en-US" sz="1000" dirty="0"/>
          </a:p>
        </p:txBody>
      </p:sp>
      <p:sp>
        <p:nvSpPr>
          <p:cNvPr id="14" name="Text 12"/>
          <p:cNvSpPr txBox="1"/>
          <p:nvPr/>
        </p:nvSpPr>
        <p:spPr>
          <a:xfrm>
            <a:off x="8339328"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auth models differ</a:t>
            </a:r>
            <a:endParaRPr lang="en-US" sz="1400" dirty="0"/>
          </a:p>
        </p:txBody>
      </p:sp>
      <p:sp>
        <p:nvSpPr>
          <p:cNvPr id="15" name="Text 13"/>
          <p:cNvSpPr txBox="1"/>
          <p:nvPr/>
        </p:nvSpPr>
        <p:spPr>
          <a:xfrm>
            <a:off x="8339328"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KMIP re-authenticates every request from a header credential. A console needs login, session, idle timeout, CSRF, revocation.</a:t>
            </a:r>
            <a:endParaRPr lang="en-US" sz="1200" dirty="0"/>
          </a:p>
        </p:txBody>
      </p:sp>
      <p:sp>
        <p:nvSpPr>
          <p:cNvPr id="16" name="Shape 14"/>
          <p:cNvSpPr/>
          <p:nvPr/>
        </p:nvSpPr>
        <p:spPr>
          <a:xfrm>
            <a:off x="566928" y="3767328"/>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804672" y="396849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04</a:t>
            </a:r>
            <a:endParaRPr lang="en-US" sz="1000" dirty="0"/>
          </a:p>
        </p:txBody>
      </p:sp>
      <p:sp>
        <p:nvSpPr>
          <p:cNvPr id="18" name="Text 16"/>
          <p:cNvSpPr txBox="1"/>
          <p:nvPr/>
        </p:nvSpPr>
        <p:spPr>
          <a:xfrm>
            <a:off x="804672" y="4242816"/>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read shapes are wrong</a:t>
            </a:r>
            <a:endParaRPr lang="en-US" sz="1400" dirty="0"/>
          </a:p>
        </p:txBody>
      </p:sp>
      <p:sp>
        <p:nvSpPr>
          <p:cNvPr id="19" name="Text 17"/>
          <p:cNvSpPr txBox="1"/>
          <p:nvPr/>
        </p:nvSpPr>
        <p:spPr>
          <a:xfrm>
            <a:off x="804672" y="4626864"/>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Locate returns bare identifiers with no paging, sort or count. A console table becomes N+1 round trips.</a:t>
            </a:r>
            <a:endParaRPr lang="en-US" sz="1200" dirty="0"/>
          </a:p>
        </p:txBody>
      </p:sp>
      <p:sp>
        <p:nvSpPr>
          <p:cNvPr id="20" name="Shape 18"/>
          <p:cNvSpPr/>
          <p:nvPr/>
        </p:nvSpPr>
        <p:spPr>
          <a:xfrm>
            <a:off x="4334256" y="3767328"/>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1" name="Text 19"/>
          <p:cNvSpPr txBox="1"/>
          <p:nvPr/>
        </p:nvSpPr>
        <p:spPr>
          <a:xfrm>
            <a:off x="4572000" y="396849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05</a:t>
            </a:r>
            <a:endParaRPr lang="en-US" sz="1000" dirty="0"/>
          </a:p>
        </p:txBody>
      </p:sp>
      <p:sp>
        <p:nvSpPr>
          <p:cNvPr id="22" name="Text 20"/>
          <p:cNvSpPr txBox="1"/>
          <p:nvPr/>
        </p:nvSpPr>
        <p:spPr>
          <a:xfrm>
            <a:off x="4572000" y="4242816"/>
            <a:ext cx="3044952" cy="476504"/>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Not everything is object-centric</a:t>
            </a:r>
            <a:endParaRPr lang="en-US" sz="1400" dirty="0"/>
          </a:p>
        </p:txBody>
      </p:sp>
      <p:sp>
        <p:nvSpPr>
          <p:cNvPr id="23" name="Text 21"/>
          <p:cNvSpPr txBox="1"/>
          <p:nvPr/>
        </p:nvSpPr>
        <p:spPr>
          <a:xfrm>
            <a:off x="4572000" y="4792472"/>
            <a:ext cx="3044952" cy="858520"/>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Approval queues, audit search, expiry reports, chain verification, health. None is an operation on a managed object.</a:t>
            </a:r>
            <a:endParaRPr lang="en-US" sz="1200" dirty="0"/>
          </a:p>
        </p:txBody>
      </p:sp>
      <p:sp>
        <p:nvSpPr>
          <p:cNvPr id="24" name="Shape 22"/>
          <p:cNvSpPr/>
          <p:nvPr/>
        </p:nvSpPr>
        <p:spPr>
          <a:xfrm>
            <a:off x="8101584" y="3767328"/>
            <a:ext cx="3520440" cy="2432304"/>
          </a:xfrm>
          <a:prstGeom prst="roundRect">
            <a:avLst>
              <a:gd name="adj" fmla="val 2256"/>
            </a:avLst>
          </a:prstGeom>
          <a:solidFill>
            <a:srgbClr val="1A3A5C"/>
          </a:solidFill>
          <a:ln w="12700">
            <a:solidFill>
              <a:srgbClr val="E8EFF6"/>
            </a:solidFill>
            <a:prstDash val="solid"/>
          </a:ln>
        </p:spPr>
      </p:sp>
      <p:sp>
        <p:nvSpPr>
          <p:cNvPr id="25" name="Text 23"/>
          <p:cNvSpPr txBox="1"/>
          <p:nvPr/>
        </p:nvSpPr>
        <p:spPr>
          <a:xfrm>
            <a:off x="8339328" y="3968496"/>
            <a:ext cx="3044952" cy="25527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The division of labour</a:t>
            </a:r>
            <a:endParaRPr lang="en-US" sz="1500" dirty="0"/>
          </a:p>
        </p:txBody>
      </p:sp>
      <p:sp>
        <p:nvSpPr>
          <p:cNvPr id="26" name="Text 24"/>
          <p:cNvSpPr txBox="1"/>
          <p:nvPr/>
        </p:nvSpPr>
        <p:spPr>
          <a:xfrm>
            <a:off x="8339328" y="4296918"/>
            <a:ext cx="3044952" cy="1738122"/>
          </a:xfrm>
          <a:prstGeom prst="rect">
            <a:avLst/>
          </a:prstGeom>
          <a:noFill/>
          <a:ln/>
        </p:spPr>
        <p:txBody>
          <a:bodyPr wrap="square" lIns="0" tIns="0" rIns="0" bIns="0" rtlCol="0" anchor="t"/>
          <a:lstStyle/>
          <a:p>
            <a:pPr indent="0" marL="0">
              <a:lnSpc>
                <a:spcPts val="1700"/>
              </a:lnSpc>
              <a:buNone/>
            </a:pPr>
            <a:r>
              <a:rPr lang="en-US" sz="1150" dirty="0">
                <a:solidFill>
                  <a:srgbClr val="C9DAEA"/>
                </a:solidFill>
                <a:latin typeface="Calibri" pitchFamily="34" charset="0"/>
                <a:ea typeface="Calibri" pitchFamily="34" charset="-122"/>
                <a:cs typeface="Calibri" pitchFamily="34" charset="-120"/>
              </a:rPr>
              <a:t>KMIP stays the data plane — machines creating and using keys. REST becomes the control plane — people and CI administering the service. Duplicating crypto operations across both gives you two paths to Destroy, and two authorization implementations to keep in step.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A FULL KMS · 2 OF 2</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One service layer, two transports</a:t>
            </a:r>
            <a:endParaRPr lang="en-US" sz="3400" dirty="0"/>
          </a:p>
        </p:txBody>
      </p:sp>
      <p:sp>
        <p:nvSpPr>
          <p:cNvPr id="4" name="Shape 2"/>
          <p:cNvSpPr/>
          <p:nvPr/>
        </p:nvSpPr>
        <p:spPr>
          <a:xfrm>
            <a:off x="566928" y="1554480"/>
            <a:ext cx="5074920" cy="530352"/>
          </a:xfrm>
          <a:prstGeom prst="roundRect">
            <a:avLst>
              <a:gd name="adj" fmla="val 10345"/>
            </a:avLst>
          </a:prstGeom>
          <a:solidFill>
            <a:srgbClr val="6B8299"/>
          </a:solidFill>
          <a:ln w="12700">
            <a:solidFill>
              <a:srgbClr val="6B8299"/>
            </a:solidFill>
            <a:prstDash val="solid"/>
          </a:ln>
        </p:spPr>
      </p:sp>
      <p:sp>
        <p:nvSpPr>
          <p:cNvPr id="5" name="Text 3"/>
          <p:cNvSpPr txBox="1"/>
          <p:nvPr/>
        </p:nvSpPr>
        <p:spPr>
          <a:xfrm>
            <a:off x="566928" y="155448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Web console  ·  CLI  ·  CI and scripts</a:t>
            </a:r>
            <a:endParaRPr lang="en-US" sz="1250" dirty="0"/>
          </a:p>
        </p:txBody>
      </p:sp>
      <p:sp>
        <p:nvSpPr>
          <p:cNvPr id="6" name="Shape 4"/>
          <p:cNvSpPr/>
          <p:nvPr/>
        </p:nvSpPr>
        <p:spPr>
          <a:xfrm>
            <a:off x="6556248" y="1554480"/>
            <a:ext cx="5074920" cy="530352"/>
          </a:xfrm>
          <a:prstGeom prst="roundRect">
            <a:avLst>
              <a:gd name="adj" fmla="val 10345"/>
            </a:avLst>
          </a:prstGeom>
          <a:solidFill>
            <a:srgbClr val="6B8299"/>
          </a:solidFill>
          <a:ln w="12700">
            <a:solidFill>
              <a:srgbClr val="6B8299"/>
            </a:solidFill>
            <a:prstDash val="solid"/>
          </a:ln>
        </p:spPr>
      </p:sp>
      <p:sp>
        <p:nvSpPr>
          <p:cNvPr id="7" name="Text 5"/>
          <p:cNvSpPr txBox="1"/>
          <p:nvPr/>
        </p:nvSpPr>
        <p:spPr>
          <a:xfrm>
            <a:off x="6556248" y="155448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clients  ·  databases, storage, backup</a:t>
            </a:r>
            <a:endParaRPr lang="en-US" sz="1250" dirty="0"/>
          </a:p>
        </p:txBody>
      </p:sp>
      <p:sp>
        <p:nvSpPr>
          <p:cNvPr id="8" name="Shape 6"/>
          <p:cNvSpPr/>
          <p:nvPr/>
        </p:nvSpPr>
        <p:spPr>
          <a:xfrm>
            <a:off x="3017520" y="2103120"/>
            <a:ext cx="164592" cy="237744"/>
          </a:xfrm>
          <a:prstGeom prst="downArrow">
            <a:avLst/>
          </a:prstGeom>
          <a:solidFill>
            <a:srgbClr val="2E6DA4"/>
          </a:solidFill>
          <a:ln w="12700">
            <a:solidFill>
              <a:srgbClr val="2E6DA4"/>
            </a:solidFill>
            <a:prstDash val="solid"/>
          </a:ln>
        </p:spPr>
      </p:sp>
      <p:sp>
        <p:nvSpPr>
          <p:cNvPr id="9" name="Shape 7"/>
          <p:cNvSpPr/>
          <p:nvPr/>
        </p:nvSpPr>
        <p:spPr>
          <a:xfrm>
            <a:off x="9006840" y="2103120"/>
            <a:ext cx="164592" cy="237744"/>
          </a:xfrm>
          <a:prstGeom prst="downArrow">
            <a:avLst/>
          </a:prstGeom>
          <a:solidFill>
            <a:srgbClr val="2E6DA4"/>
          </a:solidFill>
          <a:ln w="12700">
            <a:solidFill>
              <a:srgbClr val="2E6DA4"/>
            </a:solidFill>
            <a:prstDash val="solid"/>
          </a:ln>
        </p:spPr>
      </p:sp>
      <p:sp>
        <p:nvSpPr>
          <p:cNvPr id="10" name="Shape 8"/>
          <p:cNvSpPr/>
          <p:nvPr/>
        </p:nvSpPr>
        <p:spPr>
          <a:xfrm>
            <a:off x="566928" y="2377440"/>
            <a:ext cx="5074920" cy="658368"/>
          </a:xfrm>
          <a:prstGeom prst="roundRect">
            <a:avLst>
              <a:gd name="adj" fmla="val 8333"/>
            </a:avLst>
          </a:prstGeom>
          <a:solidFill>
            <a:srgbClr val="C8952B"/>
          </a:solidFill>
          <a:ln w="12700">
            <a:solidFill>
              <a:srgbClr val="C8952B"/>
            </a:solidFill>
            <a:prstDash val="solid"/>
          </a:ln>
        </p:spPr>
      </p:sp>
      <p:sp>
        <p:nvSpPr>
          <p:cNvPr id="11" name="Text 9"/>
          <p:cNvSpPr txBox="1"/>
          <p:nvPr/>
        </p:nvSpPr>
        <p:spPr>
          <a:xfrm>
            <a:off x="566928" y="2377440"/>
            <a:ext cx="5074920" cy="658368"/>
          </a:xfrm>
          <a:prstGeom prst="rect">
            <a:avLst/>
          </a:prstGeom>
          <a:noFill/>
          <a:ln/>
        </p:spPr>
        <p:txBody>
          <a:bodyPr wrap="square" lIns="0" tIns="0" rIns="0" bIns="0" rtlCol="0" anchor="ctr"/>
          <a:lstStyle/>
          <a:p>
            <a:pPr algn="ctr" indent="0" marL="0">
              <a:buNone/>
            </a:pPr>
            <a:r>
              <a:rPr lang="en-US" sz="1250" b="1" dirty="0">
                <a:solidFill>
                  <a:srgbClr val="102437"/>
                </a:solidFill>
                <a:latin typeface="Calibri" pitchFamily="34" charset="0"/>
                <a:ea typeface="Calibri" pitchFamily="34" charset="-122"/>
                <a:cs typeface="Calibri" pitchFamily="34" charset="-120"/>
              </a:rPr>
              <a:t>REST admin API  ·  TLS, sessions, tokens</a:t>
            </a:r>
            <a:endParaRPr lang="en-US" sz="1250" dirty="0"/>
          </a:p>
        </p:txBody>
      </p:sp>
      <p:sp>
        <p:nvSpPr>
          <p:cNvPr id="12" name="Shape 10"/>
          <p:cNvSpPr/>
          <p:nvPr/>
        </p:nvSpPr>
        <p:spPr>
          <a:xfrm>
            <a:off x="6556248" y="2377440"/>
            <a:ext cx="5074920" cy="658368"/>
          </a:xfrm>
          <a:prstGeom prst="roundRect">
            <a:avLst>
              <a:gd name="adj" fmla="val 8333"/>
            </a:avLst>
          </a:prstGeom>
          <a:solidFill>
            <a:srgbClr val="2E6DA4"/>
          </a:solidFill>
          <a:ln w="12700">
            <a:solidFill>
              <a:srgbClr val="2E6DA4"/>
            </a:solidFill>
            <a:prstDash val="solid"/>
          </a:ln>
        </p:spPr>
      </p:sp>
      <p:sp>
        <p:nvSpPr>
          <p:cNvPr id="13" name="Text 11"/>
          <p:cNvSpPr txBox="1"/>
          <p:nvPr/>
        </p:nvSpPr>
        <p:spPr>
          <a:xfrm>
            <a:off x="6556248" y="2377440"/>
            <a:ext cx="5074920"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server  ·  TTLV over TLS</a:t>
            </a:r>
            <a:endParaRPr lang="en-US" sz="1250" dirty="0"/>
          </a:p>
        </p:txBody>
      </p:sp>
      <p:sp>
        <p:nvSpPr>
          <p:cNvPr id="14" name="Shape 12"/>
          <p:cNvSpPr/>
          <p:nvPr/>
        </p:nvSpPr>
        <p:spPr>
          <a:xfrm>
            <a:off x="3017520" y="3054096"/>
            <a:ext cx="164592" cy="274320"/>
          </a:xfrm>
          <a:prstGeom prst="downArrow">
            <a:avLst/>
          </a:prstGeom>
          <a:solidFill>
            <a:srgbClr val="2E6DA4"/>
          </a:solidFill>
          <a:ln w="12700">
            <a:solidFill>
              <a:srgbClr val="2E6DA4"/>
            </a:solidFill>
            <a:prstDash val="solid"/>
          </a:ln>
        </p:spPr>
      </p:sp>
      <p:sp>
        <p:nvSpPr>
          <p:cNvPr id="15" name="Shape 13"/>
          <p:cNvSpPr/>
          <p:nvPr/>
        </p:nvSpPr>
        <p:spPr>
          <a:xfrm>
            <a:off x="9006840" y="3054096"/>
            <a:ext cx="164592" cy="274320"/>
          </a:xfrm>
          <a:prstGeom prst="downArrow">
            <a:avLst/>
          </a:prstGeom>
          <a:solidFill>
            <a:srgbClr val="2E6DA4"/>
          </a:solidFill>
          <a:ln w="12700">
            <a:solidFill>
              <a:srgbClr val="2E6DA4"/>
            </a:solidFill>
            <a:prstDash val="solid"/>
          </a:ln>
        </p:spPr>
      </p:sp>
      <p:sp>
        <p:nvSpPr>
          <p:cNvPr id="16" name="Shape 14"/>
          <p:cNvSpPr/>
          <p:nvPr/>
        </p:nvSpPr>
        <p:spPr>
          <a:xfrm>
            <a:off x="566928" y="3383280"/>
            <a:ext cx="11027664" cy="603504"/>
          </a:xfrm>
          <a:prstGeom prst="roundRect">
            <a:avLst>
              <a:gd name="adj" fmla="val 9091"/>
            </a:avLst>
          </a:prstGeom>
          <a:solidFill>
            <a:srgbClr val="1A3A5C"/>
          </a:solidFill>
          <a:ln w="12700">
            <a:solidFill>
              <a:srgbClr val="1A3A5C"/>
            </a:solidFill>
            <a:prstDash val="solid"/>
          </a:ln>
        </p:spPr>
      </p:sp>
      <p:sp>
        <p:nvSpPr>
          <p:cNvPr id="17" name="Text 15"/>
          <p:cNvSpPr txBox="1"/>
          <p:nvPr/>
        </p:nvSpPr>
        <p:spPr>
          <a:xfrm>
            <a:off x="566928" y="3383280"/>
            <a:ext cx="11027664" cy="60350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Service layer  —  role allowlist · dual control · audit · metrics</a:t>
            </a:r>
            <a:endParaRPr lang="en-US" sz="1400" dirty="0"/>
          </a:p>
        </p:txBody>
      </p:sp>
      <p:sp>
        <p:nvSpPr>
          <p:cNvPr id="18" name="Text 16"/>
          <p:cNvSpPr txBox="1"/>
          <p:nvPr/>
        </p:nvSpPr>
        <p:spPr>
          <a:xfrm>
            <a:off x="566928" y="4023360"/>
            <a:ext cx="11027664" cy="237744"/>
          </a:xfrm>
          <a:prstGeom prst="rect">
            <a:avLst/>
          </a:prstGeom>
          <a:noFill/>
          <a:ln/>
        </p:spPr>
        <p:txBody>
          <a:bodyPr wrap="square" lIns="0" tIns="0" rIns="0" bIns="0" rtlCol="0" anchor="ctr"/>
          <a:lstStyle/>
          <a:p>
            <a:pPr algn="ctr" indent="0" marL="0">
              <a:buNone/>
            </a:pPr>
            <a:r>
              <a:rPr lang="en-US" sz="1100" i="1" dirty="0">
                <a:solidFill>
                  <a:srgbClr val="7B8794"/>
                </a:solidFill>
                <a:latin typeface="Calibri" pitchFamily="34" charset="0"/>
                <a:ea typeface="Calibri" pitchFamily="34" charset="-122"/>
                <a:cs typeface="Calibri" pitchFamily="34" charset="-120"/>
              </a:rPr>
              <a:t>every call, both transports, one implementation</a:t>
            </a:r>
            <a:endParaRPr lang="en-US" sz="1100" dirty="0"/>
          </a:p>
        </p:txBody>
      </p:sp>
      <p:sp>
        <p:nvSpPr>
          <p:cNvPr id="19" name="Shape 17"/>
          <p:cNvSpPr/>
          <p:nvPr/>
        </p:nvSpPr>
        <p:spPr>
          <a:xfrm>
            <a:off x="3017520" y="4315968"/>
            <a:ext cx="164592" cy="274320"/>
          </a:xfrm>
          <a:prstGeom prst="downArrow">
            <a:avLst/>
          </a:prstGeom>
          <a:solidFill>
            <a:srgbClr val="2E6DA4"/>
          </a:solidFill>
          <a:ln w="12700">
            <a:solidFill>
              <a:srgbClr val="2E6DA4"/>
            </a:solidFill>
            <a:prstDash val="solid"/>
          </a:ln>
        </p:spPr>
      </p:sp>
      <p:sp>
        <p:nvSpPr>
          <p:cNvPr id="20" name="Shape 18"/>
          <p:cNvSpPr/>
          <p:nvPr/>
        </p:nvSpPr>
        <p:spPr>
          <a:xfrm>
            <a:off x="9006840" y="4315968"/>
            <a:ext cx="164592" cy="274320"/>
          </a:xfrm>
          <a:prstGeom prst="downArrow">
            <a:avLst/>
          </a:prstGeom>
          <a:solidFill>
            <a:srgbClr val="2E6DA4"/>
          </a:solidFill>
          <a:ln w="12700">
            <a:solidFill>
              <a:srgbClr val="2E6DA4"/>
            </a:solidFill>
            <a:prstDash val="solid"/>
          </a:ln>
        </p:spPr>
      </p:sp>
      <p:sp>
        <p:nvSpPr>
          <p:cNvPr id="21" name="Shape 19"/>
          <p:cNvSpPr/>
          <p:nvPr/>
        </p:nvSpPr>
        <p:spPr>
          <a:xfrm>
            <a:off x="566928" y="4663440"/>
            <a:ext cx="5074920" cy="530352"/>
          </a:xfrm>
          <a:prstGeom prst="roundRect">
            <a:avLst>
              <a:gd name="adj" fmla="val 10345"/>
            </a:avLst>
          </a:prstGeom>
          <a:solidFill>
            <a:srgbClr val="102437"/>
          </a:solidFill>
          <a:ln w="12700">
            <a:solidFill>
              <a:srgbClr val="102437"/>
            </a:solidFill>
            <a:prstDash val="solid"/>
          </a:ln>
        </p:spPr>
      </p:sp>
      <p:sp>
        <p:nvSpPr>
          <p:cNvPr id="22" name="Text 20"/>
          <p:cNvSpPr txBox="1"/>
          <p:nvPr/>
        </p:nvSpPr>
        <p:spPr>
          <a:xfrm>
            <a:off x="566928" y="466344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Operation handlers  →  PKCS#11 token</a:t>
            </a:r>
            <a:endParaRPr lang="en-US" sz="1250" dirty="0"/>
          </a:p>
        </p:txBody>
      </p:sp>
      <p:sp>
        <p:nvSpPr>
          <p:cNvPr id="23" name="Shape 21"/>
          <p:cNvSpPr/>
          <p:nvPr/>
        </p:nvSpPr>
        <p:spPr>
          <a:xfrm>
            <a:off x="6556248" y="4663440"/>
            <a:ext cx="5074920" cy="530352"/>
          </a:xfrm>
          <a:prstGeom prst="roundRect">
            <a:avLst>
              <a:gd name="adj" fmla="val 10345"/>
            </a:avLst>
          </a:prstGeom>
          <a:solidFill>
            <a:srgbClr val="102437"/>
          </a:solidFill>
          <a:ln w="12700">
            <a:solidFill>
              <a:srgbClr val="102437"/>
            </a:solidFill>
            <a:prstDash val="solid"/>
          </a:ln>
        </p:spPr>
      </p:sp>
      <p:sp>
        <p:nvSpPr>
          <p:cNvPr id="24" name="Text 22"/>
          <p:cNvSpPr txBox="1"/>
          <p:nvPr/>
        </p:nvSpPr>
        <p:spPr>
          <a:xfrm>
            <a:off x="6556248" y="466344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Metadata store  ·  audit chain</a:t>
            </a:r>
            <a:endParaRPr lang="en-US" sz="1250" dirty="0"/>
          </a:p>
        </p:txBody>
      </p:sp>
      <p:sp>
        <p:nvSpPr>
          <p:cNvPr id="25" name="Shape 23"/>
          <p:cNvSpPr/>
          <p:nvPr/>
        </p:nvSpPr>
        <p:spPr>
          <a:xfrm>
            <a:off x="566928" y="5394960"/>
            <a:ext cx="11027664" cy="1078992"/>
          </a:xfrm>
          <a:prstGeom prst="roundRect">
            <a:avLst>
              <a:gd name="adj" fmla="val 5085"/>
            </a:avLst>
          </a:prstGeom>
          <a:solidFill>
            <a:srgbClr val="E8EFF6"/>
          </a:solidFill>
          <a:ln w="12700">
            <a:solidFill>
              <a:srgbClr val="E8EFF6"/>
            </a:solidFill>
            <a:prstDash val="solid"/>
          </a:ln>
        </p:spPr>
      </p:sp>
      <p:sp>
        <p:nvSpPr>
          <p:cNvPr id="26" name="Text 24"/>
          <p:cNvSpPr txBox="1"/>
          <p:nvPr/>
        </p:nvSpPr>
        <p:spPr>
          <a:xfrm>
            <a:off x="804672" y="5596128"/>
            <a:ext cx="10552176" cy="713232"/>
          </a:xfrm>
          <a:prstGeom prst="rect">
            <a:avLst/>
          </a:prstGeom>
          <a:noFill/>
          <a:ln/>
        </p:spPr>
        <p:txBody>
          <a:bodyPr wrap="square" lIns="0" tIns="0" rIns="0" bIns="0" rtlCol="0" anchor="t"/>
          <a:lstStyle/>
          <a:p>
            <a:pPr indent="0" marL="0">
              <a:lnSpc>
                <a:spcPts val="1700"/>
              </a:lnSpc>
              <a:buNone/>
            </a:pPr>
            <a:r>
              <a:rPr lang="en-US" sz="1250" dirty="0">
                <a:solidFill>
                  <a:srgbClr val="1A3A5C"/>
                </a:solidFill>
                <a:latin typeface="Calibri" pitchFamily="34" charset="0"/>
                <a:ea typeface="Calibri" pitchFamily="34" charset="-122"/>
                <a:cs typeface="Calibri" pitchFamily="34" charset="-120"/>
              </a:rPr>
              <a:t>Endpoints:  sessions and identity  ·  keys and lifecycle  ·  grants, groups, roles  ·  approval queue  ·  audit search  ·  cryptoperiod and expiry reports  ·  backups.        No encrypt, decrypt or sign over REST in v1 — deliberately.</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82 features the market expects</a:t>
            </a:r>
            <a:endParaRPr lang="en-US" sz="3400" dirty="0"/>
          </a:p>
        </p:txBody>
      </p:sp>
      <p:sp>
        <p:nvSpPr>
          <p:cNvPr id="4" name="Text 2"/>
          <p:cNvSpPr txBox="1"/>
          <p:nvPr/>
        </p:nvSpPr>
        <p:spPr>
          <a:xfrm>
            <a:off x="566928" y="1517904"/>
            <a:ext cx="2651760" cy="603504"/>
          </a:xfrm>
          <a:prstGeom prst="rect">
            <a:avLst/>
          </a:prstGeom>
          <a:noFill/>
          <a:ln/>
        </p:spPr>
        <p:txBody>
          <a:bodyPr wrap="square" lIns="0" tIns="0" rIns="0" bIns="0" rtlCol="0" anchor="ctr"/>
          <a:lstStyle/>
          <a:p>
            <a:pPr indent="0" marL="0">
              <a:buNone/>
            </a:pPr>
            <a:r>
              <a:rPr lang="en-US" sz="4000" b="1" dirty="0">
                <a:solidFill>
                  <a:srgbClr val="1F7A43"/>
                </a:solidFill>
                <a:latin typeface="Cambria" pitchFamily="34" charset="0"/>
                <a:ea typeface="Cambria" pitchFamily="34" charset="-122"/>
                <a:cs typeface="Cambria" pitchFamily="34" charset="-120"/>
              </a:rPr>
              <a:t>32</a:t>
            </a:r>
            <a:endParaRPr lang="en-US" sz="4000" dirty="0"/>
          </a:p>
        </p:txBody>
      </p:sp>
      <p:sp>
        <p:nvSpPr>
          <p:cNvPr id="5" name="Text 3"/>
          <p:cNvSpPr txBox="1"/>
          <p:nvPr/>
        </p:nvSpPr>
        <p:spPr>
          <a:xfrm>
            <a:off x="566928"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covered</a:t>
            </a:r>
            <a:endParaRPr lang="en-US" sz="1150" dirty="0"/>
          </a:p>
        </p:txBody>
      </p:sp>
      <p:sp>
        <p:nvSpPr>
          <p:cNvPr id="6" name="Text 4"/>
          <p:cNvSpPr txBox="1"/>
          <p:nvPr/>
        </p:nvSpPr>
        <p:spPr>
          <a:xfrm>
            <a:off x="3328416" y="1517904"/>
            <a:ext cx="2651760" cy="603504"/>
          </a:xfrm>
          <a:prstGeom prst="rect">
            <a:avLst/>
          </a:prstGeom>
          <a:noFill/>
          <a:ln/>
        </p:spPr>
        <p:txBody>
          <a:bodyPr wrap="square" lIns="0" tIns="0" rIns="0" bIns="0" rtlCol="0" anchor="ctr"/>
          <a:lstStyle/>
          <a:p>
            <a:pPr indent="0" marL="0">
              <a:buNone/>
            </a:pPr>
            <a:r>
              <a:rPr lang="en-US" sz="4000" b="1" dirty="0">
                <a:solidFill>
                  <a:srgbClr val="9A6410"/>
                </a:solidFill>
                <a:latin typeface="Cambria" pitchFamily="34" charset="0"/>
                <a:ea typeface="Cambria" pitchFamily="34" charset="-122"/>
                <a:cs typeface="Cambria" pitchFamily="34" charset="-120"/>
              </a:rPr>
              <a:t>18</a:t>
            </a:r>
            <a:endParaRPr lang="en-US" sz="4000" dirty="0"/>
          </a:p>
        </p:txBody>
      </p:sp>
      <p:sp>
        <p:nvSpPr>
          <p:cNvPr id="7" name="Text 5"/>
          <p:cNvSpPr txBox="1"/>
          <p:nvPr/>
        </p:nvSpPr>
        <p:spPr>
          <a:xfrm>
            <a:off x="3328416"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partial</a:t>
            </a:r>
            <a:endParaRPr lang="en-US" sz="1150" dirty="0"/>
          </a:p>
        </p:txBody>
      </p:sp>
      <p:sp>
        <p:nvSpPr>
          <p:cNvPr id="8" name="Text 6"/>
          <p:cNvSpPr txBox="1"/>
          <p:nvPr/>
        </p:nvSpPr>
        <p:spPr>
          <a:xfrm>
            <a:off x="6089904" y="1517904"/>
            <a:ext cx="2651760" cy="603504"/>
          </a:xfrm>
          <a:prstGeom prst="rect">
            <a:avLst/>
          </a:prstGeom>
          <a:noFill/>
          <a:ln/>
        </p:spPr>
        <p:txBody>
          <a:bodyPr wrap="square" lIns="0" tIns="0" rIns="0" bIns="0" rtlCol="0" anchor="ctr"/>
          <a:lstStyle/>
          <a:p>
            <a:pPr indent="0" marL="0">
              <a:buNone/>
            </a:pPr>
            <a:r>
              <a:rPr lang="en-US" sz="4000" b="1" dirty="0">
                <a:solidFill>
                  <a:srgbClr val="B3261E"/>
                </a:solidFill>
                <a:latin typeface="Cambria" pitchFamily="34" charset="0"/>
                <a:ea typeface="Cambria" pitchFamily="34" charset="-122"/>
                <a:cs typeface="Cambria" pitchFamily="34" charset="-120"/>
              </a:rPr>
              <a:t>32</a:t>
            </a:r>
            <a:endParaRPr lang="en-US" sz="4000" dirty="0"/>
          </a:p>
        </p:txBody>
      </p:sp>
      <p:sp>
        <p:nvSpPr>
          <p:cNvPr id="9" name="Text 7"/>
          <p:cNvSpPr txBox="1"/>
          <p:nvPr/>
        </p:nvSpPr>
        <p:spPr>
          <a:xfrm>
            <a:off x="6089904"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not covered</a:t>
            </a:r>
            <a:endParaRPr lang="en-US" sz="1150" dirty="0"/>
          </a:p>
        </p:txBody>
      </p:sp>
      <p:sp>
        <p:nvSpPr>
          <p:cNvPr id="10" name="Text 8"/>
          <p:cNvSpPr txBox="1"/>
          <p:nvPr/>
        </p:nvSpPr>
        <p:spPr>
          <a:xfrm>
            <a:off x="8851392" y="1517904"/>
            <a:ext cx="2743200" cy="603504"/>
          </a:xfrm>
          <a:prstGeom prst="rect">
            <a:avLst/>
          </a:prstGeom>
          <a:noFill/>
          <a:ln/>
        </p:spPr>
        <p:txBody>
          <a:bodyPr wrap="square" lIns="0" tIns="0" rIns="0" bIns="0" rtlCol="0" anchor="ctr"/>
          <a:lstStyle/>
          <a:p>
            <a:pPr indent="0" marL="0">
              <a:buNone/>
            </a:pPr>
            <a:r>
              <a:rPr lang="en-US" sz="4000" b="1" dirty="0">
                <a:solidFill>
                  <a:srgbClr val="2E6DA4"/>
                </a:solidFill>
                <a:latin typeface="Cambria" pitchFamily="34" charset="0"/>
                <a:ea typeface="Cambria" pitchFamily="34" charset="-122"/>
                <a:cs typeface="Cambria" pitchFamily="34" charset="-120"/>
              </a:rPr>
              <a:t>23</a:t>
            </a:r>
            <a:endParaRPr lang="en-US" sz="4000" dirty="0"/>
          </a:p>
        </p:txBody>
      </p:sp>
      <p:sp>
        <p:nvSpPr>
          <p:cNvPr id="11" name="Text 9"/>
          <p:cNvSpPr txBox="1"/>
          <p:nvPr/>
        </p:nvSpPr>
        <p:spPr>
          <a:xfrm>
            <a:off x="8851392" y="2121408"/>
            <a:ext cx="274320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cannot be closed in KMIP</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3017520"/>
          <a:ext cx="11027664" cy="914400"/>
        </p:xfrm>
        <a:graphic>
          <a:graphicData uri="http://schemas.openxmlformats.org/drawingml/2006/table">
            <a:tbl>
              <a:tblPr/>
              <a:tblGrid>
                <a:gridCol w="4809744"/>
                <a:gridCol w="1554480"/>
                <a:gridCol w="1554480"/>
                <a:gridCol w="1554480"/>
                <a:gridCol w="15544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Domain</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Features</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Covered</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Partial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Key lifecycle and cryptography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Protocol and ecosystem integration</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Identity and access control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Audit, compliance and assurance</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Availability, scale and recovery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Operations and observability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Platform hardening</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66928" y="6291072"/>
            <a:ext cx="11027664" cy="310896"/>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Requirements drawn from Thales CipherTrust, Entrust KeyControl, Fortanix DSM, Utimaco ESKM, Bloombase KeyCastle, Cosmian/Eviden, Securosys CyberVault, HashiCorp Vault and the cloud KMS services, plus NIST SP 800-57 and SP 800-152.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What holds up</a:t>
            </a:r>
            <a:endParaRPr lang="en-US" sz="3400" dirty="0"/>
          </a:p>
        </p:txBody>
      </p:sp>
      <p:sp>
        <p:nvSpPr>
          <p:cNvPr id="4" name="Shape 2"/>
          <p:cNvSpPr/>
          <p:nvPr/>
        </p:nvSpPr>
        <p:spPr>
          <a:xfrm>
            <a:off x="566928"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Cryptographic core</a:t>
            </a:r>
            <a:endParaRPr lang="en-US" sz="1500" dirty="0"/>
          </a:p>
        </p:txBody>
      </p:sp>
      <p:sp>
        <p:nvSpPr>
          <p:cNvPr id="6" name="Text 4"/>
          <p:cNvSpPr txBox="1"/>
          <p:nvPr/>
        </p:nvSpPr>
        <p:spPr>
          <a:xfrm>
            <a:off x="804672"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41 of 53 operations, capability-probed against the token; keys never leave the HSM.</a:t>
            </a:r>
            <a:endParaRPr lang="en-US" sz="1200" dirty="0"/>
          </a:p>
        </p:txBody>
      </p:sp>
      <p:sp>
        <p:nvSpPr>
          <p:cNvPr id="7" name="Shape 5"/>
          <p:cNvSpPr/>
          <p:nvPr/>
        </p:nvSpPr>
        <p:spPr>
          <a:xfrm>
            <a:off x="4334256"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4572000"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Lifecycle and governance</a:t>
            </a:r>
            <a:endParaRPr lang="en-US" sz="1500" dirty="0"/>
          </a:p>
        </p:txBody>
      </p:sp>
      <p:sp>
        <p:nvSpPr>
          <p:cNvPr id="9" name="Text 7"/>
          <p:cNvSpPr txBox="1"/>
          <p:nvPr/>
        </p:nvSpPr>
        <p:spPr>
          <a:xfrm>
            <a:off x="4572000"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State machine, cryptoperiod scheduler, scheduled rotation, dual control on Destroy and Export.</a:t>
            </a:r>
            <a:endParaRPr lang="en-US" sz="1200" dirty="0"/>
          </a:p>
        </p:txBody>
      </p:sp>
      <p:sp>
        <p:nvSpPr>
          <p:cNvPr id="10" name="Shape 8"/>
          <p:cNvSpPr/>
          <p:nvPr/>
        </p:nvSpPr>
        <p:spPr>
          <a:xfrm>
            <a:off x="8101584"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339328"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Access control</a:t>
            </a:r>
            <a:endParaRPr lang="en-US" sz="1500" dirty="0"/>
          </a:p>
        </p:txBody>
      </p:sp>
      <p:sp>
        <p:nvSpPr>
          <p:cNvPr id="12" name="Text 10"/>
          <p:cNvSpPr txBox="1"/>
          <p:nvPr/>
        </p:nvSpPr>
        <p:spPr>
          <a:xfrm>
            <a:off x="8339328"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Per-identity scrypt credentials, admin role, ownership, per-object grants, groups, per-role allowlists.</a:t>
            </a:r>
            <a:endParaRPr lang="en-US" sz="1200" dirty="0"/>
          </a:p>
        </p:txBody>
      </p:sp>
      <p:sp>
        <p:nvSpPr>
          <p:cNvPr id="13" name="Shape 11"/>
          <p:cNvSpPr/>
          <p:nvPr/>
        </p:nvSpPr>
        <p:spPr>
          <a:xfrm>
            <a:off x="566928"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4" name="Text 12"/>
          <p:cNvSpPr txBox="1"/>
          <p:nvPr/>
        </p:nvSpPr>
        <p:spPr>
          <a:xfrm>
            <a:off x="804672"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Audit</a:t>
            </a:r>
            <a:endParaRPr lang="en-US" sz="1500" dirty="0"/>
          </a:p>
        </p:txBody>
      </p:sp>
      <p:sp>
        <p:nvSpPr>
          <p:cNvPr id="15" name="Text 13"/>
          <p:cNvSpPr txBox="1"/>
          <p:nvPr/>
        </p:nvSpPr>
        <p:spPr>
          <a:xfrm>
            <a:off x="804672"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Append-only two ways — triggers and a SHA-256 chain — with retention and a verifier that names the broken row.</a:t>
            </a:r>
            <a:endParaRPr lang="en-US" sz="1200" dirty="0"/>
          </a:p>
        </p:txBody>
      </p:sp>
      <p:sp>
        <p:nvSpPr>
          <p:cNvPr id="16" name="Shape 14"/>
          <p:cNvSpPr/>
          <p:nvPr/>
        </p:nvSpPr>
        <p:spPr>
          <a:xfrm>
            <a:off x="4334256"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4572000"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Data at rest</a:t>
            </a:r>
            <a:endParaRPr lang="en-US" sz="1500" dirty="0"/>
          </a:p>
        </p:txBody>
      </p:sp>
      <p:sp>
        <p:nvSpPr>
          <p:cNvPr id="18" name="Text 16"/>
          <p:cNvSpPr txBox="1"/>
          <p:nvPr/>
        </p:nvSpPr>
        <p:spPr>
          <a:xfrm>
            <a:off x="4572000"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AES-256-GCM envelopes under a non-extractable HSM master key, with rotation.</a:t>
            </a:r>
            <a:endParaRPr lang="en-US" sz="1200" dirty="0"/>
          </a:p>
        </p:txBody>
      </p:sp>
      <p:sp>
        <p:nvSpPr>
          <p:cNvPr id="19" name="Shape 17"/>
          <p:cNvSpPr/>
          <p:nvPr/>
        </p:nvSpPr>
        <p:spPr>
          <a:xfrm>
            <a:off x="8101584"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339328"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Backup and recovery</a:t>
            </a:r>
            <a:endParaRPr lang="en-US" sz="1500" dirty="0"/>
          </a:p>
        </p:txBody>
      </p:sp>
      <p:sp>
        <p:nvSpPr>
          <p:cNvPr id="21" name="Text 19"/>
          <p:cNvSpPr txBox="1"/>
          <p:nvPr/>
        </p:nvSpPr>
        <p:spPr>
          <a:xfrm>
            <a:off x="8339328"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Online snapshot with token pairing, and a restore that proves a stored secret decrypts.</a:t>
            </a:r>
            <a:endParaRPr lang="en-US" sz="1200" dirty="0"/>
          </a:p>
        </p:txBody>
      </p:sp>
      <p:sp>
        <p:nvSpPr>
          <p:cNvPr id="22" name="Shape 20"/>
          <p:cNvSpPr/>
          <p:nvPr/>
        </p:nvSpPr>
        <p:spPr>
          <a:xfrm>
            <a:off x="566928" y="5669280"/>
            <a:ext cx="11027664" cy="896112"/>
          </a:xfrm>
          <a:prstGeom prst="roundRect">
            <a:avLst>
              <a:gd name="adj" fmla="val 6122"/>
            </a:avLst>
          </a:prstGeom>
          <a:solidFill>
            <a:srgbClr val="1A3A5C"/>
          </a:solidFill>
          <a:ln w="12700">
            <a:solidFill>
              <a:srgbClr val="E8EFF6"/>
            </a:solidFill>
            <a:prstDash val="solid"/>
          </a:ln>
        </p:spPr>
      </p:sp>
      <p:sp>
        <p:nvSpPr>
          <p:cNvPr id="23" name="Text 21"/>
          <p:cNvSpPr txBox="1"/>
          <p:nvPr/>
        </p:nvSpPr>
        <p:spPr>
          <a:xfrm>
            <a:off x="804672" y="5870448"/>
            <a:ext cx="10552176" cy="530352"/>
          </a:xfrm>
          <a:prstGeom prst="rect">
            <a:avLst/>
          </a:prstGeom>
          <a:noFill/>
          <a:ln/>
        </p:spPr>
        <p:txBody>
          <a:bodyPr wrap="square" lIns="0" tIns="0" rIns="0" bIns="0" rtlCol="0" anchor="t"/>
          <a:lstStyle/>
          <a:p>
            <a:pPr indent="0" marL="0">
              <a:lnSpc>
                <a:spcPts val="1700"/>
              </a:lnSpc>
              <a:buNone/>
            </a:pPr>
            <a:r>
              <a:rPr lang="en-US" sz="1250" dirty="0">
                <a:solidFill>
                  <a:srgbClr val="C9DAEA"/>
                </a:solidFill>
                <a:latin typeface="Calibri" pitchFamily="34" charset="0"/>
                <a:ea typeface="Calibri" pitchFamily="34" charset="-122"/>
                <a:cs typeface="Calibri" pitchFamily="34" charset="-120"/>
              </a:rPr>
              <a:t>Several of these are done properly rather than nominally: the restore proves a secret decrypts rather than assuming it, and dual control is enforced in the store, so the requester cannot self-approve however the approval arrives.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Where it falls short of a product</a:t>
            </a:r>
            <a:endParaRPr lang="en-US" sz="3400" dirty="0"/>
          </a:p>
        </p:txBody>
      </p:sp>
      <p:sp>
        <p:nvSpPr>
          <p:cNvPr id="4" name="Shape 2"/>
          <p:cNvSpPr/>
          <p:nvPr/>
        </p:nvSpPr>
        <p:spPr>
          <a:xfrm>
            <a:off x="566928"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No REST API or console</a:t>
            </a:r>
            <a:endParaRPr lang="en-US" sz="1300" dirty="0"/>
          </a:p>
        </p:txBody>
      </p:sp>
      <p:sp>
        <p:nvSpPr>
          <p:cNvPr id="6" name="Text 4"/>
          <p:cNvSpPr txBox="1"/>
          <p:nvPr/>
        </p:nvSpPr>
        <p:spPr>
          <a:xfrm>
            <a:off x="804672"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Reporting, the console, self-service and encryption as a service are all clients of it.</a:t>
            </a:r>
            <a:endParaRPr lang="en-US" sz="1100" dirty="0"/>
          </a:p>
        </p:txBody>
      </p:sp>
      <p:sp>
        <p:nvSpPr>
          <p:cNvPr id="7" name="Shape 5"/>
          <p:cNvSpPr/>
          <p:nvPr/>
        </p:nvSpPr>
        <p:spPr>
          <a:xfrm>
            <a:off x="2814523"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3052267"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No multi-tenancy</a:t>
            </a:r>
            <a:endParaRPr lang="en-US" sz="1300" dirty="0"/>
          </a:p>
        </p:txBody>
      </p:sp>
      <p:sp>
        <p:nvSpPr>
          <p:cNvPr id="9" name="Text 7"/>
          <p:cNvSpPr txBox="1"/>
          <p:nvPr/>
        </p:nvSpPr>
        <p:spPr>
          <a:xfrm>
            <a:off x="3052267"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Names, searches, quotas and audit are global. Isolation means one deployment per tenant.</a:t>
            </a:r>
            <a:endParaRPr lang="en-US" sz="1100" dirty="0"/>
          </a:p>
        </p:txBody>
      </p:sp>
      <p:sp>
        <p:nvSpPr>
          <p:cNvPr id="10" name="Shape 8"/>
          <p:cNvSpPr/>
          <p:nvPr/>
        </p:nvSpPr>
        <p:spPr>
          <a:xfrm>
            <a:off x="5062118"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5299862"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SQLite only</a:t>
            </a:r>
            <a:endParaRPr lang="en-US" sz="1300" dirty="0"/>
          </a:p>
        </p:txBody>
      </p:sp>
      <p:sp>
        <p:nvSpPr>
          <p:cNvPr id="12" name="Text 10"/>
          <p:cNvSpPr txBox="1"/>
          <p:nvPr/>
        </p:nvSpPr>
        <p:spPr>
          <a:xfrm>
            <a:off x="5299862"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No clustering, replication or DR — the storage engine blocks them, not the protocol.</a:t>
            </a:r>
            <a:endParaRPr lang="en-US" sz="1100" dirty="0"/>
          </a:p>
        </p:txBody>
      </p:sp>
      <p:sp>
        <p:nvSpPr>
          <p:cNvPr id="13" name="Shape 11"/>
          <p:cNvSpPr/>
          <p:nvPr/>
        </p:nvSpPr>
        <p:spPr>
          <a:xfrm>
            <a:off x="7309714"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4" name="Text 12"/>
          <p:cNvSpPr txBox="1"/>
          <p:nvPr/>
        </p:nvSpPr>
        <p:spPr>
          <a:xfrm>
            <a:off x="7547458"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No rate limiting</a:t>
            </a:r>
            <a:endParaRPr lang="en-US" sz="1300" dirty="0"/>
          </a:p>
        </p:txBody>
      </p:sp>
      <p:sp>
        <p:nvSpPr>
          <p:cNvPr id="15" name="Text 13"/>
          <p:cNvSpPr txBox="1"/>
          <p:nvPr/>
        </p:nvSpPr>
        <p:spPr>
          <a:xfrm>
            <a:off x="7547458"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The listener takes a backlog of 16 with no throttle. Flagged in the first review.</a:t>
            </a:r>
            <a:endParaRPr lang="en-US" sz="1100" dirty="0"/>
          </a:p>
        </p:txBody>
      </p:sp>
      <p:sp>
        <p:nvSpPr>
          <p:cNvPr id="16" name="Shape 14"/>
          <p:cNvSpPr/>
          <p:nvPr/>
        </p:nvSpPr>
        <p:spPr>
          <a:xfrm>
            <a:off x="9557309"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9795053"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Policy lives in the server</a:t>
            </a:r>
            <a:endParaRPr lang="en-US" sz="1300" dirty="0"/>
          </a:p>
        </p:txBody>
      </p:sp>
      <p:sp>
        <p:nvSpPr>
          <p:cNvPr id="18" name="Text 16"/>
          <p:cNvSpPr txBox="1"/>
          <p:nvPr/>
        </p:nvSpPr>
        <p:spPr>
          <a:xfrm>
            <a:off x="9795053"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Dual control is enforced here, not inside the token. Own the server and you own the policy.</a:t>
            </a:r>
            <a:endParaRPr lang="en-US" sz="1100" dirty="0"/>
          </a:p>
        </p:txBody>
      </p:sp>
      <p:sp>
        <p:nvSpPr>
          <p:cNvPr id="19" name="Shape 17"/>
          <p:cNvSpPr/>
          <p:nvPr/>
        </p:nvSpPr>
        <p:spPr>
          <a:xfrm>
            <a:off x="566928" y="3931920"/>
            <a:ext cx="2037283" cy="2231136"/>
          </a:xfrm>
          <a:prstGeom prst="roundRect">
            <a:avLst>
              <a:gd name="adj" fmla="val 269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04672" y="4133088"/>
            <a:ext cx="1561795" cy="475488"/>
          </a:xfrm>
          <a:prstGeom prst="rect">
            <a:avLst/>
          </a:prstGeom>
          <a:noFill/>
          <a:ln/>
        </p:spPr>
        <p:txBody>
          <a:bodyPr wrap="square" lIns="0" tIns="0" rIns="0" bIns="0" rtlCol="0" anchor="ctr"/>
          <a:lstStyle/>
          <a:p>
            <a:pPr indent="0" marL="0">
              <a:buNone/>
            </a:pPr>
            <a:r>
              <a:rPr lang="en-US" sz="1300" b="1" dirty="0">
                <a:solidFill>
                  <a:srgbClr val="9A6410"/>
                </a:solidFill>
                <a:latin typeface="Cambria" pitchFamily="34" charset="0"/>
                <a:ea typeface="Cambria" pitchFamily="34" charset="-122"/>
                <a:cs typeface="Cambria" pitchFamily="34" charset="-120"/>
              </a:rPr>
              <a:t>Scaling stops at ~1.5×</a:t>
            </a:r>
            <a:endParaRPr lang="en-US" sz="1300" dirty="0"/>
          </a:p>
        </p:txBody>
      </p:sp>
      <p:sp>
        <p:nvSpPr>
          <p:cNvPr id="21" name="Text 19"/>
          <p:cNvSpPr txBox="1"/>
          <p:nvPr/>
        </p:nvSpPr>
        <p:spPr>
          <a:xfrm>
            <a:off x="804672"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Pre-fork workers help, but every audited operation serialises on one write lock.</a:t>
            </a:r>
            <a:endParaRPr lang="en-US" sz="1100" dirty="0"/>
          </a:p>
        </p:txBody>
      </p:sp>
      <p:sp>
        <p:nvSpPr>
          <p:cNvPr id="22" name="Shape 20"/>
          <p:cNvSpPr/>
          <p:nvPr/>
        </p:nvSpPr>
        <p:spPr>
          <a:xfrm>
            <a:off x="2814523" y="3931920"/>
            <a:ext cx="2037283" cy="2231136"/>
          </a:xfrm>
          <a:prstGeom prst="roundRect">
            <a:avLst>
              <a:gd name="adj" fmla="val 269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3" name="Text 21"/>
          <p:cNvSpPr txBox="1"/>
          <p:nvPr/>
        </p:nvSpPr>
        <p:spPr>
          <a:xfrm>
            <a:off x="3052267" y="4133088"/>
            <a:ext cx="1561795" cy="475488"/>
          </a:xfrm>
          <a:prstGeom prst="rect">
            <a:avLst/>
          </a:prstGeom>
          <a:noFill/>
          <a:ln/>
        </p:spPr>
        <p:txBody>
          <a:bodyPr wrap="square" lIns="0" tIns="0" rIns="0" bIns="0" rtlCol="0" anchor="ctr"/>
          <a:lstStyle/>
          <a:p>
            <a:pPr indent="0" marL="0">
              <a:buNone/>
            </a:pPr>
            <a:r>
              <a:rPr lang="en-US" sz="1300" b="1" dirty="0">
                <a:solidFill>
                  <a:srgbClr val="9A6410"/>
                </a:solidFill>
                <a:latin typeface="Cambria" pitchFamily="34" charset="0"/>
                <a:ea typeface="Cambria" pitchFamily="34" charset="-122"/>
                <a:cs typeface="Cambria" pitchFamily="34" charset="-120"/>
              </a:rPr>
              <a:t>No SIEM export or anchor</a:t>
            </a:r>
            <a:endParaRPr lang="en-US" sz="1300" dirty="0"/>
          </a:p>
        </p:txBody>
      </p:sp>
      <p:sp>
        <p:nvSpPr>
          <p:cNvPr id="24" name="Text 22"/>
          <p:cNvSpPr txBox="1"/>
          <p:nvPr/>
        </p:nvSpPr>
        <p:spPr>
          <a:xfrm>
            <a:off x="3052267"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Auditors ask for both first. A consistent rewrite of the local log leaves no trace.</a:t>
            </a:r>
            <a:endParaRPr lang="en-US" sz="1100" dirty="0"/>
          </a:p>
        </p:txBody>
      </p:sp>
      <p:sp>
        <p:nvSpPr>
          <p:cNvPr id="25" name="Shape 23"/>
          <p:cNvSpPr/>
          <p:nvPr/>
        </p:nvSpPr>
        <p:spPr>
          <a:xfrm>
            <a:off x="5062118" y="3931920"/>
            <a:ext cx="2037283" cy="2231136"/>
          </a:xfrm>
          <a:prstGeom prst="roundRect">
            <a:avLst>
              <a:gd name="adj" fmla="val 269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6" name="Text 24"/>
          <p:cNvSpPr txBox="1"/>
          <p:nvPr/>
        </p:nvSpPr>
        <p:spPr>
          <a:xfrm>
            <a:off x="5299862" y="4133088"/>
            <a:ext cx="1561795" cy="475488"/>
          </a:xfrm>
          <a:prstGeom prst="rect">
            <a:avLst/>
          </a:prstGeom>
          <a:noFill/>
          <a:ln/>
        </p:spPr>
        <p:txBody>
          <a:bodyPr wrap="square" lIns="0" tIns="0" rIns="0" bIns="0" rtlCol="0" anchor="ctr"/>
          <a:lstStyle/>
          <a:p>
            <a:pPr indent="0" marL="0">
              <a:buNone/>
            </a:pPr>
            <a:r>
              <a:rPr lang="en-US" sz="1300" b="1" dirty="0">
                <a:solidFill>
                  <a:srgbClr val="9A6410"/>
                </a:solidFill>
                <a:latin typeface="Cambria" pitchFamily="34" charset="0"/>
                <a:ea typeface="Cambria" pitchFamily="34" charset="-122"/>
                <a:cs typeface="Cambria" pitchFamily="34" charset="-120"/>
              </a:rPr>
              <a:t>Starts unsealed by one PIN</a:t>
            </a:r>
            <a:endParaRPr lang="en-US" sz="1300" dirty="0"/>
          </a:p>
        </p:txBody>
      </p:sp>
      <p:sp>
        <p:nvSpPr>
          <p:cNvPr id="27" name="Text 25"/>
          <p:cNvSpPr txBox="1"/>
          <p:nvPr/>
        </p:nvSpPr>
        <p:spPr>
          <a:xfrm>
            <a:off x="5299862"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The store needs the token, so a stolen database is inert. But one PIN holder is the ceremony.</a:t>
            </a:r>
            <a:endParaRPr lang="en-US" sz="1100" dirty="0"/>
          </a:p>
        </p:txBody>
      </p:sp>
      <p:sp>
        <p:nvSpPr>
          <p:cNvPr id="28" name="Shape 26"/>
          <p:cNvSpPr/>
          <p:nvPr/>
        </p:nvSpPr>
        <p:spPr>
          <a:xfrm>
            <a:off x="7309714" y="3931920"/>
            <a:ext cx="2037283" cy="2231136"/>
          </a:xfrm>
          <a:prstGeom prst="roundRect">
            <a:avLst>
              <a:gd name="adj" fmla="val 269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9" name="Text 27"/>
          <p:cNvSpPr txBox="1"/>
          <p:nvPr/>
        </p:nvSpPr>
        <p:spPr>
          <a:xfrm>
            <a:off x="7547458" y="4133088"/>
            <a:ext cx="1561795" cy="475488"/>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Not FIPS or CC validated</a:t>
            </a:r>
            <a:endParaRPr lang="en-US" sz="1300" dirty="0"/>
          </a:p>
        </p:txBody>
      </p:sp>
      <p:sp>
        <p:nvSpPr>
          <p:cNvPr id="30" name="Text 28"/>
          <p:cNvSpPr txBox="1"/>
          <p:nvPr/>
        </p:nvSpPr>
        <p:spPr>
          <a:xfrm>
            <a:off x="7547458"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Belongs to the token, not the code. Procurement, not engineering.</a:t>
            </a:r>
            <a:endParaRPr lang="en-US" sz="1100" dirty="0"/>
          </a:p>
        </p:txBody>
      </p:sp>
      <p:sp>
        <p:nvSpPr>
          <p:cNvPr id="31" name="Shape 29"/>
          <p:cNvSpPr/>
          <p:nvPr/>
        </p:nvSpPr>
        <p:spPr>
          <a:xfrm>
            <a:off x="9557309" y="3931920"/>
            <a:ext cx="2037283" cy="2231136"/>
          </a:xfrm>
          <a:prstGeom prst="roundRect">
            <a:avLst>
              <a:gd name="adj" fmla="val 269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2" name="Text 30"/>
          <p:cNvSpPr txBox="1"/>
          <p:nvPr/>
        </p:nvSpPr>
        <p:spPr>
          <a:xfrm>
            <a:off x="9795053" y="4133088"/>
            <a:ext cx="1561795" cy="475488"/>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No post-quantum</a:t>
            </a:r>
            <a:endParaRPr lang="en-US" sz="1300" dirty="0"/>
          </a:p>
        </p:txBody>
      </p:sp>
      <p:sp>
        <p:nvSpPr>
          <p:cNvPr id="33" name="Text 31"/>
          <p:cNvSpPr txBox="1"/>
          <p:nvPr/>
        </p:nvSpPr>
        <p:spPr>
          <a:xfrm>
            <a:off x="9795053"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Needs both a PQC token and KMIP 3.0. Neither has shipped in a release.</a:t>
            </a:r>
            <a:endParaRPr lang="en-US" sz="1100" dirty="0"/>
          </a:p>
        </p:txBody>
      </p:sp>
      <p:sp>
        <p:nvSpPr>
          <p:cNvPr id="34" name="Text 32"/>
          <p:cNvSpPr txBox="1"/>
          <p:nvPr/>
        </p:nvSpPr>
        <p:spPr>
          <a:xfrm>
            <a:off x="566928" y="6446520"/>
            <a:ext cx="11027664" cy="155448"/>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Red: absent and material.   Amber: present with a named limit.   Blue: outside this codebase's control.</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9 stages, in dependency order</a:t>
            </a:r>
            <a:endParaRPr lang="en-US" sz="3400" dirty="0"/>
          </a:p>
        </p:txBody>
      </p:sp>
      <p:sp>
        <p:nvSpPr>
          <p:cNvPr id="4" name="Shape 2"/>
          <p:cNvSpPr/>
          <p:nvPr/>
        </p:nvSpPr>
        <p:spPr>
          <a:xfrm>
            <a:off x="566928" y="1481328"/>
            <a:ext cx="3517392" cy="1024128"/>
          </a:xfrm>
          <a:prstGeom prst="roundRect">
            <a:avLst>
              <a:gd name="adj" fmla="val 53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Shape 3"/>
          <p:cNvSpPr/>
          <p:nvPr/>
        </p:nvSpPr>
        <p:spPr>
          <a:xfrm>
            <a:off x="566928" y="1481328"/>
            <a:ext cx="91440" cy="1024128"/>
          </a:xfrm>
          <a:prstGeom prst="rect">
            <a:avLst/>
          </a:prstGeom>
          <a:solidFill>
            <a:srgbClr val="1A3A5C"/>
          </a:solidFill>
          <a:ln w="12700">
            <a:solidFill>
              <a:srgbClr val="1A3A5C"/>
            </a:solidFill>
            <a:prstDash val="solid"/>
          </a:ln>
        </p:spPr>
      </p:sp>
      <p:sp>
        <p:nvSpPr>
          <p:cNvPr id="6" name="Text 4"/>
          <p:cNvSpPr txBox="1"/>
          <p:nvPr/>
        </p:nvSpPr>
        <p:spPr>
          <a:xfrm>
            <a:off x="749808" y="1609344"/>
            <a:ext cx="530352" cy="566928"/>
          </a:xfrm>
          <a:prstGeom prst="rect">
            <a:avLst/>
          </a:prstGeom>
          <a:noFill/>
          <a:ln/>
        </p:spPr>
        <p:txBody>
          <a:bodyPr wrap="square" lIns="0" tIns="0" rIns="0" bIns="0" rtlCol="0" anchor="ctr"/>
          <a:lstStyle/>
          <a:p>
            <a:pPr algn="ctr" indent="0" marL="0">
              <a:buNone/>
            </a:pPr>
            <a:r>
              <a:rPr lang="en-US" sz="3000" b="1" dirty="0">
                <a:solidFill>
                  <a:srgbClr val="2E6DA4"/>
                </a:solidFill>
                <a:latin typeface="Cambria" pitchFamily="34" charset="0"/>
                <a:ea typeface="Cambria" pitchFamily="34" charset="-122"/>
                <a:cs typeface="Cambria" pitchFamily="34" charset="-120"/>
              </a:rPr>
              <a:t>A</a:t>
            </a:r>
            <a:endParaRPr lang="en-US" sz="3000" dirty="0"/>
          </a:p>
        </p:txBody>
      </p:sp>
      <p:sp>
        <p:nvSpPr>
          <p:cNvPr id="7" name="Text 5"/>
          <p:cNvSpPr txBox="1"/>
          <p:nvPr/>
        </p:nvSpPr>
        <p:spPr>
          <a:xfrm>
            <a:off x="1371600" y="1645920"/>
            <a:ext cx="2548128" cy="221234"/>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Foundation</a:t>
            </a:r>
            <a:endParaRPr lang="en-US" sz="1300" dirty="0"/>
          </a:p>
        </p:txBody>
      </p:sp>
      <p:sp>
        <p:nvSpPr>
          <p:cNvPr id="8" name="Text 6"/>
          <p:cNvSpPr txBox="1"/>
          <p:nvPr/>
        </p:nvSpPr>
        <p:spPr>
          <a:xfrm>
            <a:off x="1371600" y="1903730"/>
            <a:ext cx="2548128" cy="201168"/>
          </a:xfrm>
          <a:prstGeom prst="rect">
            <a:avLst/>
          </a:prstGeom>
          <a:noFill/>
          <a:ln/>
        </p:spPr>
        <p:txBody>
          <a:bodyPr wrap="square" lIns="0" tIns="0" rIns="0" bIns="0" rtlCol="0" anchor="ctr"/>
          <a:lstStyle/>
          <a:p>
            <a:pPr indent="0" marL="0">
              <a:buNone/>
            </a:pPr>
            <a:r>
              <a:rPr lang="en-US" sz="950" b="1" dirty="0">
                <a:solidFill>
                  <a:srgbClr val="1F7A43"/>
                </a:solidFill>
                <a:latin typeface="Calibri" pitchFamily="34" charset="0"/>
                <a:ea typeface="Calibri" pitchFamily="34" charset="-122"/>
                <a:cs typeface="Calibri" pitchFamily="34" charset="-120"/>
              </a:rPr>
              <a:t>Steps 1–2  ·  closes 2</a:t>
            </a:r>
            <a:endParaRPr lang="en-US" sz="950" dirty="0"/>
          </a:p>
        </p:txBody>
      </p:sp>
      <p:sp>
        <p:nvSpPr>
          <p:cNvPr id="9" name="Shape 7"/>
          <p:cNvSpPr/>
          <p:nvPr/>
        </p:nvSpPr>
        <p:spPr>
          <a:xfrm>
            <a:off x="4322064" y="1481328"/>
            <a:ext cx="3517392" cy="1024128"/>
          </a:xfrm>
          <a:prstGeom prst="roundRect">
            <a:avLst>
              <a:gd name="adj" fmla="val 53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0" name="Shape 8"/>
          <p:cNvSpPr/>
          <p:nvPr/>
        </p:nvSpPr>
        <p:spPr>
          <a:xfrm>
            <a:off x="4322064" y="1481328"/>
            <a:ext cx="91440" cy="1024128"/>
          </a:xfrm>
          <a:prstGeom prst="rect">
            <a:avLst/>
          </a:prstGeom>
          <a:solidFill>
            <a:srgbClr val="1A3A5C"/>
          </a:solidFill>
          <a:ln w="12700">
            <a:solidFill>
              <a:srgbClr val="1A3A5C"/>
            </a:solidFill>
            <a:prstDash val="solid"/>
          </a:ln>
        </p:spPr>
      </p:sp>
      <p:sp>
        <p:nvSpPr>
          <p:cNvPr id="11" name="Text 9"/>
          <p:cNvSpPr txBox="1"/>
          <p:nvPr/>
        </p:nvSpPr>
        <p:spPr>
          <a:xfrm>
            <a:off x="4504944" y="1609344"/>
            <a:ext cx="530352" cy="566928"/>
          </a:xfrm>
          <a:prstGeom prst="rect">
            <a:avLst/>
          </a:prstGeom>
          <a:noFill/>
          <a:ln/>
        </p:spPr>
        <p:txBody>
          <a:bodyPr wrap="square" lIns="0" tIns="0" rIns="0" bIns="0" rtlCol="0" anchor="ctr"/>
          <a:lstStyle/>
          <a:p>
            <a:pPr algn="ctr" indent="0" marL="0">
              <a:buNone/>
            </a:pPr>
            <a:r>
              <a:rPr lang="en-US" sz="3000" b="1" dirty="0">
                <a:solidFill>
                  <a:srgbClr val="2E6DA4"/>
                </a:solidFill>
                <a:latin typeface="Cambria" pitchFamily="34" charset="0"/>
                <a:ea typeface="Cambria" pitchFamily="34" charset="-122"/>
                <a:cs typeface="Cambria" pitchFamily="34" charset="-120"/>
              </a:rPr>
              <a:t>B</a:t>
            </a:r>
            <a:endParaRPr lang="en-US" sz="3000" dirty="0"/>
          </a:p>
        </p:txBody>
      </p:sp>
      <p:sp>
        <p:nvSpPr>
          <p:cNvPr id="12" name="Text 10"/>
          <p:cNvSpPr txBox="1"/>
          <p:nvPr/>
        </p:nvSpPr>
        <p:spPr>
          <a:xfrm>
            <a:off x="5126736" y="1645920"/>
            <a:ext cx="2548128" cy="221234"/>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The REST control plane</a:t>
            </a:r>
            <a:endParaRPr lang="en-US" sz="1300" dirty="0"/>
          </a:p>
        </p:txBody>
      </p:sp>
      <p:sp>
        <p:nvSpPr>
          <p:cNvPr id="13" name="Text 11"/>
          <p:cNvSpPr txBox="1"/>
          <p:nvPr/>
        </p:nvSpPr>
        <p:spPr>
          <a:xfrm>
            <a:off x="5126736" y="1903730"/>
            <a:ext cx="2548128" cy="201168"/>
          </a:xfrm>
          <a:prstGeom prst="rect">
            <a:avLst/>
          </a:prstGeom>
          <a:noFill/>
          <a:ln/>
        </p:spPr>
        <p:txBody>
          <a:bodyPr wrap="square" lIns="0" tIns="0" rIns="0" bIns="0" rtlCol="0" anchor="ctr"/>
          <a:lstStyle/>
          <a:p>
            <a:pPr indent="0" marL="0">
              <a:buNone/>
            </a:pPr>
            <a:r>
              <a:rPr lang="en-US" sz="950" b="1" dirty="0">
                <a:solidFill>
                  <a:srgbClr val="1F7A43"/>
                </a:solidFill>
                <a:latin typeface="Calibri" pitchFamily="34" charset="0"/>
                <a:ea typeface="Calibri" pitchFamily="34" charset="-122"/>
                <a:cs typeface="Calibri" pitchFamily="34" charset="-120"/>
              </a:rPr>
              <a:t>Steps 3–7  ·  closes 12</a:t>
            </a:r>
            <a:endParaRPr lang="en-US" sz="950" dirty="0"/>
          </a:p>
        </p:txBody>
      </p:sp>
      <p:sp>
        <p:nvSpPr>
          <p:cNvPr id="14" name="Shape 12"/>
          <p:cNvSpPr/>
          <p:nvPr/>
        </p:nvSpPr>
        <p:spPr>
          <a:xfrm>
            <a:off x="8077200" y="1481328"/>
            <a:ext cx="3517392" cy="1024128"/>
          </a:xfrm>
          <a:prstGeom prst="roundRect">
            <a:avLst>
              <a:gd name="adj" fmla="val 53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5" name="Shape 13"/>
          <p:cNvSpPr/>
          <p:nvPr/>
        </p:nvSpPr>
        <p:spPr>
          <a:xfrm>
            <a:off x="8077200" y="1481328"/>
            <a:ext cx="91440" cy="1024128"/>
          </a:xfrm>
          <a:prstGeom prst="rect">
            <a:avLst/>
          </a:prstGeom>
          <a:solidFill>
            <a:srgbClr val="1A3A5C"/>
          </a:solidFill>
          <a:ln w="12700">
            <a:solidFill>
              <a:srgbClr val="1A3A5C"/>
            </a:solidFill>
            <a:prstDash val="solid"/>
          </a:ln>
        </p:spPr>
      </p:sp>
      <p:sp>
        <p:nvSpPr>
          <p:cNvPr id="16" name="Text 14"/>
          <p:cNvSpPr txBox="1"/>
          <p:nvPr/>
        </p:nvSpPr>
        <p:spPr>
          <a:xfrm>
            <a:off x="8260080" y="1609344"/>
            <a:ext cx="530352" cy="566928"/>
          </a:xfrm>
          <a:prstGeom prst="rect">
            <a:avLst/>
          </a:prstGeom>
          <a:noFill/>
          <a:ln/>
        </p:spPr>
        <p:txBody>
          <a:bodyPr wrap="square" lIns="0" tIns="0" rIns="0" bIns="0" rtlCol="0" anchor="ctr"/>
          <a:lstStyle/>
          <a:p>
            <a:pPr algn="ctr" indent="0" marL="0">
              <a:buNone/>
            </a:pPr>
            <a:r>
              <a:rPr lang="en-US" sz="3000" b="1" dirty="0">
                <a:solidFill>
                  <a:srgbClr val="2E6DA4"/>
                </a:solidFill>
                <a:latin typeface="Cambria" pitchFamily="34" charset="0"/>
                <a:ea typeface="Cambria" pitchFamily="34" charset="-122"/>
                <a:cs typeface="Cambria" pitchFamily="34" charset="-120"/>
              </a:rPr>
              <a:t>C</a:t>
            </a:r>
            <a:endParaRPr lang="en-US" sz="3000" dirty="0"/>
          </a:p>
        </p:txBody>
      </p:sp>
      <p:sp>
        <p:nvSpPr>
          <p:cNvPr id="17" name="Text 15"/>
          <p:cNvSpPr txBox="1"/>
          <p:nvPr/>
        </p:nvSpPr>
        <p:spPr>
          <a:xfrm>
            <a:off x="8881872" y="1645920"/>
            <a:ext cx="2548128" cy="221234"/>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Enterprise fit</a:t>
            </a:r>
            <a:endParaRPr lang="en-US" sz="1300" dirty="0"/>
          </a:p>
        </p:txBody>
      </p:sp>
      <p:sp>
        <p:nvSpPr>
          <p:cNvPr id="18" name="Text 16"/>
          <p:cNvSpPr txBox="1"/>
          <p:nvPr/>
        </p:nvSpPr>
        <p:spPr>
          <a:xfrm>
            <a:off x="8881872" y="1903730"/>
            <a:ext cx="2548128" cy="201168"/>
          </a:xfrm>
          <a:prstGeom prst="rect">
            <a:avLst/>
          </a:prstGeom>
          <a:noFill/>
          <a:ln/>
        </p:spPr>
        <p:txBody>
          <a:bodyPr wrap="square" lIns="0" tIns="0" rIns="0" bIns="0" rtlCol="0" anchor="ctr"/>
          <a:lstStyle/>
          <a:p>
            <a:pPr indent="0" marL="0">
              <a:buNone/>
            </a:pPr>
            <a:r>
              <a:rPr lang="en-US" sz="950" b="1" dirty="0">
                <a:solidFill>
                  <a:srgbClr val="1F7A43"/>
                </a:solidFill>
                <a:latin typeface="Calibri" pitchFamily="34" charset="0"/>
                <a:ea typeface="Calibri" pitchFamily="34" charset="-122"/>
                <a:cs typeface="Calibri" pitchFamily="34" charset="-120"/>
              </a:rPr>
              <a:t>Steps 8–9  ·  closes 9</a:t>
            </a:r>
            <a:endParaRPr lang="en-US" sz="950" dirty="0"/>
          </a:p>
        </p:txBody>
      </p:sp>
      <p:sp>
        <p:nvSpPr>
          <p:cNvPr id="19" name="Shape 17"/>
          <p:cNvSpPr/>
          <p:nvPr/>
        </p:nvSpPr>
        <p:spPr>
          <a:xfrm>
            <a:off x="566928" y="2651760"/>
            <a:ext cx="3517392" cy="1024128"/>
          </a:xfrm>
          <a:prstGeom prst="roundRect">
            <a:avLst>
              <a:gd name="adj" fmla="val 53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Shape 18"/>
          <p:cNvSpPr/>
          <p:nvPr/>
        </p:nvSpPr>
        <p:spPr>
          <a:xfrm>
            <a:off x="566928" y="2651760"/>
            <a:ext cx="91440" cy="1024128"/>
          </a:xfrm>
          <a:prstGeom prst="rect">
            <a:avLst/>
          </a:prstGeom>
          <a:solidFill>
            <a:srgbClr val="1A3A5C"/>
          </a:solidFill>
          <a:ln w="12700">
            <a:solidFill>
              <a:srgbClr val="1A3A5C"/>
            </a:solidFill>
            <a:prstDash val="solid"/>
          </a:ln>
        </p:spPr>
      </p:sp>
      <p:sp>
        <p:nvSpPr>
          <p:cNvPr id="21" name="Text 19"/>
          <p:cNvSpPr txBox="1"/>
          <p:nvPr/>
        </p:nvSpPr>
        <p:spPr>
          <a:xfrm>
            <a:off x="749808" y="2779776"/>
            <a:ext cx="530352" cy="566928"/>
          </a:xfrm>
          <a:prstGeom prst="rect">
            <a:avLst/>
          </a:prstGeom>
          <a:noFill/>
          <a:ln/>
        </p:spPr>
        <p:txBody>
          <a:bodyPr wrap="square" lIns="0" tIns="0" rIns="0" bIns="0" rtlCol="0" anchor="ctr"/>
          <a:lstStyle/>
          <a:p>
            <a:pPr algn="ctr" indent="0" marL="0">
              <a:buNone/>
            </a:pPr>
            <a:r>
              <a:rPr lang="en-US" sz="3000" b="1" dirty="0">
                <a:solidFill>
                  <a:srgbClr val="2E6DA4"/>
                </a:solidFill>
                <a:latin typeface="Cambria" pitchFamily="34" charset="0"/>
                <a:ea typeface="Cambria" pitchFamily="34" charset="-122"/>
                <a:cs typeface="Cambria" pitchFamily="34" charset="-120"/>
              </a:rPr>
              <a:t>D</a:t>
            </a:r>
            <a:endParaRPr lang="en-US" sz="3000" dirty="0"/>
          </a:p>
        </p:txBody>
      </p:sp>
      <p:sp>
        <p:nvSpPr>
          <p:cNvPr id="22" name="Text 20"/>
          <p:cNvSpPr txBox="1"/>
          <p:nvPr/>
        </p:nvSpPr>
        <p:spPr>
          <a:xfrm>
            <a:off x="1371600" y="2816352"/>
            <a:ext cx="2548128" cy="442468"/>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Scale, availability and tenancy</a:t>
            </a:r>
            <a:endParaRPr lang="en-US" sz="1300" dirty="0"/>
          </a:p>
        </p:txBody>
      </p:sp>
      <p:sp>
        <p:nvSpPr>
          <p:cNvPr id="23" name="Text 21"/>
          <p:cNvSpPr txBox="1"/>
          <p:nvPr/>
        </p:nvSpPr>
        <p:spPr>
          <a:xfrm>
            <a:off x="1371600" y="3295396"/>
            <a:ext cx="2548128" cy="201168"/>
          </a:xfrm>
          <a:prstGeom prst="rect">
            <a:avLst/>
          </a:prstGeom>
          <a:noFill/>
          <a:ln/>
        </p:spPr>
        <p:txBody>
          <a:bodyPr wrap="square" lIns="0" tIns="0" rIns="0" bIns="0" rtlCol="0" anchor="ctr"/>
          <a:lstStyle/>
          <a:p>
            <a:pPr indent="0" marL="0">
              <a:buNone/>
            </a:pPr>
            <a:r>
              <a:rPr lang="en-US" sz="950" b="1" dirty="0">
                <a:solidFill>
                  <a:srgbClr val="1F7A43"/>
                </a:solidFill>
                <a:latin typeface="Calibri" pitchFamily="34" charset="0"/>
                <a:ea typeface="Calibri" pitchFamily="34" charset="-122"/>
                <a:cs typeface="Calibri" pitchFamily="34" charset="-120"/>
              </a:rPr>
              <a:t>Steps 10–12  ·  closes 9</a:t>
            </a:r>
            <a:endParaRPr lang="en-US" sz="950" dirty="0"/>
          </a:p>
        </p:txBody>
      </p:sp>
      <p:sp>
        <p:nvSpPr>
          <p:cNvPr id="24" name="Shape 22"/>
          <p:cNvSpPr/>
          <p:nvPr/>
        </p:nvSpPr>
        <p:spPr>
          <a:xfrm>
            <a:off x="4322064" y="2651760"/>
            <a:ext cx="3517392" cy="1024128"/>
          </a:xfrm>
          <a:prstGeom prst="roundRect">
            <a:avLst>
              <a:gd name="adj" fmla="val 53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5" name="Shape 23"/>
          <p:cNvSpPr/>
          <p:nvPr/>
        </p:nvSpPr>
        <p:spPr>
          <a:xfrm>
            <a:off x="4322064" y="2651760"/>
            <a:ext cx="91440" cy="1024128"/>
          </a:xfrm>
          <a:prstGeom prst="rect">
            <a:avLst/>
          </a:prstGeom>
          <a:solidFill>
            <a:srgbClr val="1A3A5C"/>
          </a:solidFill>
          <a:ln w="12700">
            <a:solidFill>
              <a:srgbClr val="1A3A5C"/>
            </a:solidFill>
            <a:prstDash val="solid"/>
          </a:ln>
        </p:spPr>
      </p:sp>
      <p:sp>
        <p:nvSpPr>
          <p:cNvPr id="26" name="Text 24"/>
          <p:cNvSpPr txBox="1"/>
          <p:nvPr/>
        </p:nvSpPr>
        <p:spPr>
          <a:xfrm>
            <a:off x="4504944" y="2779776"/>
            <a:ext cx="530352" cy="566928"/>
          </a:xfrm>
          <a:prstGeom prst="rect">
            <a:avLst/>
          </a:prstGeom>
          <a:noFill/>
          <a:ln/>
        </p:spPr>
        <p:txBody>
          <a:bodyPr wrap="square" lIns="0" tIns="0" rIns="0" bIns="0" rtlCol="0" anchor="ctr"/>
          <a:lstStyle/>
          <a:p>
            <a:pPr algn="ctr" indent="0" marL="0">
              <a:buNone/>
            </a:pPr>
            <a:r>
              <a:rPr lang="en-US" sz="3000" b="1" dirty="0">
                <a:solidFill>
                  <a:srgbClr val="2E6DA4"/>
                </a:solidFill>
                <a:latin typeface="Cambria" pitchFamily="34" charset="0"/>
                <a:ea typeface="Cambria" pitchFamily="34" charset="-122"/>
                <a:cs typeface="Cambria" pitchFamily="34" charset="-120"/>
              </a:rPr>
              <a:t>E</a:t>
            </a:r>
            <a:endParaRPr lang="en-US" sz="3000" dirty="0"/>
          </a:p>
        </p:txBody>
      </p:sp>
      <p:sp>
        <p:nvSpPr>
          <p:cNvPr id="27" name="Text 25"/>
          <p:cNvSpPr txBox="1"/>
          <p:nvPr/>
        </p:nvSpPr>
        <p:spPr>
          <a:xfrm>
            <a:off x="5126736" y="2816352"/>
            <a:ext cx="2548128" cy="442468"/>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Protocol and estate reach</a:t>
            </a:r>
            <a:endParaRPr lang="en-US" sz="1300" dirty="0"/>
          </a:p>
        </p:txBody>
      </p:sp>
      <p:sp>
        <p:nvSpPr>
          <p:cNvPr id="28" name="Text 26"/>
          <p:cNvSpPr txBox="1"/>
          <p:nvPr/>
        </p:nvSpPr>
        <p:spPr>
          <a:xfrm>
            <a:off x="5126736" y="3295396"/>
            <a:ext cx="2548128" cy="201168"/>
          </a:xfrm>
          <a:prstGeom prst="rect">
            <a:avLst/>
          </a:prstGeom>
          <a:noFill/>
          <a:ln/>
        </p:spPr>
        <p:txBody>
          <a:bodyPr wrap="square" lIns="0" tIns="0" rIns="0" bIns="0" rtlCol="0" anchor="ctr"/>
          <a:lstStyle/>
          <a:p>
            <a:pPr indent="0" marL="0">
              <a:buNone/>
            </a:pPr>
            <a:r>
              <a:rPr lang="en-US" sz="950" b="1" dirty="0">
                <a:solidFill>
                  <a:srgbClr val="1F7A43"/>
                </a:solidFill>
                <a:latin typeface="Calibri" pitchFamily="34" charset="0"/>
                <a:ea typeface="Calibri" pitchFamily="34" charset="-122"/>
                <a:cs typeface="Calibri" pitchFamily="34" charset="-120"/>
              </a:rPr>
              <a:t>Steps 13–14  ·  closes 2</a:t>
            </a:r>
            <a:endParaRPr lang="en-US" sz="950" dirty="0"/>
          </a:p>
        </p:txBody>
      </p:sp>
      <p:sp>
        <p:nvSpPr>
          <p:cNvPr id="29" name="Shape 27"/>
          <p:cNvSpPr/>
          <p:nvPr/>
        </p:nvSpPr>
        <p:spPr>
          <a:xfrm>
            <a:off x="8077200" y="2651760"/>
            <a:ext cx="3517392" cy="1024128"/>
          </a:xfrm>
          <a:prstGeom prst="roundRect">
            <a:avLst>
              <a:gd name="adj" fmla="val 53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0" name="Shape 28"/>
          <p:cNvSpPr/>
          <p:nvPr/>
        </p:nvSpPr>
        <p:spPr>
          <a:xfrm>
            <a:off x="8077200" y="2651760"/>
            <a:ext cx="91440" cy="1024128"/>
          </a:xfrm>
          <a:prstGeom prst="rect">
            <a:avLst/>
          </a:prstGeom>
          <a:solidFill>
            <a:srgbClr val="1A3A5C"/>
          </a:solidFill>
          <a:ln w="12700">
            <a:solidFill>
              <a:srgbClr val="1A3A5C"/>
            </a:solidFill>
            <a:prstDash val="solid"/>
          </a:ln>
        </p:spPr>
      </p:sp>
      <p:sp>
        <p:nvSpPr>
          <p:cNvPr id="31" name="Text 29"/>
          <p:cNvSpPr txBox="1"/>
          <p:nvPr/>
        </p:nvSpPr>
        <p:spPr>
          <a:xfrm>
            <a:off x="8260080" y="2779776"/>
            <a:ext cx="530352" cy="566928"/>
          </a:xfrm>
          <a:prstGeom prst="rect">
            <a:avLst/>
          </a:prstGeom>
          <a:noFill/>
          <a:ln/>
        </p:spPr>
        <p:txBody>
          <a:bodyPr wrap="square" lIns="0" tIns="0" rIns="0" bIns="0" rtlCol="0" anchor="ctr"/>
          <a:lstStyle/>
          <a:p>
            <a:pPr algn="ctr" indent="0" marL="0">
              <a:buNone/>
            </a:pPr>
            <a:r>
              <a:rPr lang="en-US" sz="3000" b="1" dirty="0">
                <a:solidFill>
                  <a:srgbClr val="2E6DA4"/>
                </a:solidFill>
                <a:latin typeface="Cambria" pitchFamily="34" charset="0"/>
                <a:ea typeface="Cambria" pitchFamily="34" charset="-122"/>
                <a:cs typeface="Cambria" pitchFamily="34" charset="-120"/>
              </a:rPr>
              <a:t>F</a:t>
            </a:r>
            <a:endParaRPr lang="en-US" sz="3000" dirty="0"/>
          </a:p>
        </p:txBody>
      </p:sp>
      <p:sp>
        <p:nvSpPr>
          <p:cNvPr id="32" name="Text 30"/>
          <p:cNvSpPr txBox="1"/>
          <p:nvPr/>
        </p:nvSpPr>
        <p:spPr>
          <a:xfrm>
            <a:off x="8881872" y="2816352"/>
            <a:ext cx="2548128" cy="442468"/>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Cloud and application reach</a:t>
            </a:r>
            <a:endParaRPr lang="en-US" sz="1300" dirty="0"/>
          </a:p>
        </p:txBody>
      </p:sp>
      <p:sp>
        <p:nvSpPr>
          <p:cNvPr id="33" name="Text 31"/>
          <p:cNvSpPr txBox="1"/>
          <p:nvPr/>
        </p:nvSpPr>
        <p:spPr>
          <a:xfrm>
            <a:off x="8881872" y="3295396"/>
            <a:ext cx="2548128" cy="201168"/>
          </a:xfrm>
          <a:prstGeom prst="rect">
            <a:avLst/>
          </a:prstGeom>
          <a:noFill/>
          <a:ln/>
        </p:spPr>
        <p:txBody>
          <a:bodyPr wrap="square" lIns="0" tIns="0" rIns="0" bIns="0" rtlCol="0" anchor="ctr"/>
          <a:lstStyle/>
          <a:p>
            <a:pPr indent="0" marL="0">
              <a:buNone/>
            </a:pPr>
            <a:r>
              <a:rPr lang="en-US" sz="950" b="1" dirty="0">
                <a:solidFill>
                  <a:srgbClr val="1F7A43"/>
                </a:solidFill>
                <a:latin typeface="Calibri" pitchFamily="34" charset="0"/>
                <a:ea typeface="Calibri" pitchFamily="34" charset="-122"/>
                <a:cs typeface="Calibri" pitchFamily="34" charset="-120"/>
              </a:rPr>
              <a:t>Steps 15–18  ·  closes 4</a:t>
            </a:r>
            <a:endParaRPr lang="en-US" sz="950" dirty="0"/>
          </a:p>
        </p:txBody>
      </p:sp>
      <p:sp>
        <p:nvSpPr>
          <p:cNvPr id="34" name="Shape 32"/>
          <p:cNvSpPr/>
          <p:nvPr/>
        </p:nvSpPr>
        <p:spPr>
          <a:xfrm>
            <a:off x="566928" y="3822192"/>
            <a:ext cx="3517392" cy="1024128"/>
          </a:xfrm>
          <a:prstGeom prst="roundRect">
            <a:avLst>
              <a:gd name="adj" fmla="val 53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5" name="Shape 33"/>
          <p:cNvSpPr/>
          <p:nvPr/>
        </p:nvSpPr>
        <p:spPr>
          <a:xfrm>
            <a:off x="566928" y="3822192"/>
            <a:ext cx="91440" cy="1024128"/>
          </a:xfrm>
          <a:prstGeom prst="rect">
            <a:avLst/>
          </a:prstGeom>
          <a:solidFill>
            <a:srgbClr val="9A6410"/>
          </a:solidFill>
          <a:ln w="12700">
            <a:solidFill>
              <a:srgbClr val="9A6410"/>
            </a:solidFill>
            <a:prstDash val="solid"/>
          </a:ln>
        </p:spPr>
      </p:sp>
      <p:sp>
        <p:nvSpPr>
          <p:cNvPr id="36" name="Text 34"/>
          <p:cNvSpPr txBox="1"/>
          <p:nvPr/>
        </p:nvSpPr>
        <p:spPr>
          <a:xfrm>
            <a:off x="749808" y="3950208"/>
            <a:ext cx="530352" cy="566928"/>
          </a:xfrm>
          <a:prstGeom prst="rect">
            <a:avLst/>
          </a:prstGeom>
          <a:noFill/>
          <a:ln/>
        </p:spPr>
        <p:txBody>
          <a:bodyPr wrap="square" lIns="0" tIns="0" rIns="0" bIns="0" rtlCol="0" anchor="ctr"/>
          <a:lstStyle/>
          <a:p>
            <a:pPr algn="ctr" indent="0" marL="0">
              <a:buNone/>
            </a:pPr>
            <a:r>
              <a:rPr lang="en-US" sz="3000" b="1" dirty="0">
                <a:solidFill>
                  <a:srgbClr val="9A6410"/>
                </a:solidFill>
                <a:latin typeface="Cambria" pitchFamily="34" charset="0"/>
                <a:ea typeface="Cambria" pitchFamily="34" charset="-122"/>
                <a:cs typeface="Cambria" pitchFamily="34" charset="-120"/>
              </a:rPr>
              <a:t>G</a:t>
            </a:r>
            <a:endParaRPr lang="en-US" sz="3000" dirty="0"/>
          </a:p>
        </p:txBody>
      </p:sp>
      <p:sp>
        <p:nvSpPr>
          <p:cNvPr id="37" name="Text 35"/>
          <p:cNvSpPr txBox="1"/>
          <p:nvPr/>
        </p:nvSpPr>
        <p:spPr>
          <a:xfrm>
            <a:off x="1371600" y="3986784"/>
            <a:ext cx="2548128" cy="442468"/>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Interoperability and adjacent products</a:t>
            </a:r>
            <a:endParaRPr lang="en-US" sz="1300" dirty="0"/>
          </a:p>
        </p:txBody>
      </p:sp>
      <p:sp>
        <p:nvSpPr>
          <p:cNvPr id="38" name="Text 36"/>
          <p:cNvSpPr txBox="1"/>
          <p:nvPr/>
        </p:nvSpPr>
        <p:spPr>
          <a:xfrm>
            <a:off x="1371600" y="4465828"/>
            <a:ext cx="2548128" cy="201168"/>
          </a:xfrm>
          <a:prstGeom prst="rect">
            <a:avLst/>
          </a:prstGeom>
          <a:noFill/>
          <a:ln/>
        </p:spPr>
        <p:txBody>
          <a:bodyPr wrap="square" lIns="0" tIns="0" rIns="0" bIns="0" rtlCol="0" anchor="ctr"/>
          <a:lstStyle/>
          <a:p>
            <a:pPr indent="0" marL="0">
              <a:buNone/>
            </a:pPr>
            <a:r>
              <a:rPr lang="en-US" sz="950" b="1" dirty="0">
                <a:solidFill>
                  <a:srgbClr val="9A6410"/>
                </a:solidFill>
                <a:latin typeface="Calibri" pitchFamily="34" charset="0"/>
                <a:ea typeface="Calibri" pitchFamily="34" charset="-122"/>
                <a:cs typeface="Calibri" pitchFamily="34" charset="-120"/>
              </a:rPr>
              <a:t>Steps 19–22  ·  closes 5  ·  4 gated</a:t>
            </a:r>
            <a:endParaRPr lang="en-US" sz="950" dirty="0"/>
          </a:p>
        </p:txBody>
      </p:sp>
      <p:sp>
        <p:nvSpPr>
          <p:cNvPr id="39" name="Shape 37"/>
          <p:cNvSpPr/>
          <p:nvPr/>
        </p:nvSpPr>
        <p:spPr>
          <a:xfrm>
            <a:off x="4322064" y="3822192"/>
            <a:ext cx="3517392" cy="1024128"/>
          </a:xfrm>
          <a:prstGeom prst="roundRect">
            <a:avLst>
              <a:gd name="adj" fmla="val 53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40" name="Shape 38"/>
          <p:cNvSpPr/>
          <p:nvPr/>
        </p:nvSpPr>
        <p:spPr>
          <a:xfrm>
            <a:off x="4322064" y="3822192"/>
            <a:ext cx="91440" cy="1024128"/>
          </a:xfrm>
          <a:prstGeom prst="rect">
            <a:avLst/>
          </a:prstGeom>
          <a:solidFill>
            <a:srgbClr val="1A3A5C"/>
          </a:solidFill>
          <a:ln w="12700">
            <a:solidFill>
              <a:srgbClr val="1A3A5C"/>
            </a:solidFill>
            <a:prstDash val="solid"/>
          </a:ln>
        </p:spPr>
      </p:sp>
      <p:sp>
        <p:nvSpPr>
          <p:cNvPr id="41" name="Text 39"/>
          <p:cNvSpPr txBox="1"/>
          <p:nvPr/>
        </p:nvSpPr>
        <p:spPr>
          <a:xfrm>
            <a:off x="4504944" y="3950208"/>
            <a:ext cx="530352" cy="566928"/>
          </a:xfrm>
          <a:prstGeom prst="rect">
            <a:avLst/>
          </a:prstGeom>
          <a:noFill/>
          <a:ln/>
        </p:spPr>
        <p:txBody>
          <a:bodyPr wrap="square" lIns="0" tIns="0" rIns="0" bIns="0" rtlCol="0" anchor="ctr"/>
          <a:lstStyle/>
          <a:p>
            <a:pPr algn="ctr" indent="0" marL="0">
              <a:buNone/>
            </a:pPr>
            <a:r>
              <a:rPr lang="en-US" sz="3000" b="1" dirty="0">
                <a:solidFill>
                  <a:srgbClr val="2E6DA4"/>
                </a:solidFill>
                <a:latin typeface="Cambria" pitchFamily="34" charset="0"/>
                <a:ea typeface="Cambria" pitchFamily="34" charset="-122"/>
                <a:cs typeface="Cambria" pitchFamily="34" charset="-120"/>
              </a:rPr>
              <a:t>H</a:t>
            </a:r>
            <a:endParaRPr lang="en-US" sz="3000" dirty="0"/>
          </a:p>
        </p:txBody>
      </p:sp>
      <p:sp>
        <p:nvSpPr>
          <p:cNvPr id="42" name="Text 40"/>
          <p:cNvSpPr txBox="1"/>
          <p:nvPr/>
        </p:nvSpPr>
        <p:spPr>
          <a:xfrm>
            <a:off x="5126736" y="3986784"/>
            <a:ext cx="2548128" cy="442468"/>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Protocol 3.0 and post-quantum</a:t>
            </a:r>
            <a:endParaRPr lang="en-US" sz="1300" dirty="0"/>
          </a:p>
        </p:txBody>
      </p:sp>
      <p:sp>
        <p:nvSpPr>
          <p:cNvPr id="43" name="Text 41"/>
          <p:cNvSpPr txBox="1"/>
          <p:nvPr/>
        </p:nvSpPr>
        <p:spPr>
          <a:xfrm>
            <a:off x="5126736" y="4465828"/>
            <a:ext cx="2548128" cy="201168"/>
          </a:xfrm>
          <a:prstGeom prst="rect">
            <a:avLst/>
          </a:prstGeom>
          <a:noFill/>
          <a:ln/>
        </p:spPr>
        <p:txBody>
          <a:bodyPr wrap="square" lIns="0" tIns="0" rIns="0" bIns="0" rtlCol="0" anchor="ctr"/>
          <a:lstStyle/>
          <a:p>
            <a:pPr indent="0" marL="0">
              <a:buNone/>
            </a:pPr>
            <a:r>
              <a:rPr lang="en-US" sz="950" b="1" dirty="0">
                <a:solidFill>
                  <a:srgbClr val="9A6410"/>
                </a:solidFill>
                <a:latin typeface="Calibri" pitchFamily="34" charset="0"/>
                <a:ea typeface="Calibri" pitchFamily="34" charset="-122"/>
                <a:cs typeface="Calibri" pitchFamily="34" charset="-120"/>
              </a:rPr>
              <a:t>Steps 23–24  ·  closes 3  ·  1 gated</a:t>
            </a:r>
            <a:endParaRPr lang="en-US" sz="950" dirty="0"/>
          </a:p>
        </p:txBody>
      </p:sp>
      <p:sp>
        <p:nvSpPr>
          <p:cNvPr id="44" name="Shape 42"/>
          <p:cNvSpPr/>
          <p:nvPr/>
        </p:nvSpPr>
        <p:spPr>
          <a:xfrm>
            <a:off x="8077200" y="3822192"/>
            <a:ext cx="3517392" cy="1024128"/>
          </a:xfrm>
          <a:prstGeom prst="roundRect">
            <a:avLst>
              <a:gd name="adj" fmla="val 53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45" name="Shape 43"/>
          <p:cNvSpPr/>
          <p:nvPr/>
        </p:nvSpPr>
        <p:spPr>
          <a:xfrm>
            <a:off x="8077200" y="3822192"/>
            <a:ext cx="91440" cy="1024128"/>
          </a:xfrm>
          <a:prstGeom prst="rect">
            <a:avLst/>
          </a:prstGeom>
          <a:solidFill>
            <a:srgbClr val="9A6410"/>
          </a:solidFill>
          <a:ln w="12700">
            <a:solidFill>
              <a:srgbClr val="9A6410"/>
            </a:solidFill>
            <a:prstDash val="solid"/>
          </a:ln>
        </p:spPr>
      </p:sp>
      <p:sp>
        <p:nvSpPr>
          <p:cNvPr id="46" name="Text 44"/>
          <p:cNvSpPr txBox="1"/>
          <p:nvPr/>
        </p:nvSpPr>
        <p:spPr>
          <a:xfrm>
            <a:off x="8260080" y="3950208"/>
            <a:ext cx="530352" cy="566928"/>
          </a:xfrm>
          <a:prstGeom prst="rect">
            <a:avLst/>
          </a:prstGeom>
          <a:noFill/>
          <a:ln/>
        </p:spPr>
        <p:txBody>
          <a:bodyPr wrap="square" lIns="0" tIns="0" rIns="0" bIns="0" rtlCol="0" anchor="ctr"/>
          <a:lstStyle/>
          <a:p>
            <a:pPr algn="ctr" indent="0" marL="0">
              <a:buNone/>
            </a:pPr>
            <a:r>
              <a:rPr lang="en-US" sz="3000" b="1" dirty="0">
                <a:solidFill>
                  <a:srgbClr val="9A6410"/>
                </a:solidFill>
                <a:latin typeface="Cambria" pitchFamily="34" charset="0"/>
                <a:ea typeface="Cambria" pitchFamily="34" charset="-122"/>
                <a:cs typeface="Cambria" pitchFamily="34" charset="-120"/>
              </a:rPr>
              <a:t>I</a:t>
            </a:r>
            <a:endParaRPr lang="en-US" sz="3000" dirty="0"/>
          </a:p>
        </p:txBody>
      </p:sp>
      <p:sp>
        <p:nvSpPr>
          <p:cNvPr id="47" name="Text 45"/>
          <p:cNvSpPr txBox="1"/>
          <p:nvPr/>
        </p:nvSpPr>
        <p:spPr>
          <a:xfrm>
            <a:off x="8881872" y="3986784"/>
            <a:ext cx="2548128" cy="442468"/>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Assurance on real hardware</a:t>
            </a:r>
            <a:endParaRPr lang="en-US" sz="1300" dirty="0"/>
          </a:p>
        </p:txBody>
      </p:sp>
      <p:sp>
        <p:nvSpPr>
          <p:cNvPr id="48" name="Text 46"/>
          <p:cNvSpPr txBox="1"/>
          <p:nvPr/>
        </p:nvSpPr>
        <p:spPr>
          <a:xfrm>
            <a:off x="8881872" y="4465828"/>
            <a:ext cx="2548128" cy="201168"/>
          </a:xfrm>
          <a:prstGeom prst="rect">
            <a:avLst/>
          </a:prstGeom>
          <a:noFill/>
          <a:ln/>
        </p:spPr>
        <p:txBody>
          <a:bodyPr wrap="square" lIns="0" tIns="0" rIns="0" bIns="0" rtlCol="0" anchor="ctr"/>
          <a:lstStyle/>
          <a:p>
            <a:pPr indent="0" marL="0">
              <a:buNone/>
            </a:pPr>
            <a:r>
              <a:rPr lang="en-US" sz="950" b="1" dirty="0">
                <a:solidFill>
                  <a:srgbClr val="9A6410"/>
                </a:solidFill>
                <a:latin typeface="Calibri" pitchFamily="34" charset="0"/>
                <a:ea typeface="Calibri" pitchFamily="34" charset="-122"/>
                <a:cs typeface="Calibri" pitchFamily="34" charset="-120"/>
              </a:rPr>
              <a:t>Steps 25–26  ·  closes 4  ·  2 gated</a:t>
            </a:r>
            <a:endParaRPr lang="en-US" sz="950" dirty="0"/>
          </a:p>
        </p:txBody>
      </p:sp>
      <p:sp>
        <p:nvSpPr>
          <p:cNvPr id="49" name="Shape 47"/>
          <p:cNvSpPr/>
          <p:nvPr/>
        </p:nvSpPr>
        <p:spPr>
          <a:xfrm>
            <a:off x="566928" y="4974336"/>
            <a:ext cx="5394960" cy="1280160"/>
          </a:xfrm>
          <a:prstGeom prst="roundRect">
            <a:avLst>
              <a:gd name="adj" fmla="val 4286"/>
            </a:avLst>
          </a:prstGeom>
          <a:solidFill>
            <a:srgbClr val="E8EFF6"/>
          </a:solidFill>
          <a:ln w="12700">
            <a:solidFill>
              <a:srgbClr val="E8EFF6"/>
            </a:solidFill>
            <a:prstDash val="solid"/>
          </a:ln>
        </p:spPr>
      </p:sp>
      <p:sp>
        <p:nvSpPr>
          <p:cNvPr id="50" name="Text 48"/>
          <p:cNvSpPr txBox="1"/>
          <p:nvPr/>
        </p:nvSpPr>
        <p:spPr>
          <a:xfrm>
            <a:off x="804672" y="5175504"/>
            <a:ext cx="4919472" cy="274320"/>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Routed is not schedulable</a:t>
            </a:r>
            <a:endParaRPr lang="en-US" sz="1400" dirty="0"/>
          </a:p>
        </p:txBody>
      </p:sp>
      <p:sp>
        <p:nvSpPr>
          <p:cNvPr id="51" name="Text 49"/>
          <p:cNvSpPr txBox="1"/>
          <p:nvPr/>
        </p:nvSpPr>
        <p:spPr>
          <a:xfrm>
            <a:off x="804672" y="5522976"/>
            <a:ext cx="4919472" cy="566928"/>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All 50 open features have a step. 19 of 26 steps can start now; 7 wait on hardware, a product or an external event.</a:t>
            </a:r>
            <a:endParaRPr lang="en-US" sz="1100" dirty="0"/>
          </a:p>
        </p:txBody>
      </p:sp>
      <p:sp>
        <p:nvSpPr>
          <p:cNvPr id="52" name="Shape 50"/>
          <p:cNvSpPr/>
          <p:nvPr/>
        </p:nvSpPr>
        <p:spPr>
          <a:xfrm>
            <a:off x="6236208" y="4974336"/>
            <a:ext cx="5394960" cy="1280160"/>
          </a:xfrm>
          <a:prstGeom prst="roundRect">
            <a:avLst>
              <a:gd name="adj" fmla="val 4286"/>
            </a:avLst>
          </a:prstGeom>
          <a:solidFill>
            <a:srgbClr val="FBF3E3"/>
          </a:solidFill>
          <a:ln w="12700">
            <a:solidFill>
              <a:srgbClr val="E8EFF6"/>
            </a:solidFill>
            <a:prstDash val="solid"/>
          </a:ln>
        </p:spPr>
      </p:sp>
      <p:sp>
        <p:nvSpPr>
          <p:cNvPr id="53" name="Text 51"/>
          <p:cNvSpPr txBox="1"/>
          <p:nvPr/>
        </p:nvSpPr>
        <p:spPr>
          <a:xfrm>
            <a:off x="6473952" y="5175504"/>
            <a:ext cx="4919472" cy="274320"/>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Every step has a demonstrable gate</a:t>
            </a:r>
            <a:endParaRPr lang="en-US" sz="1400" dirty="0"/>
          </a:p>
        </p:txBody>
      </p:sp>
      <p:sp>
        <p:nvSpPr>
          <p:cNvPr id="54" name="Text 52"/>
          <p:cNvSpPr txBox="1"/>
          <p:nvPr/>
        </p:nvSpPr>
        <p:spPr>
          <a:xfrm>
            <a:off x="6473952" y="5522976"/>
            <a:ext cx="4919472" cy="566928"/>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A condition someone can watch you meet, not a checklist. Demonstrated, not written.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All 26 steps</a:t>
            </a:r>
            <a:endParaRPr lang="en-US" sz="3400" dirty="0"/>
          </a:p>
        </p:txBody>
      </p:sp>
      <p:sp>
        <p:nvSpPr>
          <p:cNvPr id="4" name="Shape 2"/>
          <p:cNvSpPr/>
          <p:nvPr/>
        </p:nvSpPr>
        <p:spPr>
          <a:xfrm>
            <a:off x="566928" y="1444752"/>
            <a:ext cx="82296" cy="420624"/>
          </a:xfrm>
          <a:prstGeom prst="rect">
            <a:avLst/>
          </a:prstGeom>
          <a:solidFill>
            <a:srgbClr val="1A3A5C"/>
          </a:solidFill>
          <a:ln w="12700">
            <a:solidFill>
              <a:srgbClr val="1A3A5C"/>
            </a:solidFill>
            <a:prstDash val="solid"/>
          </a:ln>
        </p:spPr>
      </p:sp>
      <p:sp>
        <p:nvSpPr>
          <p:cNvPr id="5" name="Shape 3"/>
          <p:cNvSpPr/>
          <p:nvPr/>
        </p:nvSpPr>
        <p:spPr>
          <a:xfrm>
            <a:off x="649224" y="1444752"/>
            <a:ext cx="3435096" cy="420624"/>
          </a:xfrm>
          <a:prstGeom prst="roundRect">
            <a:avLst>
              <a:gd name="adj" fmla="val 8696"/>
            </a:avLst>
          </a:prstGeom>
          <a:solidFill>
            <a:srgbClr val="E8EFF6"/>
          </a:solidFill>
          <a:ln w="12700">
            <a:solidFill>
              <a:srgbClr val="E8EFF6"/>
            </a:solidFill>
            <a:prstDash val="solid"/>
          </a:ln>
        </p:spPr>
      </p:sp>
      <p:sp>
        <p:nvSpPr>
          <p:cNvPr id="6" name="Text 4"/>
          <p:cNvSpPr txBox="1"/>
          <p:nvPr/>
        </p:nvSpPr>
        <p:spPr>
          <a:xfrm>
            <a:off x="713232" y="144475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1</a:t>
            </a:r>
            <a:endParaRPr lang="en-US" sz="1200" dirty="0"/>
          </a:p>
        </p:txBody>
      </p:sp>
      <p:sp>
        <p:nvSpPr>
          <p:cNvPr id="7" name="Text 5"/>
          <p:cNvSpPr txBox="1"/>
          <p:nvPr/>
        </p:nvSpPr>
        <p:spPr>
          <a:xfrm>
            <a:off x="1060704" y="144475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Service layer and guard</a:t>
            </a:r>
            <a:endParaRPr lang="en-US" sz="950" dirty="0"/>
          </a:p>
        </p:txBody>
      </p:sp>
      <p:sp>
        <p:nvSpPr>
          <p:cNvPr id="8" name="Text 6"/>
          <p:cNvSpPr txBox="1"/>
          <p:nvPr/>
        </p:nvSpPr>
        <p:spPr>
          <a:xfrm>
            <a:off x="3517392" y="1444752"/>
            <a:ext cx="420624" cy="420624"/>
          </a:xfrm>
          <a:prstGeom prst="rect">
            <a:avLst/>
          </a:prstGeom>
          <a:noFill/>
          <a:ln/>
        </p:spPr>
        <p:txBody>
          <a:bodyPr wrap="square" lIns="0" tIns="0" rIns="0" bIns="0" rtlCol="0" anchor="ctr"/>
          <a:lstStyle/>
          <a:p>
            <a:pPr algn="r" indent="0" marL="0">
              <a:buNone/>
            </a:pPr>
            <a:r>
              <a:rPr lang="en-US" sz="950" b="1" dirty="0">
                <a:solidFill>
                  <a:srgbClr val="7B8794"/>
                </a:solidFill>
                <a:latin typeface="Calibri" pitchFamily="34" charset="0"/>
                <a:ea typeface="Calibri" pitchFamily="34" charset="-122"/>
                <a:cs typeface="Calibri" pitchFamily="34" charset="-120"/>
              </a:rPr>
              <a:t>—</a:t>
            </a:r>
            <a:endParaRPr lang="en-US" sz="950" dirty="0"/>
          </a:p>
        </p:txBody>
      </p:sp>
      <p:sp>
        <p:nvSpPr>
          <p:cNvPr id="9" name="Shape 7"/>
          <p:cNvSpPr/>
          <p:nvPr/>
        </p:nvSpPr>
        <p:spPr>
          <a:xfrm>
            <a:off x="566928" y="1924812"/>
            <a:ext cx="82296" cy="420624"/>
          </a:xfrm>
          <a:prstGeom prst="rect">
            <a:avLst/>
          </a:prstGeom>
          <a:solidFill>
            <a:srgbClr val="1A3A5C"/>
          </a:solidFill>
          <a:ln w="12700">
            <a:solidFill>
              <a:srgbClr val="1A3A5C"/>
            </a:solidFill>
            <a:prstDash val="solid"/>
          </a:ln>
        </p:spPr>
      </p:sp>
      <p:sp>
        <p:nvSpPr>
          <p:cNvPr id="10" name="Shape 8"/>
          <p:cNvSpPr/>
          <p:nvPr/>
        </p:nvSpPr>
        <p:spPr>
          <a:xfrm>
            <a:off x="649224" y="1924812"/>
            <a:ext cx="3435096" cy="420624"/>
          </a:xfrm>
          <a:prstGeom prst="roundRect">
            <a:avLst>
              <a:gd name="adj" fmla="val 8696"/>
            </a:avLst>
          </a:prstGeom>
          <a:solidFill>
            <a:srgbClr val="E8EFF6"/>
          </a:solidFill>
          <a:ln w="12700">
            <a:solidFill>
              <a:srgbClr val="E8EFF6"/>
            </a:solidFill>
            <a:prstDash val="solid"/>
          </a:ln>
        </p:spPr>
      </p:sp>
      <p:sp>
        <p:nvSpPr>
          <p:cNvPr id="11" name="Text 9"/>
          <p:cNvSpPr txBox="1"/>
          <p:nvPr/>
        </p:nvSpPr>
        <p:spPr>
          <a:xfrm>
            <a:off x="713232" y="192481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2</a:t>
            </a:r>
            <a:endParaRPr lang="en-US" sz="1200" dirty="0"/>
          </a:p>
        </p:txBody>
      </p:sp>
      <p:sp>
        <p:nvSpPr>
          <p:cNvPr id="12" name="Text 10"/>
          <p:cNvSpPr txBox="1"/>
          <p:nvPr/>
        </p:nvSpPr>
        <p:spPr>
          <a:xfrm>
            <a:off x="1060704" y="192481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Query and reporting layer</a:t>
            </a:r>
            <a:endParaRPr lang="en-US" sz="950" dirty="0"/>
          </a:p>
        </p:txBody>
      </p:sp>
      <p:sp>
        <p:nvSpPr>
          <p:cNvPr id="13" name="Text 11"/>
          <p:cNvSpPr txBox="1"/>
          <p:nvPr/>
        </p:nvSpPr>
        <p:spPr>
          <a:xfrm>
            <a:off x="3517392" y="192481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+2</a:t>
            </a:r>
            <a:endParaRPr lang="en-US" sz="950" dirty="0"/>
          </a:p>
        </p:txBody>
      </p:sp>
      <p:sp>
        <p:nvSpPr>
          <p:cNvPr id="14" name="Shape 12"/>
          <p:cNvSpPr/>
          <p:nvPr/>
        </p:nvSpPr>
        <p:spPr>
          <a:xfrm>
            <a:off x="566928" y="2404872"/>
            <a:ext cx="82296" cy="420624"/>
          </a:xfrm>
          <a:prstGeom prst="rect">
            <a:avLst/>
          </a:prstGeom>
          <a:solidFill>
            <a:srgbClr val="2E6DA4"/>
          </a:solidFill>
          <a:ln w="12700">
            <a:solidFill>
              <a:srgbClr val="2E6DA4"/>
            </a:solidFill>
            <a:prstDash val="solid"/>
          </a:ln>
        </p:spPr>
      </p:sp>
      <p:sp>
        <p:nvSpPr>
          <p:cNvPr id="15" name="Shape 13"/>
          <p:cNvSpPr/>
          <p:nvPr/>
        </p:nvSpPr>
        <p:spPr>
          <a:xfrm>
            <a:off x="649224" y="2404872"/>
            <a:ext cx="3435096" cy="420624"/>
          </a:xfrm>
          <a:prstGeom prst="roundRect">
            <a:avLst>
              <a:gd name="adj" fmla="val 8696"/>
            </a:avLst>
          </a:prstGeom>
          <a:solidFill>
            <a:srgbClr val="E8EFF6"/>
          </a:solidFill>
          <a:ln w="12700">
            <a:solidFill>
              <a:srgbClr val="E8EFF6"/>
            </a:solidFill>
            <a:prstDash val="solid"/>
          </a:ln>
        </p:spPr>
      </p:sp>
      <p:sp>
        <p:nvSpPr>
          <p:cNvPr id="16" name="Text 14"/>
          <p:cNvSpPr txBox="1"/>
          <p:nvPr/>
        </p:nvSpPr>
        <p:spPr>
          <a:xfrm>
            <a:off x="713232" y="240487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3</a:t>
            </a:r>
            <a:endParaRPr lang="en-US" sz="1200" dirty="0"/>
          </a:p>
        </p:txBody>
      </p:sp>
      <p:sp>
        <p:nvSpPr>
          <p:cNvPr id="17" name="Text 15"/>
          <p:cNvSpPr txBox="1"/>
          <p:nvPr/>
        </p:nvSpPr>
        <p:spPr>
          <a:xfrm>
            <a:off x="1060704" y="240487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HTTP transport, sessions and service accounts</a:t>
            </a:r>
            <a:endParaRPr lang="en-US" sz="950" dirty="0"/>
          </a:p>
        </p:txBody>
      </p:sp>
      <p:sp>
        <p:nvSpPr>
          <p:cNvPr id="18" name="Text 16"/>
          <p:cNvSpPr txBox="1"/>
          <p:nvPr/>
        </p:nvSpPr>
        <p:spPr>
          <a:xfrm>
            <a:off x="3517392" y="240487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+3</a:t>
            </a:r>
            <a:endParaRPr lang="en-US" sz="950" dirty="0"/>
          </a:p>
        </p:txBody>
      </p:sp>
      <p:sp>
        <p:nvSpPr>
          <p:cNvPr id="19" name="Shape 17"/>
          <p:cNvSpPr/>
          <p:nvPr/>
        </p:nvSpPr>
        <p:spPr>
          <a:xfrm>
            <a:off x="566928" y="2884932"/>
            <a:ext cx="82296" cy="420624"/>
          </a:xfrm>
          <a:prstGeom prst="rect">
            <a:avLst/>
          </a:prstGeom>
          <a:solidFill>
            <a:srgbClr val="2E6DA4"/>
          </a:solidFill>
          <a:ln w="12700">
            <a:solidFill>
              <a:srgbClr val="2E6DA4"/>
            </a:solidFill>
            <a:prstDash val="solid"/>
          </a:ln>
        </p:spPr>
      </p:sp>
      <p:sp>
        <p:nvSpPr>
          <p:cNvPr id="20" name="Shape 18"/>
          <p:cNvSpPr/>
          <p:nvPr/>
        </p:nvSpPr>
        <p:spPr>
          <a:xfrm>
            <a:off x="649224" y="2884932"/>
            <a:ext cx="3435096" cy="420624"/>
          </a:xfrm>
          <a:prstGeom prst="roundRect">
            <a:avLst>
              <a:gd name="adj" fmla="val 8696"/>
            </a:avLst>
          </a:prstGeom>
          <a:solidFill>
            <a:srgbClr val="E8EFF6"/>
          </a:solidFill>
          <a:ln w="12700">
            <a:solidFill>
              <a:srgbClr val="E8EFF6"/>
            </a:solidFill>
            <a:prstDash val="solid"/>
          </a:ln>
        </p:spPr>
      </p:sp>
      <p:sp>
        <p:nvSpPr>
          <p:cNvPr id="21" name="Text 19"/>
          <p:cNvSpPr txBox="1"/>
          <p:nvPr/>
        </p:nvSpPr>
        <p:spPr>
          <a:xfrm>
            <a:off x="713232" y="288493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4</a:t>
            </a:r>
            <a:endParaRPr lang="en-US" sz="1200" dirty="0"/>
          </a:p>
        </p:txBody>
      </p:sp>
      <p:sp>
        <p:nvSpPr>
          <p:cNvPr id="22" name="Text 20"/>
          <p:cNvSpPr txBox="1"/>
          <p:nvPr/>
        </p:nvSpPr>
        <p:spPr>
          <a:xfrm>
            <a:off x="1060704" y="288493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Read endpoints</a:t>
            </a:r>
            <a:endParaRPr lang="en-US" sz="950" dirty="0"/>
          </a:p>
        </p:txBody>
      </p:sp>
      <p:sp>
        <p:nvSpPr>
          <p:cNvPr id="23" name="Text 21"/>
          <p:cNvSpPr txBox="1"/>
          <p:nvPr/>
        </p:nvSpPr>
        <p:spPr>
          <a:xfrm>
            <a:off x="3517392" y="2884932"/>
            <a:ext cx="420624" cy="420624"/>
          </a:xfrm>
          <a:prstGeom prst="rect">
            <a:avLst/>
          </a:prstGeom>
          <a:noFill/>
          <a:ln/>
        </p:spPr>
        <p:txBody>
          <a:bodyPr wrap="square" lIns="0" tIns="0" rIns="0" bIns="0" rtlCol="0" anchor="ctr"/>
          <a:lstStyle/>
          <a:p>
            <a:pPr algn="r" indent="0" marL="0">
              <a:buNone/>
            </a:pPr>
            <a:r>
              <a:rPr lang="en-US" sz="950" b="1" dirty="0">
                <a:solidFill>
                  <a:srgbClr val="7B8794"/>
                </a:solidFill>
                <a:latin typeface="Calibri" pitchFamily="34" charset="0"/>
                <a:ea typeface="Calibri" pitchFamily="34" charset="-122"/>
                <a:cs typeface="Calibri" pitchFamily="34" charset="-120"/>
              </a:rPr>
              <a:t>—</a:t>
            </a:r>
            <a:endParaRPr lang="en-US" sz="950" dirty="0"/>
          </a:p>
        </p:txBody>
      </p:sp>
      <p:sp>
        <p:nvSpPr>
          <p:cNvPr id="24" name="Shape 22"/>
          <p:cNvSpPr/>
          <p:nvPr/>
        </p:nvSpPr>
        <p:spPr>
          <a:xfrm>
            <a:off x="566928" y="3364992"/>
            <a:ext cx="82296" cy="420624"/>
          </a:xfrm>
          <a:prstGeom prst="rect">
            <a:avLst/>
          </a:prstGeom>
          <a:solidFill>
            <a:srgbClr val="2E6DA4"/>
          </a:solidFill>
          <a:ln w="12700">
            <a:solidFill>
              <a:srgbClr val="2E6DA4"/>
            </a:solidFill>
            <a:prstDash val="solid"/>
          </a:ln>
        </p:spPr>
      </p:sp>
      <p:sp>
        <p:nvSpPr>
          <p:cNvPr id="25" name="Shape 23"/>
          <p:cNvSpPr/>
          <p:nvPr/>
        </p:nvSpPr>
        <p:spPr>
          <a:xfrm>
            <a:off x="649224" y="3364992"/>
            <a:ext cx="3435096" cy="420624"/>
          </a:xfrm>
          <a:prstGeom prst="roundRect">
            <a:avLst>
              <a:gd name="adj" fmla="val 8696"/>
            </a:avLst>
          </a:prstGeom>
          <a:solidFill>
            <a:srgbClr val="E8EFF6"/>
          </a:solidFill>
          <a:ln w="12700">
            <a:solidFill>
              <a:srgbClr val="E8EFF6"/>
            </a:solidFill>
            <a:prstDash val="solid"/>
          </a:ln>
        </p:spPr>
      </p:sp>
      <p:sp>
        <p:nvSpPr>
          <p:cNvPr id="26" name="Text 24"/>
          <p:cNvSpPr txBox="1"/>
          <p:nvPr/>
        </p:nvSpPr>
        <p:spPr>
          <a:xfrm>
            <a:off x="713232" y="336499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5</a:t>
            </a:r>
            <a:endParaRPr lang="en-US" sz="1200" dirty="0"/>
          </a:p>
        </p:txBody>
      </p:sp>
      <p:sp>
        <p:nvSpPr>
          <p:cNvPr id="27" name="Text 25"/>
          <p:cNvSpPr txBox="1"/>
          <p:nvPr/>
        </p:nvSpPr>
        <p:spPr>
          <a:xfrm>
            <a:off x="1060704" y="336499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Write endpoints, and the governance gaps</a:t>
            </a:r>
            <a:endParaRPr lang="en-US" sz="950" dirty="0"/>
          </a:p>
        </p:txBody>
      </p:sp>
      <p:sp>
        <p:nvSpPr>
          <p:cNvPr id="28" name="Text 26"/>
          <p:cNvSpPr txBox="1"/>
          <p:nvPr/>
        </p:nvSpPr>
        <p:spPr>
          <a:xfrm>
            <a:off x="3517392" y="336499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+4</a:t>
            </a:r>
            <a:endParaRPr lang="en-US" sz="950" dirty="0"/>
          </a:p>
        </p:txBody>
      </p:sp>
      <p:sp>
        <p:nvSpPr>
          <p:cNvPr id="29" name="Shape 27"/>
          <p:cNvSpPr/>
          <p:nvPr/>
        </p:nvSpPr>
        <p:spPr>
          <a:xfrm>
            <a:off x="566928" y="3845052"/>
            <a:ext cx="82296" cy="420624"/>
          </a:xfrm>
          <a:prstGeom prst="rect">
            <a:avLst/>
          </a:prstGeom>
          <a:solidFill>
            <a:srgbClr val="2E6DA4"/>
          </a:solidFill>
          <a:ln w="12700">
            <a:solidFill>
              <a:srgbClr val="2E6DA4"/>
            </a:solidFill>
            <a:prstDash val="solid"/>
          </a:ln>
        </p:spPr>
      </p:sp>
      <p:sp>
        <p:nvSpPr>
          <p:cNvPr id="30" name="Shape 28"/>
          <p:cNvSpPr/>
          <p:nvPr/>
        </p:nvSpPr>
        <p:spPr>
          <a:xfrm>
            <a:off x="649224" y="3845052"/>
            <a:ext cx="3435096" cy="420624"/>
          </a:xfrm>
          <a:prstGeom prst="roundRect">
            <a:avLst>
              <a:gd name="adj" fmla="val 8696"/>
            </a:avLst>
          </a:prstGeom>
          <a:solidFill>
            <a:srgbClr val="E8EFF6"/>
          </a:solidFill>
          <a:ln w="12700">
            <a:solidFill>
              <a:srgbClr val="E8EFF6"/>
            </a:solidFill>
            <a:prstDash val="solid"/>
          </a:ln>
        </p:spPr>
      </p:sp>
      <p:sp>
        <p:nvSpPr>
          <p:cNvPr id="31" name="Text 29"/>
          <p:cNvSpPr txBox="1"/>
          <p:nvPr/>
        </p:nvSpPr>
        <p:spPr>
          <a:xfrm>
            <a:off x="713232" y="384505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6</a:t>
            </a:r>
            <a:endParaRPr lang="en-US" sz="1200" dirty="0"/>
          </a:p>
        </p:txBody>
      </p:sp>
      <p:sp>
        <p:nvSpPr>
          <p:cNvPr id="32" name="Text 30"/>
          <p:cNvSpPr txBox="1"/>
          <p:nvPr/>
        </p:nvSpPr>
        <p:spPr>
          <a:xfrm>
            <a:off x="1060704" y="384505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Administration, OpenAPI, separation of duties</a:t>
            </a:r>
            <a:endParaRPr lang="en-US" sz="950" dirty="0"/>
          </a:p>
        </p:txBody>
      </p:sp>
      <p:sp>
        <p:nvSpPr>
          <p:cNvPr id="33" name="Text 31"/>
          <p:cNvSpPr txBox="1"/>
          <p:nvPr/>
        </p:nvSpPr>
        <p:spPr>
          <a:xfrm>
            <a:off x="3517392" y="384505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+3</a:t>
            </a:r>
            <a:endParaRPr lang="en-US" sz="950" dirty="0"/>
          </a:p>
        </p:txBody>
      </p:sp>
      <p:sp>
        <p:nvSpPr>
          <p:cNvPr id="34" name="Shape 32"/>
          <p:cNvSpPr/>
          <p:nvPr/>
        </p:nvSpPr>
        <p:spPr>
          <a:xfrm>
            <a:off x="566928" y="4325112"/>
            <a:ext cx="82296" cy="420624"/>
          </a:xfrm>
          <a:prstGeom prst="rect">
            <a:avLst/>
          </a:prstGeom>
          <a:solidFill>
            <a:srgbClr val="2E6DA4"/>
          </a:solidFill>
          <a:ln w="12700">
            <a:solidFill>
              <a:srgbClr val="2E6DA4"/>
            </a:solidFill>
            <a:prstDash val="solid"/>
          </a:ln>
        </p:spPr>
      </p:sp>
      <p:sp>
        <p:nvSpPr>
          <p:cNvPr id="35" name="Shape 33"/>
          <p:cNvSpPr/>
          <p:nvPr/>
        </p:nvSpPr>
        <p:spPr>
          <a:xfrm>
            <a:off x="649224" y="4325112"/>
            <a:ext cx="3435096" cy="420624"/>
          </a:xfrm>
          <a:prstGeom prst="roundRect">
            <a:avLst>
              <a:gd name="adj" fmla="val 8696"/>
            </a:avLst>
          </a:prstGeom>
          <a:solidFill>
            <a:srgbClr val="E8EFF6"/>
          </a:solidFill>
          <a:ln w="12700">
            <a:solidFill>
              <a:srgbClr val="E8EFF6"/>
            </a:solidFill>
            <a:prstDash val="solid"/>
          </a:ln>
        </p:spPr>
      </p:sp>
      <p:sp>
        <p:nvSpPr>
          <p:cNvPr id="36" name="Text 34"/>
          <p:cNvSpPr txBox="1"/>
          <p:nvPr/>
        </p:nvSpPr>
        <p:spPr>
          <a:xfrm>
            <a:off x="713232" y="432511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7</a:t>
            </a:r>
            <a:endParaRPr lang="en-US" sz="1200" dirty="0"/>
          </a:p>
        </p:txBody>
      </p:sp>
      <p:sp>
        <p:nvSpPr>
          <p:cNvPr id="37" name="Text 35"/>
          <p:cNvSpPr txBox="1"/>
          <p:nvPr/>
        </p:nvSpPr>
        <p:spPr>
          <a:xfrm>
            <a:off x="1060704" y="432511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Web console and self-service</a:t>
            </a:r>
            <a:endParaRPr lang="en-US" sz="950" dirty="0"/>
          </a:p>
        </p:txBody>
      </p:sp>
      <p:sp>
        <p:nvSpPr>
          <p:cNvPr id="38" name="Text 36"/>
          <p:cNvSpPr txBox="1"/>
          <p:nvPr/>
        </p:nvSpPr>
        <p:spPr>
          <a:xfrm>
            <a:off x="3517392" y="432511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+2</a:t>
            </a:r>
            <a:endParaRPr lang="en-US" sz="950" dirty="0"/>
          </a:p>
        </p:txBody>
      </p:sp>
      <p:sp>
        <p:nvSpPr>
          <p:cNvPr id="39" name="Shape 37"/>
          <p:cNvSpPr/>
          <p:nvPr/>
        </p:nvSpPr>
        <p:spPr>
          <a:xfrm>
            <a:off x="566928" y="4805172"/>
            <a:ext cx="82296" cy="420624"/>
          </a:xfrm>
          <a:prstGeom prst="rect">
            <a:avLst/>
          </a:prstGeom>
          <a:solidFill>
            <a:srgbClr val="5A7184"/>
          </a:solidFill>
          <a:ln w="12700">
            <a:solidFill>
              <a:srgbClr val="5A7184"/>
            </a:solidFill>
            <a:prstDash val="solid"/>
          </a:ln>
        </p:spPr>
      </p:sp>
      <p:sp>
        <p:nvSpPr>
          <p:cNvPr id="40" name="Shape 38"/>
          <p:cNvSpPr/>
          <p:nvPr/>
        </p:nvSpPr>
        <p:spPr>
          <a:xfrm>
            <a:off x="649224" y="4805172"/>
            <a:ext cx="3435096" cy="420624"/>
          </a:xfrm>
          <a:prstGeom prst="roundRect">
            <a:avLst>
              <a:gd name="adj" fmla="val 8696"/>
            </a:avLst>
          </a:prstGeom>
          <a:solidFill>
            <a:srgbClr val="E8EFF6"/>
          </a:solidFill>
          <a:ln w="12700">
            <a:solidFill>
              <a:srgbClr val="E8EFF6"/>
            </a:solidFill>
            <a:prstDash val="solid"/>
          </a:ln>
        </p:spPr>
      </p:sp>
      <p:sp>
        <p:nvSpPr>
          <p:cNvPr id="41" name="Text 39"/>
          <p:cNvSpPr txBox="1"/>
          <p:nvPr/>
        </p:nvSpPr>
        <p:spPr>
          <a:xfrm>
            <a:off x="713232" y="480517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8</a:t>
            </a:r>
            <a:endParaRPr lang="en-US" sz="1200" dirty="0"/>
          </a:p>
        </p:txBody>
      </p:sp>
      <p:sp>
        <p:nvSpPr>
          <p:cNvPr id="42" name="Text 40"/>
          <p:cNvSpPr txBox="1"/>
          <p:nvPr/>
        </p:nvSpPr>
        <p:spPr>
          <a:xfrm>
            <a:off x="1060704" y="480517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Enterprise identity and policy</a:t>
            </a:r>
            <a:endParaRPr lang="en-US" sz="950" dirty="0"/>
          </a:p>
        </p:txBody>
      </p:sp>
      <p:sp>
        <p:nvSpPr>
          <p:cNvPr id="43" name="Text 41"/>
          <p:cNvSpPr txBox="1"/>
          <p:nvPr/>
        </p:nvSpPr>
        <p:spPr>
          <a:xfrm>
            <a:off x="3517392" y="480517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+2</a:t>
            </a:r>
            <a:endParaRPr lang="en-US" sz="950" dirty="0"/>
          </a:p>
        </p:txBody>
      </p:sp>
      <p:sp>
        <p:nvSpPr>
          <p:cNvPr id="44" name="Shape 42"/>
          <p:cNvSpPr/>
          <p:nvPr/>
        </p:nvSpPr>
        <p:spPr>
          <a:xfrm>
            <a:off x="566928" y="5285232"/>
            <a:ext cx="82296" cy="420624"/>
          </a:xfrm>
          <a:prstGeom prst="rect">
            <a:avLst/>
          </a:prstGeom>
          <a:solidFill>
            <a:srgbClr val="5A7184"/>
          </a:solidFill>
          <a:ln w="12700">
            <a:solidFill>
              <a:srgbClr val="5A7184"/>
            </a:solidFill>
            <a:prstDash val="solid"/>
          </a:ln>
        </p:spPr>
      </p:sp>
      <p:sp>
        <p:nvSpPr>
          <p:cNvPr id="45" name="Shape 43"/>
          <p:cNvSpPr/>
          <p:nvPr/>
        </p:nvSpPr>
        <p:spPr>
          <a:xfrm>
            <a:off x="649224" y="5285232"/>
            <a:ext cx="3435096" cy="420624"/>
          </a:xfrm>
          <a:prstGeom prst="roundRect">
            <a:avLst>
              <a:gd name="adj" fmla="val 8696"/>
            </a:avLst>
          </a:prstGeom>
          <a:solidFill>
            <a:srgbClr val="E8EFF6"/>
          </a:solidFill>
          <a:ln w="12700">
            <a:solidFill>
              <a:srgbClr val="E8EFF6"/>
            </a:solidFill>
            <a:prstDash val="solid"/>
          </a:ln>
        </p:spPr>
      </p:sp>
      <p:sp>
        <p:nvSpPr>
          <p:cNvPr id="46" name="Text 44"/>
          <p:cNvSpPr txBox="1"/>
          <p:nvPr/>
        </p:nvSpPr>
        <p:spPr>
          <a:xfrm>
            <a:off x="713232" y="528523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9</a:t>
            </a:r>
            <a:endParaRPr lang="en-US" sz="1200" dirty="0"/>
          </a:p>
        </p:txBody>
      </p:sp>
      <p:sp>
        <p:nvSpPr>
          <p:cNvPr id="47" name="Text 45"/>
          <p:cNvSpPr txBox="1"/>
          <p:nvPr/>
        </p:nvSpPr>
        <p:spPr>
          <a:xfrm>
            <a:off x="1060704" y="528523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Audit externalisation, compliance and ceremony</a:t>
            </a:r>
            <a:endParaRPr lang="en-US" sz="950" dirty="0"/>
          </a:p>
        </p:txBody>
      </p:sp>
      <p:sp>
        <p:nvSpPr>
          <p:cNvPr id="48" name="Text 46"/>
          <p:cNvSpPr txBox="1"/>
          <p:nvPr/>
        </p:nvSpPr>
        <p:spPr>
          <a:xfrm>
            <a:off x="3517392" y="528523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+7</a:t>
            </a:r>
            <a:endParaRPr lang="en-US" sz="950" dirty="0"/>
          </a:p>
        </p:txBody>
      </p:sp>
      <p:sp>
        <p:nvSpPr>
          <p:cNvPr id="49" name="Shape 47"/>
          <p:cNvSpPr/>
          <p:nvPr/>
        </p:nvSpPr>
        <p:spPr>
          <a:xfrm>
            <a:off x="4322064" y="1444752"/>
            <a:ext cx="82296" cy="420624"/>
          </a:xfrm>
          <a:prstGeom prst="rect">
            <a:avLst/>
          </a:prstGeom>
          <a:solidFill>
            <a:srgbClr val="6B8299"/>
          </a:solidFill>
          <a:ln w="12700">
            <a:solidFill>
              <a:srgbClr val="6B8299"/>
            </a:solidFill>
            <a:prstDash val="solid"/>
          </a:ln>
        </p:spPr>
      </p:sp>
      <p:sp>
        <p:nvSpPr>
          <p:cNvPr id="50" name="Shape 48"/>
          <p:cNvSpPr/>
          <p:nvPr/>
        </p:nvSpPr>
        <p:spPr>
          <a:xfrm>
            <a:off x="4404360" y="1444752"/>
            <a:ext cx="3435096" cy="420624"/>
          </a:xfrm>
          <a:prstGeom prst="roundRect">
            <a:avLst>
              <a:gd name="adj" fmla="val 8696"/>
            </a:avLst>
          </a:prstGeom>
          <a:solidFill>
            <a:srgbClr val="E8EFF6"/>
          </a:solidFill>
          <a:ln w="12700">
            <a:solidFill>
              <a:srgbClr val="E8EFF6"/>
            </a:solidFill>
            <a:prstDash val="solid"/>
          </a:ln>
        </p:spPr>
      </p:sp>
      <p:sp>
        <p:nvSpPr>
          <p:cNvPr id="51" name="Text 49"/>
          <p:cNvSpPr txBox="1"/>
          <p:nvPr/>
        </p:nvSpPr>
        <p:spPr>
          <a:xfrm>
            <a:off x="4468368" y="144475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10</a:t>
            </a:r>
            <a:endParaRPr lang="en-US" sz="1200" dirty="0"/>
          </a:p>
        </p:txBody>
      </p:sp>
      <p:sp>
        <p:nvSpPr>
          <p:cNvPr id="52" name="Text 50"/>
          <p:cNvSpPr txBox="1"/>
          <p:nvPr/>
        </p:nvSpPr>
        <p:spPr>
          <a:xfrm>
            <a:off x="4815840" y="144475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Storage abstraction and PostgreSQL</a:t>
            </a:r>
            <a:endParaRPr lang="en-US" sz="950" dirty="0"/>
          </a:p>
        </p:txBody>
      </p:sp>
      <p:sp>
        <p:nvSpPr>
          <p:cNvPr id="53" name="Text 51"/>
          <p:cNvSpPr txBox="1"/>
          <p:nvPr/>
        </p:nvSpPr>
        <p:spPr>
          <a:xfrm>
            <a:off x="7272528" y="144475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+1</a:t>
            </a:r>
            <a:endParaRPr lang="en-US" sz="950" dirty="0"/>
          </a:p>
        </p:txBody>
      </p:sp>
      <p:sp>
        <p:nvSpPr>
          <p:cNvPr id="54" name="Shape 52"/>
          <p:cNvSpPr/>
          <p:nvPr/>
        </p:nvSpPr>
        <p:spPr>
          <a:xfrm>
            <a:off x="4322064" y="1924812"/>
            <a:ext cx="82296" cy="420624"/>
          </a:xfrm>
          <a:prstGeom prst="rect">
            <a:avLst/>
          </a:prstGeom>
          <a:solidFill>
            <a:srgbClr val="6B8299"/>
          </a:solidFill>
          <a:ln w="12700">
            <a:solidFill>
              <a:srgbClr val="6B8299"/>
            </a:solidFill>
            <a:prstDash val="solid"/>
          </a:ln>
        </p:spPr>
      </p:sp>
      <p:sp>
        <p:nvSpPr>
          <p:cNvPr id="55" name="Shape 53"/>
          <p:cNvSpPr/>
          <p:nvPr/>
        </p:nvSpPr>
        <p:spPr>
          <a:xfrm>
            <a:off x="4404360" y="1924812"/>
            <a:ext cx="3435096" cy="420624"/>
          </a:xfrm>
          <a:prstGeom prst="roundRect">
            <a:avLst>
              <a:gd name="adj" fmla="val 8696"/>
            </a:avLst>
          </a:prstGeom>
          <a:solidFill>
            <a:srgbClr val="E8EFF6"/>
          </a:solidFill>
          <a:ln w="12700">
            <a:solidFill>
              <a:srgbClr val="E8EFF6"/>
            </a:solidFill>
            <a:prstDash val="solid"/>
          </a:ln>
        </p:spPr>
      </p:sp>
      <p:sp>
        <p:nvSpPr>
          <p:cNvPr id="56" name="Text 54"/>
          <p:cNvSpPr txBox="1"/>
          <p:nvPr/>
        </p:nvSpPr>
        <p:spPr>
          <a:xfrm>
            <a:off x="4468368" y="192481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11</a:t>
            </a:r>
            <a:endParaRPr lang="en-US" sz="1200" dirty="0"/>
          </a:p>
        </p:txBody>
      </p:sp>
      <p:sp>
        <p:nvSpPr>
          <p:cNvPr id="57" name="Text 55"/>
          <p:cNvSpPr txBox="1"/>
          <p:nvPr/>
        </p:nvSpPr>
        <p:spPr>
          <a:xfrm>
            <a:off x="4815840" y="192481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High availability, failover and deployment</a:t>
            </a:r>
            <a:endParaRPr lang="en-US" sz="950" dirty="0"/>
          </a:p>
        </p:txBody>
      </p:sp>
      <p:sp>
        <p:nvSpPr>
          <p:cNvPr id="58" name="Text 56"/>
          <p:cNvSpPr txBox="1"/>
          <p:nvPr/>
        </p:nvSpPr>
        <p:spPr>
          <a:xfrm>
            <a:off x="7272528" y="192481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+6</a:t>
            </a:r>
            <a:endParaRPr lang="en-US" sz="950" dirty="0"/>
          </a:p>
        </p:txBody>
      </p:sp>
      <p:sp>
        <p:nvSpPr>
          <p:cNvPr id="59" name="Shape 57"/>
          <p:cNvSpPr/>
          <p:nvPr/>
        </p:nvSpPr>
        <p:spPr>
          <a:xfrm>
            <a:off x="4322064" y="2404872"/>
            <a:ext cx="82296" cy="420624"/>
          </a:xfrm>
          <a:prstGeom prst="rect">
            <a:avLst/>
          </a:prstGeom>
          <a:solidFill>
            <a:srgbClr val="6B8299"/>
          </a:solidFill>
          <a:ln w="12700">
            <a:solidFill>
              <a:srgbClr val="6B8299"/>
            </a:solidFill>
            <a:prstDash val="solid"/>
          </a:ln>
        </p:spPr>
      </p:sp>
      <p:sp>
        <p:nvSpPr>
          <p:cNvPr id="60" name="Shape 58"/>
          <p:cNvSpPr/>
          <p:nvPr/>
        </p:nvSpPr>
        <p:spPr>
          <a:xfrm>
            <a:off x="4404360" y="2404872"/>
            <a:ext cx="3435096" cy="420624"/>
          </a:xfrm>
          <a:prstGeom prst="roundRect">
            <a:avLst>
              <a:gd name="adj" fmla="val 8696"/>
            </a:avLst>
          </a:prstGeom>
          <a:solidFill>
            <a:srgbClr val="E8EFF6"/>
          </a:solidFill>
          <a:ln w="12700">
            <a:solidFill>
              <a:srgbClr val="E8EFF6"/>
            </a:solidFill>
            <a:prstDash val="solid"/>
          </a:ln>
        </p:spPr>
      </p:sp>
      <p:sp>
        <p:nvSpPr>
          <p:cNvPr id="61" name="Text 59"/>
          <p:cNvSpPr txBox="1"/>
          <p:nvPr/>
        </p:nvSpPr>
        <p:spPr>
          <a:xfrm>
            <a:off x="4468368" y="240487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12</a:t>
            </a:r>
            <a:endParaRPr lang="en-US" sz="1200" dirty="0"/>
          </a:p>
        </p:txBody>
      </p:sp>
      <p:sp>
        <p:nvSpPr>
          <p:cNvPr id="62" name="Text 60"/>
          <p:cNvSpPr txBox="1"/>
          <p:nvPr/>
        </p:nvSpPr>
        <p:spPr>
          <a:xfrm>
            <a:off x="4815840" y="240487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Multi-tenancy</a:t>
            </a:r>
            <a:endParaRPr lang="en-US" sz="950" dirty="0"/>
          </a:p>
        </p:txBody>
      </p:sp>
      <p:sp>
        <p:nvSpPr>
          <p:cNvPr id="63" name="Text 61"/>
          <p:cNvSpPr txBox="1"/>
          <p:nvPr/>
        </p:nvSpPr>
        <p:spPr>
          <a:xfrm>
            <a:off x="7272528" y="240487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+2</a:t>
            </a:r>
            <a:endParaRPr lang="en-US" sz="950" dirty="0"/>
          </a:p>
        </p:txBody>
      </p:sp>
      <p:sp>
        <p:nvSpPr>
          <p:cNvPr id="64" name="Shape 62"/>
          <p:cNvSpPr/>
          <p:nvPr/>
        </p:nvSpPr>
        <p:spPr>
          <a:xfrm>
            <a:off x="4322064" y="2884932"/>
            <a:ext cx="82296" cy="420624"/>
          </a:xfrm>
          <a:prstGeom prst="rect">
            <a:avLst/>
          </a:prstGeom>
          <a:solidFill>
            <a:srgbClr val="C8952B"/>
          </a:solidFill>
          <a:ln w="12700">
            <a:solidFill>
              <a:srgbClr val="C8952B"/>
            </a:solidFill>
            <a:prstDash val="solid"/>
          </a:ln>
        </p:spPr>
      </p:sp>
      <p:sp>
        <p:nvSpPr>
          <p:cNvPr id="65" name="Shape 63"/>
          <p:cNvSpPr/>
          <p:nvPr/>
        </p:nvSpPr>
        <p:spPr>
          <a:xfrm>
            <a:off x="4404360" y="2884932"/>
            <a:ext cx="3435096" cy="420624"/>
          </a:xfrm>
          <a:prstGeom prst="roundRect">
            <a:avLst>
              <a:gd name="adj" fmla="val 8696"/>
            </a:avLst>
          </a:prstGeom>
          <a:solidFill>
            <a:srgbClr val="E8EFF6"/>
          </a:solidFill>
          <a:ln w="12700">
            <a:solidFill>
              <a:srgbClr val="E8EFF6"/>
            </a:solidFill>
            <a:prstDash val="solid"/>
          </a:ln>
        </p:spPr>
      </p:sp>
      <p:sp>
        <p:nvSpPr>
          <p:cNvPr id="66" name="Text 64"/>
          <p:cNvSpPr txBox="1"/>
          <p:nvPr/>
        </p:nvSpPr>
        <p:spPr>
          <a:xfrm>
            <a:off x="4468368" y="288493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13</a:t>
            </a:r>
            <a:endParaRPr lang="en-US" sz="1200" dirty="0"/>
          </a:p>
        </p:txBody>
      </p:sp>
      <p:sp>
        <p:nvSpPr>
          <p:cNvPr id="67" name="Text 65"/>
          <p:cNvSpPr txBox="1"/>
          <p:nvPr/>
        </p:nvSpPr>
        <p:spPr>
          <a:xfrm>
            <a:off x="4815840" y="288493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KMIP JSON and XML encodings</a:t>
            </a:r>
            <a:endParaRPr lang="en-US" sz="950" dirty="0"/>
          </a:p>
        </p:txBody>
      </p:sp>
      <p:sp>
        <p:nvSpPr>
          <p:cNvPr id="68" name="Text 66"/>
          <p:cNvSpPr txBox="1"/>
          <p:nvPr/>
        </p:nvSpPr>
        <p:spPr>
          <a:xfrm>
            <a:off x="7272528" y="288493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+1</a:t>
            </a:r>
            <a:endParaRPr lang="en-US" sz="950" dirty="0"/>
          </a:p>
        </p:txBody>
      </p:sp>
      <p:sp>
        <p:nvSpPr>
          <p:cNvPr id="69" name="Shape 67"/>
          <p:cNvSpPr/>
          <p:nvPr/>
        </p:nvSpPr>
        <p:spPr>
          <a:xfrm>
            <a:off x="4322064" y="3364992"/>
            <a:ext cx="82296" cy="420624"/>
          </a:xfrm>
          <a:prstGeom prst="rect">
            <a:avLst/>
          </a:prstGeom>
          <a:solidFill>
            <a:srgbClr val="C8952B"/>
          </a:solidFill>
          <a:ln w="12700">
            <a:solidFill>
              <a:srgbClr val="C8952B"/>
            </a:solidFill>
            <a:prstDash val="solid"/>
          </a:ln>
        </p:spPr>
      </p:sp>
      <p:sp>
        <p:nvSpPr>
          <p:cNvPr id="70" name="Shape 68"/>
          <p:cNvSpPr/>
          <p:nvPr/>
        </p:nvSpPr>
        <p:spPr>
          <a:xfrm>
            <a:off x="4404360" y="3364992"/>
            <a:ext cx="3435096" cy="420624"/>
          </a:xfrm>
          <a:prstGeom prst="roundRect">
            <a:avLst>
              <a:gd name="adj" fmla="val 8696"/>
            </a:avLst>
          </a:prstGeom>
          <a:solidFill>
            <a:srgbClr val="E8EFF6"/>
          </a:solidFill>
          <a:ln w="12700">
            <a:solidFill>
              <a:srgbClr val="E8EFF6"/>
            </a:solidFill>
            <a:prstDash val="solid"/>
          </a:ln>
        </p:spPr>
      </p:sp>
      <p:sp>
        <p:nvSpPr>
          <p:cNvPr id="71" name="Text 69"/>
          <p:cNvSpPr txBox="1"/>
          <p:nvPr/>
        </p:nvSpPr>
        <p:spPr>
          <a:xfrm>
            <a:off x="4468368" y="336499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14</a:t>
            </a:r>
            <a:endParaRPr lang="en-US" sz="1200" dirty="0"/>
          </a:p>
        </p:txBody>
      </p:sp>
      <p:sp>
        <p:nvSpPr>
          <p:cNvPr id="72" name="Text 70"/>
          <p:cNvSpPr txBox="1"/>
          <p:nvPr/>
        </p:nvSpPr>
        <p:spPr>
          <a:xfrm>
            <a:off x="4815840" y="336499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Certificate discovery and expiry monitoring</a:t>
            </a:r>
            <a:endParaRPr lang="en-US" sz="950" dirty="0"/>
          </a:p>
        </p:txBody>
      </p:sp>
      <p:sp>
        <p:nvSpPr>
          <p:cNvPr id="73" name="Text 71"/>
          <p:cNvSpPr txBox="1"/>
          <p:nvPr/>
        </p:nvSpPr>
        <p:spPr>
          <a:xfrm>
            <a:off x="7272528" y="336499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+1</a:t>
            </a:r>
            <a:endParaRPr lang="en-US" sz="950" dirty="0"/>
          </a:p>
        </p:txBody>
      </p:sp>
      <p:sp>
        <p:nvSpPr>
          <p:cNvPr id="74" name="Shape 72"/>
          <p:cNvSpPr/>
          <p:nvPr/>
        </p:nvSpPr>
        <p:spPr>
          <a:xfrm>
            <a:off x="4322064" y="3845052"/>
            <a:ext cx="82296" cy="420624"/>
          </a:xfrm>
          <a:prstGeom prst="rect">
            <a:avLst/>
          </a:prstGeom>
          <a:solidFill>
            <a:srgbClr val="1A3A5C"/>
          </a:solidFill>
          <a:ln w="12700">
            <a:solidFill>
              <a:srgbClr val="1A3A5C"/>
            </a:solidFill>
            <a:prstDash val="solid"/>
          </a:ln>
        </p:spPr>
      </p:sp>
      <p:sp>
        <p:nvSpPr>
          <p:cNvPr id="75" name="Shape 73"/>
          <p:cNvSpPr/>
          <p:nvPr/>
        </p:nvSpPr>
        <p:spPr>
          <a:xfrm>
            <a:off x="4404360" y="3845052"/>
            <a:ext cx="3435096" cy="420624"/>
          </a:xfrm>
          <a:prstGeom prst="roundRect">
            <a:avLst>
              <a:gd name="adj" fmla="val 8696"/>
            </a:avLst>
          </a:prstGeom>
          <a:solidFill>
            <a:srgbClr val="E8EFF6"/>
          </a:solidFill>
          <a:ln w="12700">
            <a:solidFill>
              <a:srgbClr val="E8EFF6"/>
            </a:solidFill>
            <a:prstDash val="solid"/>
          </a:ln>
        </p:spPr>
      </p:sp>
      <p:sp>
        <p:nvSpPr>
          <p:cNvPr id="76" name="Text 74"/>
          <p:cNvSpPr txBox="1"/>
          <p:nvPr/>
        </p:nvSpPr>
        <p:spPr>
          <a:xfrm>
            <a:off x="4468368" y="384505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15</a:t>
            </a:r>
            <a:endParaRPr lang="en-US" sz="1200" dirty="0"/>
          </a:p>
        </p:txBody>
      </p:sp>
      <p:sp>
        <p:nvSpPr>
          <p:cNvPr id="77" name="Text 75"/>
          <p:cNvSpPr txBox="1"/>
          <p:nvPr/>
        </p:nvSpPr>
        <p:spPr>
          <a:xfrm>
            <a:off x="4815840" y="384505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Cloud BYOK</a:t>
            </a:r>
            <a:endParaRPr lang="en-US" sz="950" dirty="0"/>
          </a:p>
        </p:txBody>
      </p:sp>
      <p:sp>
        <p:nvSpPr>
          <p:cNvPr id="78" name="Text 76"/>
          <p:cNvSpPr txBox="1"/>
          <p:nvPr/>
        </p:nvSpPr>
        <p:spPr>
          <a:xfrm>
            <a:off x="7272528" y="384505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+1</a:t>
            </a:r>
            <a:endParaRPr lang="en-US" sz="950" dirty="0"/>
          </a:p>
        </p:txBody>
      </p:sp>
      <p:sp>
        <p:nvSpPr>
          <p:cNvPr id="79" name="Shape 77"/>
          <p:cNvSpPr/>
          <p:nvPr/>
        </p:nvSpPr>
        <p:spPr>
          <a:xfrm>
            <a:off x="4322064" y="4325112"/>
            <a:ext cx="82296" cy="420624"/>
          </a:xfrm>
          <a:prstGeom prst="rect">
            <a:avLst/>
          </a:prstGeom>
          <a:solidFill>
            <a:srgbClr val="1A3A5C"/>
          </a:solidFill>
          <a:ln w="12700">
            <a:solidFill>
              <a:srgbClr val="1A3A5C"/>
            </a:solidFill>
            <a:prstDash val="solid"/>
          </a:ln>
        </p:spPr>
      </p:sp>
      <p:sp>
        <p:nvSpPr>
          <p:cNvPr id="80" name="Shape 78"/>
          <p:cNvSpPr/>
          <p:nvPr/>
        </p:nvSpPr>
        <p:spPr>
          <a:xfrm>
            <a:off x="4404360" y="4325112"/>
            <a:ext cx="3435096" cy="420624"/>
          </a:xfrm>
          <a:prstGeom prst="roundRect">
            <a:avLst>
              <a:gd name="adj" fmla="val 8696"/>
            </a:avLst>
          </a:prstGeom>
          <a:solidFill>
            <a:srgbClr val="E8EFF6"/>
          </a:solidFill>
          <a:ln w="12700">
            <a:solidFill>
              <a:srgbClr val="E8EFF6"/>
            </a:solidFill>
            <a:prstDash val="solid"/>
          </a:ln>
        </p:spPr>
      </p:sp>
      <p:sp>
        <p:nvSpPr>
          <p:cNvPr id="81" name="Text 79"/>
          <p:cNvSpPr txBox="1"/>
          <p:nvPr/>
        </p:nvSpPr>
        <p:spPr>
          <a:xfrm>
            <a:off x="4468368" y="432511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16</a:t>
            </a:r>
            <a:endParaRPr lang="en-US" sz="1200" dirty="0"/>
          </a:p>
        </p:txBody>
      </p:sp>
      <p:sp>
        <p:nvSpPr>
          <p:cNvPr id="82" name="Text 80"/>
          <p:cNvSpPr txBox="1"/>
          <p:nvPr/>
        </p:nvSpPr>
        <p:spPr>
          <a:xfrm>
            <a:off x="4815840" y="432511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External key store — XKS and EKM</a:t>
            </a:r>
            <a:endParaRPr lang="en-US" sz="950" dirty="0"/>
          </a:p>
        </p:txBody>
      </p:sp>
      <p:sp>
        <p:nvSpPr>
          <p:cNvPr id="83" name="Text 81"/>
          <p:cNvSpPr txBox="1"/>
          <p:nvPr/>
        </p:nvSpPr>
        <p:spPr>
          <a:xfrm>
            <a:off x="7272528" y="432511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+1</a:t>
            </a:r>
            <a:endParaRPr lang="en-US" sz="950" dirty="0"/>
          </a:p>
        </p:txBody>
      </p:sp>
      <p:sp>
        <p:nvSpPr>
          <p:cNvPr id="84" name="Shape 82"/>
          <p:cNvSpPr/>
          <p:nvPr/>
        </p:nvSpPr>
        <p:spPr>
          <a:xfrm>
            <a:off x="4322064" y="4805172"/>
            <a:ext cx="82296" cy="420624"/>
          </a:xfrm>
          <a:prstGeom prst="rect">
            <a:avLst/>
          </a:prstGeom>
          <a:solidFill>
            <a:srgbClr val="1A3A5C"/>
          </a:solidFill>
          <a:ln w="12700">
            <a:solidFill>
              <a:srgbClr val="1A3A5C"/>
            </a:solidFill>
            <a:prstDash val="solid"/>
          </a:ln>
        </p:spPr>
      </p:sp>
      <p:sp>
        <p:nvSpPr>
          <p:cNvPr id="85" name="Shape 83"/>
          <p:cNvSpPr/>
          <p:nvPr/>
        </p:nvSpPr>
        <p:spPr>
          <a:xfrm>
            <a:off x="4404360" y="4805172"/>
            <a:ext cx="3435096" cy="420624"/>
          </a:xfrm>
          <a:prstGeom prst="roundRect">
            <a:avLst>
              <a:gd name="adj" fmla="val 8696"/>
            </a:avLst>
          </a:prstGeom>
          <a:solidFill>
            <a:srgbClr val="E8EFF6"/>
          </a:solidFill>
          <a:ln w="12700">
            <a:solidFill>
              <a:srgbClr val="E8EFF6"/>
            </a:solidFill>
            <a:prstDash val="solid"/>
          </a:ln>
        </p:spPr>
      </p:sp>
      <p:sp>
        <p:nvSpPr>
          <p:cNvPr id="86" name="Text 84"/>
          <p:cNvSpPr txBox="1"/>
          <p:nvPr/>
        </p:nvSpPr>
        <p:spPr>
          <a:xfrm>
            <a:off x="4468368" y="480517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17</a:t>
            </a:r>
            <a:endParaRPr lang="en-US" sz="1200" dirty="0"/>
          </a:p>
        </p:txBody>
      </p:sp>
      <p:sp>
        <p:nvSpPr>
          <p:cNvPr id="87" name="Text 85"/>
          <p:cNvSpPr txBox="1"/>
          <p:nvPr/>
        </p:nvSpPr>
        <p:spPr>
          <a:xfrm>
            <a:off x="4815840" y="480517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PKCS#11 provider for applications</a:t>
            </a:r>
            <a:endParaRPr lang="en-US" sz="950" dirty="0"/>
          </a:p>
        </p:txBody>
      </p:sp>
      <p:sp>
        <p:nvSpPr>
          <p:cNvPr id="88" name="Text 86"/>
          <p:cNvSpPr txBox="1"/>
          <p:nvPr/>
        </p:nvSpPr>
        <p:spPr>
          <a:xfrm>
            <a:off x="7272528" y="480517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+1</a:t>
            </a:r>
            <a:endParaRPr lang="en-US" sz="950" dirty="0"/>
          </a:p>
        </p:txBody>
      </p:sp>
      <p:sp>
        <p:nvSpPr>
          <p:cNvPr id="89" name="Shape 87"/>
          <p:cNvSpPr/>
          <p:nvPr/>
        </p:nvSpPr>
        <p:spPr>
          <a:xfrm>
            <a:off x="4322064" y="5285232"/>
            <a:ext cx="82296" cy="420624"/>
          </a:xfrm>
          <a:prstGeom prst="rect">
            <a:avLst/>
          </a:prstGeom>
          <a:solidFill>
            <a:srgbClr val="1A3A5C"/>
          </a:solidFill>
          <a:ln w="12700">
            <a:solidFill>
              <a:srgbClr val="1A3A5C"/>
            </a:solidFill>
            <a:prstDash val="solid"/>
          </a:ln>
        </p:spPr>
      </p:sp>
      <p:sp>
        <p:nvSpPr>
          <p:cNvPr id="90" name="Shape 88"/>
          <p:cNvSpPr/>
          <p:nvPr/>
        </p:nvSpPr>
        <p:spPr>
          <a:xfrm>
            <a:off x="4404360" y="5285232"/>
            <a:ext cx="3435096" cy="420624"/>
          </a:xfrm>
          <a:prstGeom prst="roundRect">
            <a:avLst>
              <a:gd name="adj" fmla="val 8696"/>
            </a:avLst>
          </a:prstGeom>
          <a:solidFill>
            <a:srgbClr val="E8EFF6"/>
          </a:solidFill>
          <a:ln w="12700">
            <a:solidFill>
              <a:srgbClr val="E8EFF6"/>
            </a:solidFill>
            <a:prstDash val="solid"/>
          </a:ln>
        </p:spPr>
      </p:sp>
      <p:sp>
        <p:nvSpPr>
          <p:cNvPr id="91" name="Text 89"/>
          <p:cNvSpPr txBox="1"/>
          <p:nvPr/>
        </p:nvSpPr>
        <p:spPr>
          <a:xfrm>
            <a:off x="4468368" y="528523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18</a:t>
            </a:r>
            <a:endParaRPr lang="en-US" sz="1200" dirty="0"/>
          </a:p>
        </p:txBody>
      </p:sp>
      <p:sp>
        <p:nvSpPr>
          <p:cNvPr id="92" name="Text 90"/>
          <p:cNvSpPr txBox="1"/>
          <p:nvPr/>
        </p:nvSpPr>
        <p:spPr>
          <a:xfrm>
            <a:off x="4815840" y="528523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Tokenization and format-preserving encryption</a:t>
            </a:r>
            <a:endParaRPr lang="en-US" sz="950" dirty="0"/>
          </a:p>
        </p:txBody>
      </p:sp>
      <p:sp>
        <p:nvSpPr>
          <p:cNvPr id="93" name="Text 91"/>
          <p:cNvSpPr txBox="1"/>
          <p:nvPr/>
        </p:nvSpPr>
        <p:spPr>
          <a:xfrm>
            <a:off x="7272528" y="528523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+1</a:t>
            </a:r>
            <a:endParaRPr lang="en-US" sz="950" dirty="0"/>
          </a:p>
        </p:txBody>
      </p:sp>
      <p:sp>
        <p:nvSpPr>
          <p:cNvPr id="94" name="Shape 92"/>
          <p:cNvSpPr/>
          <p:nvPr/>
        </p:nvSpPr>
        <p:spPr>
          <a:xfrm>
            <a:off x="8077200" y="1444752"/>
            <a:ext cx="82296" cy="420624"/>
          </a:xfrm>
          <a:prstGeom prst="rect">
            <a:avLst/>
          </a:prstGeom>
          <a:solidFill>
            <a:srgbClr val="2E6DA4"/>
          </a:solidFill>
          <a:ln w="12700">
            <a:solidFill>
              <a:srgbClr val="2E6DA4"/>
            </a:solidFill>
            <a:prstDash val="solid"/>
          </a:ln>
        </p:spPr>
      </p:sp>
      <p:sp>
        <p:nvSpPr>
          <p:cNvPr id="95" name="Shape 93"/>
          <p:cNvSpPr/>
          <p:nvPr/>
        </p:nvSpPr>
        <p:spPr>
          <a:xfrm>
            <a:off x="8159496" y="1444752"/>
            <a:ext cx="3435096" cy="420624"/>
          </a:xfrm>
          <a:prstGeom prst="roundRect">
            <a:avLst>
              <a:gd name="adj" fmla="val 8696"/>
            </a:avLst>
          </a:prstGeom>
          <a:solidFill>
            <a:srgbClr val="E8EFF6"/>
          </a:solidFill>
          <a:ln w="12700">
            <a:solidFill>
              <a:srgbClr val="E8EFF6"/>
            </a:solidFill>
            <a:prstDash val="solid"/>
          </a:ln>
        </p:spPr>
      </p:sp>
      <p:sp>
        <p:nvSpPr>
          <p:cNvPr id="96" name="Text 94"/>
          <p:cNvSpPr txBox="1"/>
          <p:nvPr/>
        </p:nvSpPr>
        <p:spPr>
          <a:xfrm>
            <a:off x="8223504" y="144475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19</a:t>
            </a:r>
            <a:endParaRPr lang="en-US" sz="1200" dirty="0"/>
          </a:p>
        </p:txBody>
      </p:sp>
      <p:sp>
        <p:nvSpPr>
          <p:cNvPr id="97" name="Text 95"/>
          <p:cNvSpPr txBox="1"/>
          <p:nvPr/>
        </p:nvSpPr>
        <p:spPr>
          <a:xfrm>
            <a:off x="8570976" y="1444752"/>
            <a:ext cx="2420112" cy="420624"/>
          </a:xfrm>
          <a:prstGeom prst="rect">
            <a:avLst/>
          </a:prstGeom>
          <a:noFill/>
          <a:ln/>
        </p:spPr>
        <p:txBody>
          <a:bodyPr wrap="square" lIns="0" tIns="0" rIns="0" bIns="0" rtlCol="0" anchor="ctr"/>
          <a:lstStyle/>
          <a:p>
            <a:pPr indent="0" marL="0">
              <a:buNone/>
            </a:pPr>
            <a:r>
              <a:rPr lang="en-US" sz="950" dirty="0">
                <a:solidFill>
                  <a:srgbClr val="9A6410"/>
                </a:solidFill>
                <a:latin typeface="Calibri" pitchFamily="34" charset="0"/>
                <a:ea typeface="Calibri" pitchFamily="34" charset="-122"/>
                <a:cs typeface="Calibri" pitchFamily="34" charset="-120"/>
              </a:rPr>
              <a:t>⧗ Vendor interoperability validation</a:t>
            </a:r>
            <a:endParaRPr lang="en-US" sz="950" dirty="0"/>
          </a:p>
        </p:txBody>
      </p:sp>
      <p:sp>
        <p:nvSpPr>
          <p:cNvPr id="98" name="Text 96"/>
          <p:cNvSpPr txBox="1"/>
          <p:nvPr/>
        </p:nvSpPr>
        <p:spPr>
          <a:xfrm>
            <a:off x="11027664" y="144475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+2</a:t>
            </a:r>
            <a:endParaRPr lang="en-US" sz="950" dirty="0"/>
          </a:p>
        </p:txBody>
      </p:sp>
      <p:sp>
        <p:nvSpPr>
          <p:cNvPr id="99" name="Shape 97"/>
          <p:cNvSpPr/>
          <p:nvPr/>
        </p:nvSpPr>
        <p:spPr>
          <a:xfrm>
            <a:off x="8077200" y="1924812"/>
            <a:ext cx="82296" cy="420624"/>
          </a:xfrm>
          <a:prstGeom prst="rect">
            <a:avLst/>
          </a:prstGeom>
          <a:solidFill>
            <a:srgbClr val="2E6DA4"/>
          </a:solidFill>
          <a:ln w="12700">
            <a:solidFill>
              <a:srgbClr val="2E6DA4"/>
            </a:solidFill>
            <a:prstDash val="solid"/>
          </a:ln>
        </p:spPr>
      </p:sp>
      <p:sp>
        <p:nvSpPr>
          <p:cNvPr id="100" name="Shape 98"/>
          <p:cNvSpPr/>
          <p:nvPr/>
        </p:nvSpPr>
        <p:spPr>
          <a:xfrm>
            <a:off x="8159496" y="1924812"/>
            <a:ext cx="3435096" cy="420624"/>
          </a:xfrm>
          <a:prstGeom prst="roundRect">
            <a:avLst>
              <a:gd name="adj" fmla="val 8696"/>
            </a:avLst>
          </a:prstGeom>
          <a:solidFill>
            <a:srgbClr val="E8EFF6"/>
          </a:solidFill>
          <a:ln w="12700">
            <a:solidFill>
              <a:srgbClr val="E8EFF6"/>
            </a:solidFill>
            <a:prstDash val="solid"/>
          </a:ln>
        </p:spPr>
      </p:sp>
      <p:sp>
        <p:nvSpPr>
          <p:cNvPr id="101" name="Text 99"/>
          <p:cNvSpPr txBox="1"/>
          <p:nvPr/>
        </p:nvSpPr>
        <p:spPr>
          <a:xfrm>
            <a:off x="8223504" y="192481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20</a:t>
            </a:r>
            <a:endParaRPr lang="en-US" sz="1200" dirty="0"/>
          </a:p>
        </p:txBody>
      </p:sp>
      <p:sp>
        <p:nvSpPr>
          <p:cNvPr id="102" name="Text 100"/>
          <p:cNvSpPr txBox="1"/>
          <p:nvPr/>
        </p:nvSpPr>
        <p:spPr>
          <a:xfrm>
            <a:off x="8570976" y="1924812"/>
            <a:ext cx="2420112" cy="420624"/>
          </a:xfrm>
          <a:prstGeom prst="rect">
            <a:avLst/>
          </a:prstGeom>
          <a:noFill/>
          <a:ln/>
        </p:spPr>
        <p:txBody>
          <a:bodyPr wrap="square" lIns="0" tIns="0" rIns="0" bIns="0" rtlCol="0" anchor="ctr"/>
          <a:lstStyle/>
          <a:p>
            <a:pPr indent="0" marL="0">
              <a:buNone/>
            </a:pPr>
            <a:r>
              <a:rPr lang="en-US" sz="950" dirty="0">
                <a:solidFill>
                  <a:srgbClr val="9A6410"/>
                </a:solidFill>
                <a:latin typeface="Calibri" pitchFamily="34" charset="0"/>
                <a:ea typeface="Calibri" pitchFamily="34" charset="-122"/>
                <a:cs typeface="Calibri" pitchFamily="34" charset="-120"/>
              </a:rPr>
              <a:t>⧗ OASIS interoperability certification</a:t>
            </a:r>
            <a:endParaRPr lang="en-US" sz="950" dirty="0"/>
          </a:p>
        </p:txBody>
      </p:sp>
      <p:sp>
        <p:nvSpPr>
          <p:cNvPr id="103" name="Text 101"/>
          <p:cNvSpPr txBox="1"/>
          <p:nvPr/>
        </p:nvSpPr>
        <p:spPr>
          <a:xfrm>
            <a:off x="11027664" y="192481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+1</a:t>
            </a:r>
            <a:endParaRPr lang="en-US" sz="950" dirty="0"/>
          </a:p>
        </p:txBody>
      </p:sp>
      <p:sp>
        <p:nvSpPr>
          <p:cNvPr id="104" name="Shape 102"/>
          <p:cNvSpPr/>
          <p:nvPr/>
        </p:nvSpPr>
        <p:spPr>
          <a:xfrm>
            <a:off x="8077200" y="2404872"/>
            <a:ext cx="82296" cy="420624"/>
          </a:xfrm>
          <a:prstGeom prst="rect">
            <a:avLst/>
          </a:prstGeom>
          <a:solidFill>
            <a:srgbClr val="2E6DA4"/>
          </a:solidFill>
          <a:ln w="12700">
            <a:solidFill>
              <a:srgbClr val="2E6DA4"/>
            </a:solidFill>
            <a:prstDash val="solid"/>
          </a:ln>
        </p:spPr>
      </p:sp>
      <p:sp>
        <p:nvSpPr>
          <p:cNvPr id="105" name="Shape 103"/>
          <p:cNvSpPr/>
          <p:nvPr/>
        </p:nvSpPr>
        <p:spPr>
          <a:xfrm>
            <a:off x="8159496" y="2404872"/>
            <a:ext cx="3435096" cy="420624"/>
          </a:xfrm>
          <a:prstGeom prst="roundRect">
            <a:avLst>
              <a:gd name="adj" fmla="val 8696"/>
            </a:avLst>
          </a:prstGeom>
          <a:solidFill>
            <a:srgbClr val="E8EFF6"/>
          </a:solidFill>
          <a:ln w="12700">
            <a:solidFill>
              <a:srgbClr val="E8EFF6"/>
            </a:solidFill>
            <a:prstDash val="solid"/>
          </a:ln>
        </p:spPr>
      </p:sp>
      <p:sp>
        <p:nvSpPr>
          <p:cNvPr id="106" name="Text 104"/>
          <p:cNvSpPr txBox="1"/>
          <p:nvPr/>
        </p:nvSpPr>
        <p:spPr>
          <a:xfrm>
            <a:off x="8223504" y="240487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21</a:t>
            </a:r>
            <a:endParaRPr lang="en-US" sz="1200" dirty="0"/>
          </a:p>
        </p:txBody>
      </p:sp>
      <p:sp>
        <p:nvSpPr>
          <p:cNvPr id="107" name="Text 105"/>
          <p:cNvSpPr txBox="1"/>
          <p:nvPr/>
        </p:nvSpPr>
        <p:spPr>
          <a:xfrm>
            <a:off x="8570976" y="2404872"/>
            <a:ext cx="2420112" cy="420624"/>
          </a:xfrm>
          <a:prstGeom prst="rect">
            <a:avLst/>
          </a:prstGeom>
          <a:noFill/>
          <a:ln/>
        </p:spPr>
        <p:txBody>
          <a:bodyPr wrap="square" lIns="0" tIns="0" rIns="0" bIns="0" rtlCol="0" anchor="ctr"/>
          <a:lstStyle/>
          <a:p>
            <a:pPr indent="0" marL="0">
              <a:buNone/>
            </a:pPr>
            <a:r>
              <a:rPr lang="en-US" sz="950" dirty="0">
                <a:solidFill>
                  <a:srgbClr val="9A6410"/>
                </a:solidFill>
                <a:latin typeface="Calibri" pitchFamily="34" charset="0"/>
                <a:ea typeface="Calibri" pitchFamily="34" charset="-122"/>
                <a:cs typeface="Calibri" pitchFamily="34" charset="-120"/>
              </a:rPr>
              <a:t>⧗ Certificate authority integration</a:t>
            </a:r>
            <a:endParaRPr lang="en-US" sz="950" dirty="0"/>
          </a:p>
        </p:txBody>
      </p:sp>
      <p:sp>
        <p:nvSpPr>
          <p:cNvPr id="108" name="Text 106"/>
          <p:cNvSpPr txBox="1"/>
          <p:nvPr/>
        </p:nvSpPr>
        <p:spPr>
          <a:xfrm>
            <a:off x="11027664" y="240487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+1</a:t>
            </a:r>
            <a:endParaRPr lang="en-US" sz="950" dirty="0"/>
          </a:p>
        </p:txBody>
      </p:sp>
      <p:sp>
        <p:nvSpPr>
          <p:cNvPr id="109" name="Shape 107"/>
          <p:cNvSpPr/>
          <p:nvPr/>
        </p:nvSpPr>
        <p:spPr>
          <a:xfrm>
            <a:off x="8077200" y="2884932"/>
            <a:ext cx="82296" cy="420624"/>
          </a:xfrm>
          <a:prstGeom prst="rect">
            <a:avLst/>
          </a:prstGeom>
          <a:solidFill>
            <a:srgbClr val="2E6DA4"/>
          </a:solidFill>
          <a:ln w="12700">
            <a:solidFill>
              <a:srgbClr val="2E6DA4"/>
            </a:solidFill>
            <a:prstDash val="solid"/>
          </a:ln>
        </p:spPr>
      </p:sp>
      <p:sp>
        <p:nvSpPr>
          <p:cNvPr id="110" name="Shape 108"/>
          <p:cNvSpPr/>
          <p:nvPr/>
        </p:nvSpPr>
        <p:spPr>
          <a:xfrm>
            <a:off x="8159496" y="2884932"/>
            <a:ext cx="3435096" cy="420624"/>
          </a:xfrm>
          <a:prstGeom prst="roundRect">
            <a:avLst>
              <a:gd name="adj" fmla="val 8696"/>
            </a:avLst>
          </a:prstGeom>
          <a:solidFill>
            <a:srgbClr val="E8EFF6"/>
          </a:solidFill>
          <a:ln w="12700">
            <a:solidFill>
              <a:srgbClr val="E8EFF6"/>
            </a:solidFill>
            <a:prstDash val="solid"/>
          </a:ln>
        </p:spPr>
      </p:sp>
      <p:sp>
        <p:nvSpPr>
          <p:cNvPr id="111" name="Text 109"/>
          <p:cNvSpPr txBox="1"/>
          <p:nvPr/>
        </p:nvSpPr>
        <p:spPr>
          <a:xfrm>
            <a:off x="8223504" y="288493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22</a:t>
            </a:r>
            <a:endParaRPr lang="en-US" sz="1200" dirty="0"/>
          </a:p>
        </p:txBody>
      </p:sp>
      <p:sp>
        <p:nvSpPr>
          <p:cNvPr id="112" name="Text 110"/>
          <p:cNvSpPr txBox="1"/>
          <p:nvPr/>
        </p:nvSpPr>
        <p:spPr>
          <a:xfrm>
            <a:off x="8570976" y="2884932"/>
            <a:ext cx="2420112" cy="420624"/>
          </a:xfrm>
          <a:prstGeom prst="rect">
            <a:avLst/>
          </a:prstGeom>
          <a:noFill/>
          <a:ln/>
        </p:spPr>
        <p:txBody>
          <a:bodyPr wrap="square" lIns="0" tIns="0" rIns="0" bIns="0" rtlCol="0" anchor="ctr"/>
          <a:lstStyle/>
          <a:p>
            <a:pPr indent="0" marL="0">
              <a:buNone/>
            </a:pPr>
            <a:r>
              <a:rPr lang="en-US" sz="950" dirty="0">
                <a:solidFill>
                  <a:srgbClr val="9A6410"/>
                </a:solidFill>
                <a:latin typeface="Calibri" pitchFamily="34" charset="0"/>
                <a:ea typeface="Calibri" pitchFamily="34" charset="-122"/>
                <a:cs typeface="Calibri" pitchFamily="34" charset="-120"/>
              </a:rPr>
              <a:t>⧗ Secrets manager integration</a:t>
            </a:r>
            <a:endParaRPr lang="en-US" sz="950" dirty="0"/>
          </a:p>
        </p:txBody>
      </p:sp>
      <p:sp>
        <p:nvSpPr>
          <p:cNvPr id="113" name="Text 111"/>
          <p:cNvSpPr txBox="1"/>
          <p:nvPr/>
        </p:nvSpPr>
        <p:spPr>
          <a:xfrm>
            <a:off x="11027664" y="288493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+1</a:t>
            </a:r>
            <a:endParaRPr lang="en-US" sz="950" dirty="0"/>
          </a:p>
        </p:txBody>
      </p:sp>
      <p:sp>
        <p:nvSpPr>
          <p:cNvPr id="114" name="Shape 112"/>
          <p:cNvSpPr/>
          <p:nvPr/>
        </p:nvSpPr>
        <p:spPr>
          <a:xfrm>
            <a:off x="8077200" y="3364992"/>
            <a:ext cx="82296" cy="420624"/>
          </a:xfrm>
          <a:prstGeom prst="rect">
            <a:avLst/>
          </a:prstGeom>
          <a:solidFill>
            <a:srgbClr val="5A7184"/>
          </a:solidFill>
          <a:ln w="12700">
            <a:solidFill>
              <a:srgbClr val="5A7184"/>
            </a:solidFill>
            <a:prstDash val="solid"/>
          </a:ln>
        </p:spPr>
      </p:sp>
      <p:sp>
        <p:nvSpPr>
          <p:cNvPr id="115" name="Shape 113"/>
          <p:cNvSpPr/>
          <p:nvPr/>
        </p:nvSpPr>
        <p:spPr>
          <a:xfrm>
            <a:off x="8159496" y="3364992"/>
            <a:ext cx="3435096" cy="420624"/>
          </a:xfrm>
          <a:prstGeom prst="roundRect">
            <a:avLst>
              <a:gd name="adj" fmla="val 8696"/>
            </a:avLst>
          </a:prstGeom>
          <a:solidFill>
            <a:srgbClr val="E8EFF6"/>
          </a:solidFill>
          <a:ln w="12700">
            <a:solidFill>
              <a:srgbClr val="E8EFF6"/>
            </a:solidFill>
            <a:prstDash val="solid"/>
          </a:ln>
        </p:spPr>
      </p:sp>
      <p:sp>
        <p:nvSpPr>
          <p:cNvPr id="116" name="Text 114"/>
          <p:cNvSpPr txBox="1"/>
          <p:nvPr/>
        </p:nvSpPr>
        <p:spPr>
          <a:xfrm>
            <a:off x="8223504" y="336499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23</a:t>
            </a:r>
            <a:endParaRPr lang="en-US" sz="1200" dirty="0"/>
          </a:p>
        </p:txBody>
      </p:sp>
      <p:sp>
        <p:nvSpPr>
          <p:cNvPr id="117" name="Text 115"/>
          <p:cNvSpPr txBox="1"/>
          <p:nvPr/>
        </p:nvSpPr>
        <p:spPr>
          <a:xfrm>
            <a:off x="8570976" y="3364992"/>
            <a:ext cx="2420112" cy="420624"/>
          </a:xfrm>
          <a:prstGeom prst="rect">
            <a:avLst/>
          </a:prstGeom>
          <a:noFill/>
          <a:ln/>
        </p:spPr>
        <p:txBody>
          <a:bodyPr wrap="square" lIns="0" tIns="0" rIns="0" bIns="0" rtlCol="0" anchor="ctr"/>
          <a:lstStyle/>
          <a:p>
            <a:pPr indent="0" marL="0">
              <a:buNone/>
            </a:pPr>
            <a:r>
              <a:rPr lang="en-US" sz="950" dirty="0">
                <a:solidFill>
                  <a:srgbClr val="1A3A5C"/>
                </a:solidFill>
                <a:latin typeface="Calibri" pitchFamily="34" charset="0"/>
                <a:ea typeface="Calibri" pitchFamily="34" charset="-122"/>
                <a:cs typeface="Calibri" pitchFamily="34" charset="-120"/>
              </a:rPr>
              <a:t>KMIP 3.0</a:t>
            </a:r>
            <a:endParaRPr lang="en-US" sz="950" dirty="0"/>
          </a:p>
        </p:txBody>
      </p:sp>
      <p:sp>
        <p:nvSpPr>
          <p:cNvPr id="118" name="Text 116"/>
          <p:cNvSpPr txBox="1"/>
          <p:nvPr/>
        </p:nvSpPr>
        <p:spPr>
          <a:xfrm>
            <a:off x="11027664" y="336499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+1</a:t>
            </a:r>
            <a:endParaRPr lang="en-US" sz="950" dirty="0"/>
          </a:p>
        </p:txBody>
      </p:sp>
      <p:sp>
        <p:nvSpPr>
          <p:cNvPr id="119" name="Shape 117"/>
          <p:cNvSpPr/>
          <p:nvPr/>
        </p:nvSpPr>
        <p:spPr>
          <a:xfrm>
            <a:off x="8077200" y="3845052"/>
            <a:ext cx="82296" cy="420624"/>
          </a:xfrm>
          <a:prstGeom prst="rect">
            <a:avLst/>
          </a:prstGeom>
          <a:solidFill>
            <a:srgbClr val="5A7184"/>
          </a:solidFill>
          <a:ln w="12700">
            <a:solidFill>
              <a:srgbClr val="5A7184"/>
            </a:solidFill>
            <a:prstDash val="solid"/>
          </a:ln>
        </p:spPr>
      </p:sp>
      <p:sp>
        <p:nvSpPr>
          <p:cNvPr id="120" name="Shape 118"/>
          <p:cNvSpPr/>
          <p:nvPr/>
        </p:nvSpPr>
        <p:spPr>
          <a:xfrm>
            <a:off x="8159496" y="3845052"/>
            <a:ext cx="3435096" cy="420624"/>
          </a:xfrm>
          <a:prstGeom prst="roundRect">
            <a:avLst>
              <a:gd name="adj" fmla="val 8696"/>
            </a:avLst>
          </a:prstGeom>
          <a:solidFill>
            <a:srgbClr val="E8EFF6"/>
          </a:solidFill>
          <a:ln w="12700">
            <a:solidFill>
              <a:srgbClr val="E8EFF6"/>
            </a:solidFill>
            <a:prstDash val="solid"/>
          </a:ln>
        </p:spPr>
      </p:sp>
      <p:sp>
        <p:nvSpPr>
          <p:cNvPr id="121" name="Text 119"/>
          <p:cNvSpPr txBox="1"/>
          <p:nvPr/>
        </p:nvSpPr>
        <p:spPr>
          <a:xfrm>
            <a:off x="8223504" y="384505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24</a:t>
            </a:r>
            <a:endParaRPr lang="en-US" sz="1200" dirty="0"/>
          </a:p>
        </p:txBody>
      </p:sp>
      <p:sp>
        <p:nvSpPr>
          <p:cNvPr id="122" name="Text 120"/>
          <p:cNvSpPr txBox="1"/>
          <p:nvPr/>
        </p:nvSpPr>
        <p:spPr>
          <a:xfrm>
            <a:off x="8570976" y="3845052"/>
            <a:ext cx="2420112" cy="420624"/>
          </a:xfrm>
          <a:prstGeom prst="rect">
            <a:avLst/>
          </a:prstGeom>
          <a:noFill/>
          <a:ln/>
        </p:spPr>
        <p:txBody>
          <a:bodyPr wrap="square" lIns="0" tIns="0" rIns="0" bIns="0" rtlCol="0" anchor="ctr"/>
          <a:lstStyle/>
          <a:p>
            <a:pPr indent="0" marL="0">
              <a:buNone/>
            </a:pPr>
            <a:r>
              <a:rPr lang="en-US" sz="950" dirty="0">
                <a:solidFill>
                  <a:srgbClr val="9A6410"/>
                </a:solidFill>
                <a:latin typeface="Calibri" pitchFamily="34" charset="0"/>
                <a:ea typeface="Calibri" pitchFamily="34" charset="-122"/>
                <a:cs typeface="Calibri" pitchFamily="34" charset="-120"/>
              </a:rPr>
              <a:t>⧗ Post-quantum and full algorithm breadth</a:t>
            </a:r>
            <a:endParaRPr lang="en-US" sz="950" dirty="0"/>
          </a:p>
        </p:txBody>
      </p:sp>
      <p:sp>
        <p:nvSpPr>
          <p:cNvPr id="123" name="Text 121"/>
          <p:cNvSpPr txBox="1"/>
          <p:nvPr/>
        </p:nvSpPr>
        <p:spPr>
          <a:xfrm>
            <a:off x="11027664" y="384505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+2</a:t>
            </a:r>
            <a:endParaRPr lang="en-US" sz="950" dirty="0"/>
          </a:p>
        </p:txBody>
      </p:sp>
      <p:sp>
        <p:nvSpPr>
          <p:cNvPr id="124" name="Shape 122"/>
          <p:cNvSpPr/>
          <p:nvPr/>
        </p:nvSpPr>
        <p:spPr>
          <a:xfrm>
            <a:off x="8077200" y="4325112"/>
            <a:ext cx="82296" cy="420624"/>
          </a:xfrm>
          <a:prstGeom prst="rect">
            <a:avLst/>
          </a:prstGeom>
          <a:solidFill>
            <a:srgbClr val="6B8299"/>
          </a:solidFill>
          <a:ln w="12700">
            <a:solidFill>
              <a:srgbClr val="6B8299"/>
            </a:solidFill>
            <a:prstDash val="solid"/>
          </a:ln>
        </p:spPr>
      </p:sp>
      <p:sp>
        <p:nvSpPr>
          <p:cNvPr id="125" name="Shape 123"/>
          <p:cNvSpPr/>
          <p:nvPr/>
        </p:nvSpPr>
        <p:spPr>
          <a:xfrm>
            <a:off x="8159496" y="4325112"/>
            <a:ext cx="3435096" cy="420624"/>
          </a:xfrm>
          <a:prstGeom prst="roundRect">
            <a:avLst>
              <a:gd name="adj" fmla="val 8696"/>
            </a:avLst>
          </a:prstGeom>
          <a:solidFill>
            <a:srgbClr val="E8EFF6"/>
          </a:solidFill>
          <a:ln w="12700">
            <a:solidFill>
              <a:srgbClr val="E8EFF6"/>
            </a:solidFill>
            <a:prstDash val="solid"/>
          </a:ln>
        </p:spPr>
      </p:sp>
      <p:sp>
        <p:nvSpPr>
          <p:cNvPr id="126" name="Text 124"/>
          <p:cNvSpPr txBox="1"/>
          <p:nvPr/>
        </p:nvSpPr>
        <p:spPr>
          <a:xfrm>
            <a:off x="8223504" y="432511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25</a:t>
            </a:r>
            <a:endParaRPr lang="en-US" sz="1200" dirty="0"/>
          </a:p>
        </p:txBody>
      </p:sp>
      <p:sp>
        <p:nvSpPr>
          <p:cNvPr id="127" name="Text 125"/>
          <p:cNvSpPr txBox="1"/>
          <p:nvPr/>
        </p:nvSpPr>
        <p:spPr>
          <a:xfrm>
            <a:off x="8570976" y="4325112"/>
            <a:ext cx="2420112" cy="420624"/>
          </a:xfrm>
          <a:prstGeom prst="rect">
            <a:avLst/>
          </a:prstGeom>
          <a:noFill/>
          <a:ln/>
        </p:spPr>
        <p:txBody>
          <a:bodyPr wrap="square" lIns="0" tIns="0" rIns="0" bIns="0" rtlCol="0" anchor="ctr"/>
          <a:lstStyle/>
          <a:p>
            <a:pPr indent="0" marL="0">
              <a:buNone/>
            </a:pPr>
            <a:r>
              <a:rPr lang="en-US" sz="950" dirty="0">
                <a:solidFill>
                  <a:srgbClr val="9A6410"/>
                </a:solidFill>
                <a:latin typeface="Calibri" pitchFamily="34" charset="0"/>
                <a:ea typeface="Calibri" pitchFamily="34" charset="-122"/>
                <a:cs typeface="Calibri" pitchFamily="34" charset="-120"/>
              </a:rPr>
              <a:t>⧗ Validated hardware migration</a:t>
            </a:r>
            <a:endParaRPr lang="en-US" sz="950" dirty="0"/>
          </a:p>
        </p:txBody>
      </p:sp>
      <p:sp>
        <p:nvSpPr>
          <p:cNvPr id="128" name="Text 126"/>
          <p:cNvSpPr txBox="1"/>
          <p:nvPr/>
        </p:nvSpPr>
        <p:spPr>
          <a:xfrm>
            <a:off x="11027664" y="432511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+3</a:t>
            </a:r>
            <a:endParaRPr lang="en-US" sz="950" dirty="0"/>
          </a:p>
        </p:txBody>
      </p:sp>
      <p:sp>
        <p:nvSpPr>
          <p:cNvPr id="129" name="Shape 127"/>
          <p:cNvSpPr/>
          <p:nvPr/>
        </p:nvSpPr>
        <p:spPr>
          <a:xfrm>
            <a:off x="8077200" y="4805172"/>
            <a:ext cx="82296" cy="420624"/>
          </a:xfrm>
          <a:prstGeom prst="rect">
            <a:avLst/>
          </a:prstGeom>
          <a:solidFill>
            <a:srgbClr val="6B8299"/>
          </a:solidFill>
          <a:ln w="12700">
            <a:solidFill>
              <a:srgbClr val="6B8299"/>
            </a:solidFill>
            <a:prstDash val="solid"/>
          </a:ln>
        </p:spPr>
      </p:sp>
      <p:sp>
        <p:nvSpPr>
          <p:cNvPr id="130" name="Shape 128"/>
          <p:cNvSpPr/>
          <p:nvPr/>
        </p:nvSpPr>
        <p:spPr>
          <a:xfrm>
            <a:off x="8159496" y="4805172"/>
            <a:ext cx="3435096" cy="420624"/>
          </a:xfrm>
          <a:prstGeom prst="roundRect">
            <a:avLst>
              <a:gd name="adj" fmla="val 8696"/>
            </a:avLst>
          </a:prstGeom>
          <a:solidFill>
            <a:srgbClr val="E8EFF6"/>
          </a:solidFill>
          <a:ln w="12700">
            <a:solidFill>
              <a:srgbClr val="E8EFF6"/>
            </a:solidFill>
            <a:prstDash val="solid"/>
          </a:ln>
        </p:spPr>
      </p:sp>
      <p:sp>
        <p:nvSpPr>
          <p:cNvPr id="131" name="Text 129"/>
          <p:cNvSpPr txBox="1"/>
          <p:nvPr/>
        </p:nvSpPr>
        <p:spPr>
          <a:xfrm>
            <a:off x="8223504" y="4805172"/>
            <a:ext cx="310896" cy="420624"/>
          </a:xfrm>
          <a:prstGeom prst="rect">
            <a:avLst/>
          </a:prstGeom>
          <a:noFill/>
          <a:ln/>
        </p:spPr>
        <p:txBody>
          <a:bodyPr wrap="square" lIns="0" tIns="0" rIns="0" bIns="0" rtlCol="0" anchor="ctr"/>
          <a:lstStyle/>
          <a:p>
            <a:pPr indent="0" marL="0">
              <a:buNone/>
            </a:pPr>
            <a:r>
              <a:rPr lang="en-US" sz="1200" b="1" dirty="0">
                <a:solidFill>
                  <a:srgbClr val="C8952B"/>
                </a:solidFill>
                <a:latin typeface="Cambria" pitchFamily="34" charset="0"/>
                <a:ea typeface="Cambria" pitchFamily="34" charset="-122"/>
                <a:cs typeface="Cambria" pitchFamily="34" charset="-120"/>
              </a:rPr>
              <a:t>26</a:t>
            </a:r>
            <a:endParaRPr lang="en-US" sz="1200" dirty="0"/>
          </a:p>
        </p:txBody>
      </p:sp>
      <p:sp>
        <p:nvSpPr>
          <p:cNvPr id="132" name="Text 130"/>
          <p:cNvSpPr txBox="1"/>
          <p:nvPr/>
        </p:nvSpPr>
        <p:spPr>
          <a:xfrm>
            <a:off x="8570976" y="4805172"/>
            <a:ext cx="2420112" cy="420624"/>
          </a:xfrm>
          <a:prstGeom prst="rect">
            <a:avLst/>
          </a:prstGeom>
          <a:noFill/>
          <a:ln/>
        </p:spPr>
        <p:txBody>
          <a:bodyPr wrap="square" lIns="0" tIns="0" rIns="0" bIns="0" rtlCol="0" anchor="ctr"/>
          <a:lstStyle/>
          <a:p>
            <a:pPr indent="0" marL="0">
              <a:buNone/>
            </a:pPr>
            <a:r>
              <a:rPr lang="en-US" sz="950" dirty="0">
                <a:solidFill>
                  <a:srgbClr val="9A6410"/>
                </a:solidFill>
                <a:latin typeface="Calibri" pitchFamily="34" charset="0"/>
                <a:ea typeface="Calibri" pitchFamily="34" charset="-122"/>
                <a:cs typeface="Calibri" pitchFamily="34" charset="-120"/>
              </a:rPr>
              <a:t>⧗ Confidential computing deployment</a:t>
            </a:r>
            <a:endParaRPr lang="en-US" sz="950" dirty="0"/>
          </a:p>
        </p:txBody>
      </p:sp>
      <p:sp>
        <p:nvSpPr>
          <p:cNvPr id="133" name="Text 131"/>
          <p:cNvSpPr txBox="1"/>
          <p:nvPr/>
        </p:nvSpPr>
        <p:spPr>
          <a:xfrm>
            <a:off x="11027664" y="4805172"/>
            <a:ext cx="420624" cy="420624"/>
          </a:xfrm>
          <a:prstGeom prst="rect">
            <a:avLst/>
          </a:prstGeom>
          <a:noFill/>
          <a:ln/>
        </p:spPr>
        <p:txBody>
          <a:bodyPr wrap="square" lIns="0" tIns="0" rIns="0" bIns="0" rtlCol="0" anchor="ctr"/>
          <a:lstStyle/>
          <a:p>
            <a:pPr algn="r" indent="0" marL="0">
              <a:buNone/>
            </a:pPr>
            <a:r>
              <a:rPr lang="en-US" sz="950" b="1" dirty="0">
                <a:solidFill>
                  <a:srgbClr val="1F7A43"/>
                </a:solidFill>
                <a:latin typeface="Calibri" pitchFamily="34" charset="0"/>
                <a:ea typeface="Calibri" pitchFamily="34" charset="-122"/>
                <a:cs typeface="Calibri" pitchFamily="34" charset="-120"/>
              </a:rPr>
              <a:t>+1</a:t>
            </a:r>
            <a:endParaRPr lang="en-US" sz="950" dirty="0"/>
          </a:p>
        </p:txBody>
      </p:sp>
      <p:sp>
        <p:nvSpPr>
          <p:cNvPr id="134" name="Text 132"/>
          <p:cNvSpPr txBox="1"/>
          <p:nvPr/>
        </p:nvSpPr>
        <p:spPr>
          <a:xfrm>
            <a:off x="566928" y="6135624"/>
            <a:ext cx="11027664" cy="466344"/>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A Foundation   ·   B The REST control plane   ·   C Enterprise fit   ·   D Scale, availability and tenancy   ·   E Protocol and estate reach   ·   F Cloud and application reach   ·   G Interoperability and adjacent products   ·   H Protocol 3.0 and post-quantum   ·   I Assurance on real hardware</a:t>
            </a:r>
            <a:endParaRPr lang="en-US" sz="1000" dirty="0"/>
          </a:p>
          <a:p>
            <a:pPr indent="0" marL="0">
              <a:buNone/>
            </a:pPr>
            <a:r>
              <a:rPr lang="en-US" sz="1000" i="1" dirty="0">
                <a:solidFill>
                  <a:srgbClr val="7B8794"/>
                </a:solidFill>
                <a:latin typeface="Calibri" pitchFamily="34" charset="0"/>
                <a:ea typeface="Calibri" pitchFamily="34" charset="-122"/>
                <a:cs typeface="Calibri" pitchFamily="34" charset="-120"/>
              </a:rPr>
              <a:t>+n is the gap-matrix features that step closes.  ⧗ marks a step that cannot start until something outside this project happens.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the plan waits on</a:t>
            </a:r>
            <a:endParaRPr lang="en-US" sz="3400" dirty="0"/>
          </a:p>
        </p:txBody>
      </p:sp>
      <p:sp>
        <p:nvSpPr>
          <p:cNvPr id="4" name="Shape 2"/>
          <p:cNvSpPr/>
          <p:nvPr/>
        </p:nvSpPr>
        <p:spPr>
          <a:xfrm>
            <a:off x="566928" y="1481328"/>
            <a:ext cx="493776" cy="493776"/>
          </a:xfrm>
          <a:prstGeom prst="roundRect">
            <a:avLst>
              <a:gd name="adj" fmla="val 11111"/>
            </a:avLst>
          </a:prstGeom>
          <a:solidFill>
            <a:srgbClr val="C8952B"/>
          </a:solidFill>
          <a:ln w="12700">
            <a:solidFill>
              <a:srgbClr val="C8952B"/>
            </a:solidFill>
            <a:prstDash val="solid"/>
          </a:ln>
        </p:spPr>
      </p:sp>
      <p:sp>
        <p:nvSpPr>
          <p:cNvPr id="5" name="Text 3"/>
          <p:cNvSpPr txBox="1"/>
          <p:nvPr/>
        </p:nvSpPr>
        <p:spPr>
          <a:xfrm>
            <a:off x="566928" y="1481328"/>
            <a:ext cx="493776" cy="493776"/>
          </a:xfrm>
          <a:prstGeom prst="rect">
            <a:avLst/>
          </a:prstGeom>
          <a:noFill/>
          <a:ln/>
        </p:spPr>
        <p:txBody>
          <a:bodyPr wrap="square" lIns="0" tIns="0" rIns="0" bIns="0" rtlCol="0" anchor="ctr"/>
          <a:lstStyle/>
          <a:p>
            <a:pPr algn="ctr" indent="0" marL="0">
              <a:buNone/>
            </a:pPr>
            <a:r>
              <a:rPr lang="en-US" sz="1600" b="1" dirty="0">
                <a:solidFill>
                  <a:srgbClr val="102437"/>
                </a:solidFill>
                <a:latin typeface="Cambria" pitchFamily="34" charset="0"/>
                <a:ea typeface="Cambria" pitchFamily="34" charset="-122"/>
                <a:cs typeface="Cambria" pitchFamily="34" charset="-120"/>
              </a:rPr>
              <a:t>19</a:t>
            </a:r>
            <a:endParaRPr lang="en-US" sz="1600" dirty="0"/>
          </a:p>
        </p:txBody>
      </p:sp>
      <p:sp>
        <p:nvSpPr>
          <p:cNvPr id="6" name="Text 4"/>
          <p:cNvSpPr txBox="1"/>
          <p:nvPr/>
        </p:nvSpPr>
        <p:spPr>
          <a:xfrm>
            <a:off x="1207008" y="1444752"/>
            <a:ext cx="4754880" cy="256032"/>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Vendor interoperability validation</a:t>
            </a:r>
            <a:endParaRPr lang="en-US" sz="1300" dirty="0"/>
          </a:p>
        </p:txBody>
      </p:sp>
      <p:sp>
        <p:nvSpPr>
          <p:cNvPr id="7" name="Text 5"/>
          <p:cNvSpPr txBox="1"/>
          <p:nvPr/>
        </p:nvSpPr>
        <p:spPr>
          <a:xfrm>
            <a:off x="1207008" y="1700784"/>
            <a:ext cx="4754880" cy="530352"/>
          </a:xfrm>
          <a:prstGeom prst="rect">
            <a:avLst/>
          </a:prstGeom>
          <a:noFill/>
          <a:ln/>
        </p:spPr>
        <p:txBody>
          <a:bodyPr wrap="square" lIns="0" tIns="0" rIns="0" bIns="0" rtlCol="0" anchor="ctr"/>
          <a:lstStyle/>
          <a:p>
            <a:pPr indent="0" marL="0">
              <a:lnSpc>
                <a:spcPts val="1250"/>
              </a:lnSpc>
              <a:buNone/>
            </a:pPr>
            <a:r>
              <a:rPr lang="en-US" sz="1000" dirty="0">
                <a:solidFill>
                  <a:srgbClr val="9DB8D4"/>
                </a:solidFill>
                <a:latin typeface="Calibri" pitchFamily="34" charset="0"/>
                <a:ea typeface="Calibri" pitchFamily="34" charset="-122"/>
                <a:cs typeface="Calibri" pitchFamily="34" charset="-120"/>
              </a:rPr>
              <a:t>Licences for, or access to, the vendor products being validated.</a:t>
            </a:r>
            <a:endParaRPr lang="en-US" sz="1000" dirty="0"/>
          </a:p>
        </p:txBody>
      </p:sp>
      <p:sp>
        <p:nvSpPr>
          <p:cNvPr id="8" name="Shape 6"/>
          <p:cNvSpPr/>
          <p:nvPr/>
        </p:nvSpPr>
        <p:spPr>
          <a:xfrm>
            <a:off x="566928" y="2286000"/>
            <a:ext cx="493776" cy="493776"/>
          </a:xfrm>
          <a:prstGeom prst="roundRect">
            <a:avLst>
              <a:gd name="adj" fmla="val 11111"/>
            </a:avLst>
          </a:prstGeom>
          <a:solidFill>
            <a:srgbClr val="C8952B"/>
          </a:solidFill>
          <a:ln w="12700">
            <a:solidFill>
              <a:srgbClr val="C8952B"/>
            </a:solidFill>
            <a:prstDash val="solid"/>
          </a:ln>
        </p:spPr>
      </p:sp>
      <p:sp>
        <p:nvSpPr>
          <p:cNvPr id="9" name="Text 7"/>
          <p:cNvSpPr txBox="1"/>
          <p:nvPr/>
        </p:nvSpPr>
        <p:spPr>
          <a:xfrm>
            <a:off x="566928" y="2286000"/>
            <a:ext cx="493776" cy="493776"/>
          </a:xfrm>
          <a:prstGeom prst="rect">
            <a:avLst/>
          </a:prstGeom>
          <a:noFill/>
          <a:ln/>
        </p:spPr>
        <p:txBody>
          <a:bodyPr wrap="square" lIns="0" tIns="0" rIns="0" bIns="0" rtlCol="0" anchor="ctr"/>
          <a:lstStyle/>
          <a:p>
            <a:pPr algn="ctr" indent="0" marL="0">
              <a:buNone/>
            </a:pPr>
            <a:r>
              <a:rPr lang="en-US" sz="1600" b="1" dirty="0">
                <a:solidFill>
                  <a:srgbClr val="102437"/>
                </a:solidFill>
                <a:latin typeface="Cambria" pitchFamily="34" charset="0"/>
                <a:ea typeface="Cambria" pitchFamily="34" charset="-122"/>
                <a:cs typeface="Cambria" pitchFamily="34" charset="-120"/>
              </a:rPr>
              <a:t>20</a:t>
            </a:r>
            <a:endParaRPr lang="en-US" sz="1600" dirty="0"/>
          </a:p>
        </p:txBody>
      </p:sp>
      <p:sp>
        <p:nvSpPr>
          <p:cNvPr id="10" name="Text 8"/>
          <p:cNvSpPr txBox="1"/>
          <p:nvPr/>
        </p:nvSpPr>
        <p:spPr>
          <a:xfrm>
            <a:off x="1207008" y="2249424"/>
            <a:ext cx="4754880" cy="256032"/>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OASIS interoperability certification</a:t>
            </a:r>
            <a:endParaRPr lang="en-US" sz="1300" dirty="0"/>
          </a:p>
        </p:txBody>
      </p:sp>
      <p:sp>
        <p:nvSpPr>
          <p:cNvPr id="11" name="Text 9"/>
          <p:cNvSpPr txBox="1"/>
          <p:nvPr/>
        </p:nvSpPr>
        <p:spPr>
          <a:xfrm>
            <a:off x="1207008" y="2505456"/>
            <a:ext cx="4754880" cy="530352"/>
          </a:xfrm>
          <a:prstGeom prst="rect">
            <a:avLst/>
          </a:prstGeom>
          <a:noFill/>
          <a:ln/>
        </p:spPr>
        <p:txBody>
          <a:bodyPr wrap="square" lIns="0" tIns="0" rIns="0" bIns="0" rtlCol="0" anchor="ctr"/>
          <a:lstStyle/>
          <a:p>
            <a:pPr indent="0" marL="0">
              <a:lnSpc>
                <a:spcPts val="1250"/>
              </a:lnSpc>
              <a:buNone/>
            </a:pPr>
            <a:r>
              <a:rPr lang="en-US" sz="1000" dirty="0">
                <a:solidFill>
                  <a:srgbClr val="9DB8D4"/>
                </a:solidFill>
                <a:latin typeface="Calibri" pitchFamily="34" charset="0"/>
                <a:ea typeface="Calibri" pitchFamily="34" charset="-122"/>
                <a:cs typeface="Calibri" pitchFamily="34" charset="-120"/>
              </a:rPr>
              <a:t>An OASIS interoperability event, and other implementations to test against.</a:t>
            </a:r>
            <a:endParaRPr lang="en-US" sz="1000" dirty="0"/>
          </a:p>
        </p:txBody>
      </p:sp>
      <p:sp>
        <p:nvSpPr>
          <p:cNvPr id="12" name="Shape 10"/>
          <p:cNvSpPr/>
          <p:nvPr/>
        </p:nvSpPr>
        <p:spPr>
          <a:xfrm>
            <a:off x="566928" y="3090672"/>
            <a:ext cx="493776" cy="493776"/>
          </a:xfrm>
          <a:prstGeom prst="roundRect">
            <a:avLst>
              <a:gd name="adj" fmla="val 11111"/>
            </a:avLst>
          </a:prstGeom>
          <a:solidFill>
            <a:srgbClr val="C8952B"/>
          </a:solidFill>
          <a:ln w="12700">
            <a:solidFill>
              <a:srgbClr val="C8952B"/>
            </a:solidFill>
            <a:prstDash val="solid"/>
          </a:ln>
        </p:spPr>
      </p:sp>
      <p:sp>
        <p:nvSpPr>
          <p:cNvPr id="13" name="Text 11"/>
          <p:cNvSpPr txBox="1"/>
          <p:nvPr/>
        </p:nvSpPr>
        <p:spPr>
          <a:xfrm>
            <a:off x="566928" y="3090672"/>
            <a:ext cx="493776" cy="493776"/>
          </a:xfrm>
          <a:prstGeom prst="rect">
            <a:avLst/>
          </a:prstGeom>
          <a:noFill/>
          <a:ln/>
        </p:spPr>
        <p:txBody>
          <a:bodyPr wrap="square" lIns="0" tIns="0" rIns="0" bIns="0" rtlCol="0" anchor="ctr"/>
          <a:lstStyle/>
          <a:p>
            <a:pPr algn="ctr" indent="0" marL="0">
              <a:buNone/>
            </a:pPr>
            <a:r>
              <a:rPr lang="en-US" sz="1600" b="1" dirty="0">
                <a:solidFill>
                  <a:srgbClr val="102437"/>
                </a:solidFill>
                <a:latin typeface="Cambria" pitchFamily="34" charset="0"/>
                <a:ea typeface="Cambria" pitchFamily="34" charset="-122"/>
                <a:cs typeface="Cambria" pitchFamily="34" charset="-120"/>
              </a:rPr>
              <a:t>21</a:t>
            </a:r>
            <a:endParaRPr lang="en-US" sz="1600" dirty="0"/>
          </a:p>
        </p:txBody>
      </p:sp>
      <p:sp>
        <p:nvSpPr>
          <p:cNvPr id="14" name="Text 12"/>
          <p:cNvSpPr txBox="1"/>
          <p:nvPr/>
        </p:nvSpPr>
        <p:spPr>
          <a:xfrm>
            <a:off x="1207008" y="3054096"/>
            <a:ext cx="4754880" cy="256032"/>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Certificate authority integration</a:t>
            </a:r>
            <a:endParaRPr lang="en-US" sz="1300" dirty="0"/>
          </a:p>
        </p:txBody>
      </p:sp>
      <p:sp>
        <p:nvSpPr>
          <p:cNvPr id="15" name="Text 13"/>
          <p:cNvSpPr txBox="1"/>
          <p:nvPr/>
        </p:nvSpPr>
        <p:spPr>
          <a:xfrm>
            <a:off x="1207008" y="3310128"/>
            <a:ext cx="4754880" cy="530352"/>
          </a:xfrm>
          <a:prstGeom prst="rect">
            <a:avLst/>
          </a:prstGeom>
          <a:noFill/>
          <a:ln/>
        </p:spPr>
        <p:txBody>
          <a:bodyPr wrap="square" lIns="0" tIns="0" rIns="0" bIns="0" rtlCol="0" anchor="ctr"/>
          <a:lstStyle/>
          <a:p>
            <a:pPr indent="0" marL="0">
              <a:lnSpc>
                <a:spcPts val="1250"/>
              </a:lnSpc>
              <a:buNone/>
            </a:pPr>
            <a:r>
              <a:rPr lang="en-US" sz="1000" dirty="0">
                <a:solidFill>
                  <a:srgbClr val="9DB8D4"/>
                </a:solidFill>
                <a:latin typeface="Calibri" pitchFamily="34" charset="0"/>
                <a:ea typeface="Calibri" pitchFamily="34" charset="-122"/>
                <a:cs typeface="Calibri" pitchFamily="34" charset="-120"/>
              </a:rPr>
              <a:t>A deployed certificate authority — EJBCA or equivalent.</a:t>
            </a:r>
            <a:endParaRPr lang="en-US" sz="1000" dirty="0"/>
          </a:p>
        </p:txBody>
      </p:sp>
      <p:sp>
        <p:nvSpPr>
          <p:cNvPr id="16" name="Shape 14"/>
          <p:cNvSpPr/>
          <p:nvPr/>
        </p:nvSpPr>
        <p:spPr>
          <a:xfrm>
            <a:off x="566928" y="3895344"/>
            <a:ext cx="493776" cy="493776"/>
          </a:xfrm>
          <a:prstGeom prst="roundRect">
            <a:avLst>
              <a:gd name="adj" fmla="val 11111"/>
            </a:avLst>
          </a:prstGeom>
          <a:solidFill>
            <a:srgbClr val="C8952B"/>
          </a:solidFill>
          <a:ln w="12700">
            <a:solidFill>
              <a:srgbClr val="C8952B"/>
            </a:solidFill>
            <a:prstDash val="solid"/>
          </a:ln>
        </p:spPr>
      </p:sp>
      <p:sp>
        <p:nvSpPr>
          <p:cNvPr id="17" name="Text 15"/>
          <p:cNvSpPr txBox="1"/>
          <p:nvPr/>
        </p:nvSpPr>
        <p:spPr>
          <a:xfrm>
            <a:off x="566928" y="3895344"/>
            <a:ext cx="493776" cy="493776"/>
          </a:xfrm>
          <a:prstGeom prst="rect">
            <a:avLst/>
          </a:prstGeom>
          <a:noFill/>
          <a:ln/>
        </p:spPr>
        <p:txBody>
          <a:bodyPr wrap="square" lIns="0" tIns="0" rIns="0" bIns="0" rtlCol="0" anchor="ctr"/>
          <a:lstStyle/>
          <a:p>
            <a:pPr algn="ctr" indent="0" marL="0">
              <a:buNone/>
            </a:pPr>
            <a:r>
              <a:rPr lang="en-US" sz="1600" b="1" dirty="0">
                <a:solidFill>
                  <a:srgbClr val="102437"/>
                </a:solidFill>
                <a:latin typeface="Cambria" pitchFamily="34" charset="0"/>
                <a:ea typeface="Cambria" pitchFamily="34" charset="-122"/>
                <a:cs typeface="Cambria" pitchFamily="34" charset="-120"/>
              </a:rPr>
              <a:t>22</a:t>
            </a:r>
            <a:endParaRPr lang="en-US" sz="1600" dirty="0"/>
          </a:p>
        </p:txBody>
      </p:sp>
      <p:sp>
        <p:nvSpPr>
          <p:cNvPr id="18" name="Text 16"/>
          <p:cNvSpPr txBox="1"/>
          <p:nvPr/>
        </p:nvSpPr>
        <p:spPr>
          <a:xfrm>
            <a:off x="1207008" y="3858768"/>
            <a:ext cx="4754880" cy="256032"/>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Secrets manager integration</a:t>
            </a:r>
            <a:endParaRPr lang="en-US" sz="1300" dirty="0"/>
          </a:p>
        </p:txBody>
      </p:sp>
      <p:sp>
        <p:nvSpPr>
          <p:cNvPr id="19" name="Text 17"/>
          <p:cNvSpPr txBox="1"/>
          <p:nvPr/>
        </p:nvSpPr>
        <p:spPr>
          <a:xfrm>
            <a:off x="1207008" y="4114800"/>
            <a:ext cx="4754880" cy="530352"/>
          </a:xfrm>
          <a:prstGeom prst="rect">
            <a:avLst/>
          </a:prstGeom>
          <a:noFill/>
          <a:ln/>
        </p:spPr>
        <p:txBody>
          <a:bodyPr wrap="square" lIns="0" tIns="0" rIns="0" bIns="0" rtlCol="0" anchor="ctr"/>
          <a:lstStyle/>
          <a:p>
            <a:pPr indent="0" marL="0">
              <a:lnSpc>
                <a:spcPts val="1250"/>
              </a:lnSpc>
              <a:buNone/>
            </a:pPr>
            <a:r>
              <a:rPr lang="en-US" sz="1000" dirty="0">
                <a:solidFill>
                  <a:srgbClr val="9DB8D4"/>
                </a:solidFill>
                <a:latin typeface="Calibri" pitchFamily="34" charset="0"/>
                <a:ea typeface="Calibri" pitchFamily="34" charset="-122"/>
                <a:cs typeface="Calibri" pitchFamily="34" charset="-120"/>
              </a:rPr>
              <a:t>A deployed secrets manager to integrate with.</a:t>
            </a:r>
            <a:endParaRPr lang="en-US" sz="1000" dirty="0"/>
          </a:p>
        </p:txBody>
      </p:sp>
      <p:sp>
        <p:nvSpPr>
          <p:cNvPr id="20" name="Shape 18"/>
          <p:cNvSpPr/>
          <p:nvPr/>
        </p:nvSpPr>
        <p:spPr>
          <a:xfrm>
            <a:off x="6199632" y="1481328"/>
            <a:ext cx="493776" cy="493776"/>
          </a:xfrm>
          <a:prstGeom prst="roundRect">
            <a:avLst>
              <a:gd name="adj" fmla="val 11111"/>
            </a:avLst>
          </a:prstGeom>
          <a:solidFill>
            <a:srgbClr val="C8952B"/>
          </a:solidFill>
          <a:ln w="12700">
            <a:solidFill>
              <a:srgbClr val="C8952B"/>
            </a:solidFill>
            <a:prstDash val="solid"/>
          </a:ln>
        </p:spPr>
      </p:sp>
      <p:sp>
        <p:nvSpPr>
          <p:cNvPr id="21" name="Text 19"/>
          <p:cNvSpPr txBox="1"/>
          <p:nvPr/>
        </p:nvSpPr>
        <p:spPr>
          <a:xfrm>
            <a:off x="6199632" y="1481328"/>
            <a:ext cx="493776" cy="493776"/>
          </a:xfrm>
          <a:prstGeom prst="rect">
            <a:avLst/>
          </a:prstGeom>
          <a:noFill/>
          <a:ln/>
        </p:spPr>
        <p:txBody>
          <a:bodyPr wrap="square" lIns="0" tIns="0" rIns="0" bIns="0" rtlCol="0" anchor="ctr"/>
          <a:lstStyle/>
          <a:p>
            <a:pPr algn="ctr" indent="0" marL="0">
              <a:buNone/>
            </a:pPr>
            <a:r>
              <a:rPr lang="en-US" sz="1600" b="1" dirty="0">
                <a:solidFill>
                  <a:srgbClr val="102437"/>
                </a:solidFill>
                <a:latin typeface="Cambria" pitchFamily="34" charset="0"/>
                <a:ea typeface="Cambria" pitchFamily="34" charset="-122"/>
                <a:cs typeface="Cambria" pitchFamily="34" charset="-120"/>
              </a:rPr>
              <a:t>24</a:t>
            </a:r>
            <a:endParaRPr lang="en-US" sz="1600" dirty="0"/>
          </a:p>
        </p:txBody>
      </p:sp>
      <p:sp>
        <p:nvSpPr>
          <p:cNvPr id="22" name="Text 20"/>
          <p:cNvSpPr txBox="1"/>
          <p:nvPr/>
        </p:nvSpPr>
        <p:spPr>
          <a:xfrm>
            <a:off x="6839712" y="1444752"/>
            <a:ext cx="4754880" cy="256032"/>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Post-quantum and full algorithm breadth</a:t>
            </a:r>
            <a:endParaRPr lang="en-US" sz="1300" dirty="0"/>
          </a:p>
        </p:txBody>
      </p:sp>
      <p:sp>
        <p:nvSpPr>
          <p:cNvPr id="23" name="Text 21"/>
          <p:cNvSpPr txBox="1"/>
          <p:nvPr/>
        </p:nvSpPr>
        <p:spPr>
          <a:xfrm>
            <a:off x="6839712" y="1700784"/>
            <a:ext cx="4754880" cy="530352"/>
          </a:xfrm>
          <a:prstGeom prst="rect">
            <a:avLst/>
          </a:prstGeom>
          <a:noFill/>
          <a:ln/>
        </p:spPr>
        <p:txBody>
          <a:bodyPr wrap="square" lIns="0" tIns="0" rIns="0" bIns="0" rtlCol="0" anchor="ctr"/>
          <a:lstStyle/>
          <a:p>
            <a:pPr indent="0" marL="0">
              <a:lnSpc>
                <a:spcPts val="1250"/>
              </a:lnSpc>
              <a:buNone/>
            </a:pPr>
            <a:r>
              <a:rPr lang="en-US" sz="1000" dirty="0">
                <a:solidFill>
                  <a:srgbClr val="9DB8D4"/>
                </a:solidFill>
                <a:latin typeface="Calibri" pitchFamily="34" charset="0"/>
                <a:ea typeface="Calibri" pitchFamily="34" charset="-122"/>
                <a:cs typeface="Calibri" pitchFamily="34" charset="-120"/>
              </a:rPr>
              <a:t>A PKCS#11 token implementing ML-KEM, ML-DSA and SLH-DSA. SoftHSM's work on these is in the development tree, not in any release.</a:t>
            </a:r>
            <a:endParaRPr lang="en-US" sz="1000" dirty="0"/>
          </a:p>
        </p:txBody>
      </p:sp>
      <p:sp>
        <p:nvSpPr>
          <p:cNvPr id="24" name="Shape 22"/>
          <p:cNvSpPr/>
          <p:nvPr/>
        </p:nvSpPr>
        <p:spPr>
          <a:xfrm>
            <a:off x="6199632" y="2286000"/>
            <a:ext cx="493776" cy="493776"/>
          </a:xfrm>
          <a:prstGeom prst="roundRect">
            <a:avLst>
              <a:gd name="adj" fmla="val 11111"/>
            </a:avLst>
          </a:prstGeom>
          <a:solidFill>
            <a:srgbClr val="C8952B"/>
          </a:solidFill>
          <a:ln w="12700">
            <a:solidFill>
              <a:srgbClr val="C8952B"/>
            </a:solidFill>
            <a:prstDash val="solid"/>
          </a:ln>
        </p:spPr>
      </p:sp>
      <p:sp>
        <p:nvSpPr>
          <p:cNvPr id="25" name="Text 23"/>
          <p:cNvSpPr txBox="1"/>
          <p:nvPr/>
        </p:nvSpPr>
        <p:spPr>
          <a:xfrm>
            <a:off x="6199632" y="2286000"/>
            <a:ext cx="493776" cy="493776"/>
          </a:xfrm>
          <a:prstGeom prst="rect">
            <a:avLst/>
          </a:prstGeom>
          <a:noFill/>
          <a:ln/>
        </p:spPr>
        <p:txBody>
          <a:bodyPr wrap="square" lIns="0" tIns="0" rIns="0" bIns="0" rtlCol="0" anchor="ctr"/>
          <a:lstStyle/>
          <a:p>
            <a:pPr algn="ctr" indent="0" marL="0">
              <a:buNone/>
            </a:pPr>
            <a:r>
              <a:rPr lang="en-US" sz="1600" b="1" dirty="0">
                <a:solidFill>
                  <a:srgbClr val="102437"/>
                </a:solidFill>
                <a:latin typeface="Cambria" pitchFamily="34" charset="0"/>
                <a:ea typeface="Cambria" pitchFamily="34" charset="-122"/>
                <a:cs typeface="Cambria" pitchFamily="34" charset="-120"/>
              </a:rPr>
              <a:t>25</a:t>
            </a:r>
            <a:endParaRPr lang="en-US" sz="1600" dirty="0"/>
          </a:p>
        </p:txBody>
      </p:sp>
      <p:sp>
        <p:nvSpPr>
          <p:cNvPr id="26" name="Text 24"/>
          <p:cNvSpPr txBox="1"/>
          <p:nvPr/>
        </p:nvSpPr>
        <p:spPr>
          <a:xfrm>
            <a:off x="6839712" y="2249424"/>
            <a:ext cx="4754880" cy="256032"/>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Validated hardware migration</a:t>
            </a:r>
            <a:endParaRPr lang="en-US" sz="1300" dirty="0"/>
          </a:p>
        </p:txBody>
      </p:sp>
      <p:sp>
        <p:nvSpPr>
          <p:cNvPr id="27" name="Text 25"/>
          <p:cNvSpPr txBox="1"/>
          <p:nvPr/>
        </p:nvSpPr>
        <p:spPr>
          <a:xfrm>
            <a:off x="6839712" y="2505456"/>
            <a:ext cx="4754880" cy="530352"/>
          </a:xfrm>
          <a:prstGeom prst="rect">
            <a:avLst/>
          </a:prstGeom>
          <a:noFill/>
          <a:ln/>
        </p:spPr>
        <p:txBody>
          <a:bodyPr wrap="square" lIns="0" tIns="0" rIns="0" bIns="0" rtlCol="0" anchor="ctr"/>
          <a:lstStyle/>
          <a:p>
            <a:pPr indent="0" marL="0">
              <a:lnSpc>
                <a:spcPts val="1250"/>
              </a:lnSpc>
              <a:buNone/>
            </a:pPr>
            <a:r>
              <a:rPr lang="en-US" sz="1000" dirty="0">
                <a:solidFill>
                  <a:srgbClr val="9DB8D4"/>
                </a:solidFill>
                <a:latin typeface="Calibri" pitchFamily="34" charset="0"/>
                <a:ea typeface="Calibri" pitchFamily="34" charset="-122"/>
                <a:cs typeface="Calibri" pitchFamily="34" charset="-120"/>
              </a:rPr>
              <a:t>A FIPS 140-3 and Common Criteria validated HSM, ideally one supporting key-bound approval policy.</a:t>
            </a:r>
            <a:endParaRPr lang="en-US" sz="1000" dirty="0"/>
          </a:p>
        </p:txBody>
      </p:sp>
      <p:sp>
        <p:nvSpPr>
          <p:cNvPr id="28" name="Shape 26"/>
          <p:cNvSpPr/>
          <p:nvPr/>
        </p:nvSpPr>
        <p:spPr>
          <a:xfrm>
            <a:off x="6199632" y="3090672"/>
            <a:ext cx="493776" cy="493776"/>
          </a:xfrm>
          <a:prstGeom prst="roundRect">
            <a:avLst>
              <a:gd name="adj" fmla="val 11111"/>
            </a:avLst>
          </a:prstGeom>
          <a:solidFill>
            <a:srgbClr val="C8952B"/>
          </a:solidFill>
          <a:ln w="12700">
            <a:solidFill>
              <a:srgbClr val="C8952B"/>
            </a:solidFill>
            <a:prstDash val="solid"/>
          </a:ln>
        </p:spPr>
      </p:sp>
      <p:sp>
        <p:nvSpPr>
          <p:cNvPr id="29" name="Text 27"/>
          <p:cNvSpPr txBox="1"/>
          <p:nvPr/>
        </p:nvSpPr>
        <p:spPr>
          <a:xfrm>
            <a:off x="6199632" y="3090672"/>
            <a:ext cx="493776" cy="493776"/>
          </a:xfrm>
          <a:prstGeom prst="rect">
            <a:avLst/>
          </a:prstGeom>
          <a:noFill/>
          <a:ln/>
        </p:spPr>
        <p:txBody>
          <a:bodyPr wrap="square" lIns="0" tIns="0" rIns="0" bIns="0" rtlCol="0" anchor="ctr"/>
          <a:lstStyle/>
          <a:p>
            <a:pPr algn="ctr" indent="0" marL="0">
              <a:buNone/>
            </a:pPr>
            <a:r>
              <a:rPr lang="en-US" sz="1600" b="1" dirty="0">
                <a:solidFill>
                  <a:srgbClr val="102437"/>
                </a:solidFill>
                <a:latin typeface="Cambria" pitchFamily="34" charset="0"/>
                <a:ea typeface="Cambria" pitchFamily="34" charset="-122"/>
                <a:cs typeface="Cambria" pitchFamily="34" charset="-120"/>
              </a:rPr>
              <a:t>26</a:t>
            </a:r>
            <a:endParaRPr lang="en-US" sz="1600" dirty="0"/>
          </a:p>
        </p:txBody>
      </p:sp>
      <p:sp>
        <p:nvSpPr>
          <p:cNvPr id="30" name="Text 28"/>
          <p:cNvSpPr txBox="1"/>
          <p:nvPr/>
        </p:nvSpPr>
        <p:spPr>
          <a:xfrm>
            <a:off x="6839712" y="3054096"/>
            <a:ext cx="4754880" cy="256032"/>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Confidential computing deployment</a:t>
            </a:r>
            <a:endParaRPr lang="en-US" sz="1300" dirty="0"/>
          </a:p>
        </p:txBody>
      </p:sp>
      <p:sp>
        <p:nvSpPr>
          <p:cNvPr id="31" name="Text 29"/>
          <p:cNvSpPr txBox="1"/>
          <p:nvPr/>
        </p:nvSpPr>
        <p:spPr>
          <a:xfrm>
            <a:off x="6839712" y="3310128"/>
            <a:ext cx="4754880" cy="530352"/>
          </a:xfrm>
          <a:prstGeom prst="rect">
            <a:avLst/>
          </a:prstGeom>
          <a:noFill/>
          <a:ln/>
        </p:spPr>
        <p:txBody>
          <a:bodyPr wrap="square" lIns="0" tIns="0" rIns="0" bIns="0" rtlCol="0" anchor="ctr"/>
          <a:lstStyle/>
          <a:p>
            <a:pPr indent="0" marL="0">
              <a:lnSpc>
                <a:spcPts val="1250"/>
              </a:lnSpc>
              <a:buNone/>
            </a:pPr>
            <a:r>
              <a:rPr lang="en-US" sz="1000" dirty="0">
                <a:solidFill>
                  <a:srgbClr val="9DB8D4"/>
                </a:solidFill>
                <a:latin typeface="Calibri" pitchFamily="34" charset="0"/>
                <a:ea typeface="Calibri" pitchFamily="34" charset="-122"/>
                <a:cs typeface="Calibri" pitchFamily="34" charset="-120"/>
              </a:rPr>
              <a:t>A confidential-computing platform with remote attestation.</a:t>
            </a:r>
            <a:endParaRPr lang="en-US" sz="1000" dirty="0"/>
          </a:p>
        </p:txBody>
      </p:sp>
      <p:sp>
        <p:nvSpPr>
          <p:cNvPr id="32" name="Shape 30"/>
          <p:cNvSpPr/>
          <p:nvPr/>
        </p:nvSpPr>
        <p:spPr>
          <a:xfrm>
            <a:off x="566928" y="5175504"/>
            <a:ext cx="11027664" cy="1097280"/>
          </a:xfrm>
          <a:prstGeom prst="roundRect">
            <a:avLst>
              <a:gd name="adj" fmla="val 5000"/>
            </a:avLst>
          </a:prstGeom>
          <a:solidFill>
            <a:srgbClr val="1B3350"/>
          </a:solidFill>
          <a:ln w="12700">
            <a:solidFill>
              <a:srgbClr val="2A4A6B"/>
            </a:solidFill>
            <a:prstDash val="solid"/>
          </a:ln>
        </p:spPr>
      </p:sp>
      <p:sp>
        <p:nvSpPr>
          <p:cNvPr id="33" name="Text 31"/>
          <p:cNvSpPr txBox="1"/>
          <p:nvPr/>
        </p:nvSpPr>
        <p:spPr>
          <a:xfrm>
            <a:off x="841248" y="5175504"/>
            <a:ext cx="10479024" cy="1097280"/>
          </a:xfrm>
          <a:prstGeom prst="rect">
            <a:avLst/>
          </a:prstGeom>
          <a:noFill/>
          <a:ln/>
        </p:spPr>
        <p:txBody>
          <a:bodyPr wrap="square" lIns="0" tIns="0" rIns="0" bIns="0" rtlCol="0" anchor="ctr"/>
          <a:lstStyle/>
          <a:p>
            <a:pPr indent="0" marL="0">
              <a:lnSpc>
                <a:spcPts val="1800"/>
              </a:lnSpc>
              <a:buNone/>
            </a:pPr>
            <a:r>
              <a:rPr lang="en-US" sz="1250" i="1" dirty="0">
                <a:solidFill>
                  <a:srgbClr val="FFFFFF"/>
                </a:solidFill>
                <a:latin typeface="Cambria" pitchFamily="34" charset="0"/>
                <a:ea typeface="Cambria" pitchFamily="34" charset="-122"/>
                <a:cs typeface="Cambria" pitchFamily="34" charset="-120"/>
              </a:rPr>
              <a:t>Every one of the 50 open features now has a step — none is deferred. That is not the same as a plan that can be executed end to end: 7 of 26 steps wait on hardware to buy, a product to deploy, or an event somebody else runs. Two are worth a second look — validated hardware is the largest security gain here and among the smallest in code, and post-quantum needs only a capable token, because the capability probe already gates on what the token advertises.</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KMIP on PKCS#11</dc:title>
  <dc:subject>PptxGenJS Presentation</dc:subject>
  <dc:creator>kmip_pkcs11</dc:creator>
  <cp:lastModifiedBy>kmip_pkcs11</cp:lastModifiedBy>
  <cp:revision>1</cp:revision>
  <dcterms:created xsi:type="dcterms:W3CDTF">2026-09-12T17:54:15Z</dcterms:created>
  <dcterms:modified xsi:type="dcterms:W3CDTF">2026-09-12T17:54:15Z</dcterms:modified>
</cp:coreProperties>
</file>