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red five are engineering we could start tomorrow — except the fifth, which is a reason to prefer a token that binds policy to the key. The amber three are trade-offs with known costs. The blue two depend on suppliers rather than on us. The last two red and amber cards came from reading Securosys and HashiCorp Vault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assessed features, 50 short of full coverage; these 14 steps close 34. 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to insist on. It ships no feature and removes the risk that every later endpoint quietly bypasses dual control. If the plan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features stay open after step 14. The ones listed here are product decisions; the rest wait on a supplier, a procurement decision, an OASIS event or hardware this project cannot verify. Close on the discipline rather than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REST API or console</a:t>
            </a:r>
            <a:endParaRPr lang="en-US" sz="1300" dirty="0"/>
          </a:p>
        </p:txBody>
      </p:sp>
      <p:sp>
        <p:nvSpPr>
          <p:cNvPr id="6" name="Text 4"/>
          <p:cNvSpPr txBox="1"/>
          <p:nvPr/>
        </p:nvSpPr>
        <p:spPr>
          <a:xfrm>
            <a:off x="80467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Reporting, the console, self-service and encryption as a service are all clients of it.</a:t>
            </a:r>
            <a:endParaRPr lang="en-US" sz="1100" dirty="0"/>
          </a:p>
        </p:txBody>
      </p:sp>
      <p:sp>
        <p:nvSpPr>
          <p:cNvPr id="7" name="Shape 5"/>
          <p:cNvSpPr/>
          <p:nvPr/>
        </p:nvSpPr>
        <p:spPr>
          <a:xfrm>
            <a:off x="2814523"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052267"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multi-tenancy</a:t>
            </a:r>
            <a:endParaRPr lang="en-US" sz="1300" dirty="0"/>
          </a:p>
        </p:txBody>
      </p:sp>
      <p:sp>
        <p:nvSpPr>
          <p:cNvPr id="9" name="Text 7"/>
          <p:cNvSpPr txBox="1"/>
          <p:nvPr/>
        </p:nvSpPr>
        <p:spPr>
          <a:xfrm>
            <a:off x="3052267"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Names, searches, quotas and audit are global. Isolation means one deployment per tenant.</a:t>
            </a:r>
            <a:endParaRPr lang="en-US" sz="1100" dirty="0"/>
          </a:p>
        </p:txBody>
      </p:sp>
      <p:sp>
        <p:nvSpPr>
          <p:cNvPr id="10" name="Shape 8"/>
          <p:cNvSpPr/>
          <p:nvPr/>
        </p:nvSpPr>
        <p:spPr>
          <a:xfrm>
            <a:off x="506211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529986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SQLite only</a:t>
            </a:r>
            <a:endParaRPr lang="en-US" sz="1300" dirty="0"/>
          </a:p>
        </p:txBody>
      </p:sp>
      <p:sp>
        <p:nvSpPr>
          <p:cNvPr id="12" name="Text 10"/>
          <p:cNvSpPr txBox="1"/>
          <p:nvPr/>
        </p:nvSpPr>
        <p:spPr>
          <a:xfrm>
            <a:off x="529986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No clustering, replication or DR — the storage engine blocks them, not the protocol.</a:t>
            </a:r>
            <a:endParaRPr lang="en-US" sz="1100" dirty="0"/>
          </a:p>
        </p:txBody>
      </p:sp>
      <p:sp>
        <p:nvSpPr>
          <p:cNvPr id="13" name="Shape 11"/>
          <p:cNvSpPr/>
          <p:nvPr/>
        </p:nvSpPr>
        <p:spPr>
          <a:xfrm>
            <a:off x="7309714"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7547458"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rate limiting</a:t>
            </a:r>
            <a:endParaRPr lang="en-US" sz="1300" dirty="0"/>
          </a:p>
        </p:txBody>
      </p:sp>
      <p:sp>
        <p:nvSpPr>
          <p:cNvPr id="15" name="Text 13"/>
          <p:cNvSpPr txBox="1"/>
          <p:nvPr/>
        </p:nvSpPr>
        <p:spPr>
          <a:xfrm>
            <a:off x="7547458"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listener takes a backlog of 16 with no throttle. Flagged in the first review.</a:t>
            </a:r>
            <a:endParaRPr lang="en-US" sz="1100" dirty="0"/>
          </a:p>
        </p:txBody>
      </p:sp>
      <p:sp>
        <p:nvSpPr>
          <p:cNvPr id="16" name="Shape 14"/>
          <p:cNvSpPr/>
          <p:nvPr/>
        </p:nvSpPr>
        <p:spPr>
          <a:xfrm>
            <a:off x="9557309"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9795053"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Policy lives in the server</a:t>
            </a:r>
            <a:endParaRPr lang="en-US" sz="1300" dirty="0"/>
          </a:p>
        </p:txBody>
      </p:sp>
      <p:sp>
        <p:nvSpPr>
          <p:cNvPr id="18" name="Text 16"/>
          <p:cNvSpPr txBox="1"/>
          <p:nvPr/>
        </p:nvSpPr>
        <p:spPr>
          <a:xfrm>
            <a:off x="9795053"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Dual control is enforced here, not inside the token. Own the server and you own the policy.</a:t>
            </a:r>
            <a:endParaRPr lang="en-US" sz="1100" dirty="0"/>
          </a:p>
        </p:txBody>
      </p:sp>
      <p:sp>
        <p:nvSpPr>
          <p:cNvPr id="19" name="Shape 17"/>
          <p:cNvSpPr/>
          <p:nvPr/>
        </p:nvSpPr>
        <p:spPr>
          <a:xfrm>
            <a:off x="56692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Scaling stops at ~1.5×</a:t>
            </a:r>
            <a:endParaRPr lang="en-US" sz="1300" dirty="0"/>
          </a:p>
        </p:txBody>
      </p:sp>
      <p:sp>
        <p:nvSpPr>
          <p:cNvPr id="21" name="Text 19"/>
          <p:cNvSpPr txBox="1"/>
          <p:nvPr/>
        </p:nvSpPr>
        <p:spPr>
          <a:xfrm>
            <a:off x="80467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Pre-fork workers help, but every audited operation serialises on one write lock.</a:t>
            </a:r>
            <a:endParaRPr lang="en-US" sz="1100" dirty="0"/>
          </a:p>
        </p:txBody>
      </p:sp>
      <p:sp>
        <p:nvSpPr>
          <p:cNvPr id="22" name="Shape 20"/>
          <p:cNvSpPr/>
          <p:nvPr/>
        </p:nvSpPr>
        <p:spPr>
          <a:xfrm>
            <a:off x="2814523"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3052267"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No SIEM export or anchor</a:t>
            </a:r>
            <a:endParaRPr lang="en-US" sz="1300" dirty="0"/>
          </a:p>
        </p:txBody>
      </p:sp>
      <p:sp>
        <p:nvSpPr>
          <p:cNvPr id="24" name="Text 22"/>
          <p:cNvSpPr txBox="1"/>
          <p:nvPr/>
        </p:nvSpPr>
        <p:spPr>
          <a:xfrm>
            <a:off x="3052267"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00" dirty="0"/>
          </a:p>
        </p:txBody>
      </p:sp>
      <p:sp>
        <p:nvSpPr>
          <p:cNvPr id="25" name="Shape 23"/>
          <p:cNvSpPr/>
          <p:nvPr/>
        </p:nvSpPr>
        <p:spPr>
          <a:xfrm>
            <a:off x="506211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529986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Starts unsealed by one PIN</a:t>
            </a:r>
            <a:endParaRPr lang="en-US" sz="1300" dirty="0"/>
          </a:p>
        </p:txBody>
      </p:sp>
      <p:sp>
        <p:nvSpPr>
          <p:cNvPr id="27" name="Text 25"/>
          <p:cNvSpPr txBox="1"/>
          <p:nvPr/>
        </p:nvSpPr>
        <p:spPr>
          <a:xfrm>
            <a:off x="529986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store needs the token, so a stolen database is inert. But one PIN holder is the ceremony.</a:t>
            </a:r>
            <a:endParaRPr lang="en-US" sz="1100" dirty="0"/>
          </a:p>
        </p:txBody>
      </p:sp>
      <p:sp>
        <p:nvSpPr>
          <p:cNvPr id="28" name="Shape 26"/>
          <p:cNvSpPr/>
          <p:nvPr/>
        </p:nvSpPr>
        <p:spPr>
          <a:xfrm>
            <a:off x="7309714"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7547458"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Not FIPS or CC validated</a:t>
            </a:r>
            <a:endParaRPr lang="en-US" sz="1300" dirty="0"/>
          </a:p>
        </p:txBody>
      </p:sp>
      <p:sp>
        <p:nvSpPr>
          <p:cNvPr id="30" name="Text 28"/>
          <p:cNvSpPr txBox="1"/>
          <p:nvPr/>
        </p:nvSpPr>
        <p:spPr>
          <a:xfrm>
            <a:off x="7547458"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00" dirty="0"/>
          </a:p>
        </p:txBody>
      </p:sp>
      <p:sp>
        <p:nvSpPr>
          <p:cNvPr id="31" name="Shape 29"/>
          <p:cNvSpPr/>
          <p:nvPr/>
        </p:nvSpPr>
        <p:spPr>
          <a:xfrm>
            <a:off x="9557309"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9795053"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 post-quantum</a:t>
            </a:r>
            <a:endParaRPr lang="en-US" sz="1300" dirty="0"/>
          </a:p>
        </p:txBody>
      </p:sp>
      <p:sp>
        <p:nvSpPr>
          <p:cNvPr id="33" name="Text 31"/>
          <p:cNvSpPr txBox="1"/>
          <p:nvPr/>
        </p:nvSpPr>
        <p:spPr>
          <a:xfrm>
            <a:off x="9795053"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Needs both a PQC token and KMIP 3.0. Neither has shipped in a release.</a:t>
            </a:r>
            <a:endParaRPr lang="en-US" sz="1100" dirty="0"/>
          </a:p>
        </p:txBody>
      </p:sp>
      <p:sp>
        <p:nvSpPr>
          <p:cNvPr id="34" name="Text 32"/>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5 stages, in dependency order</a:t>
            </a:r>
            <a:endParaRPr lang="en-US" sz="3400" dirty="0"/>
          </a:p>
        </p:txBody>
      </p:sp>
      <p:sp>
        <p:nvSpPr>
          <p:cNvPr id="4" name="Shape 2"/>
          <p:cNvSpPr/>
          <p:nvPr/>
        </p:nvSpPr>
        <p:spPr>
          <a:xfrm>
            <a:off x="566928" y="1591056"/>
            <a:ext cx="1975104" cy="2084832"/>
          </a:xfrm>
          <a:prstGeom prst="roundRect">
            <a:avLst>
              <a:gd name="adj" fmla="val 2778"/>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A</a:t>
            </a:r>
            <a:endParaRPr lang="en-US" sz="3400" dirty="0"/>
          </a:p>
        </p:txBody>
      </p:sp>
      <p:sp>
        <p:nvSpPr>
          <p:cNvPr id="6" name="Text 4"/>
          <p:cNvSpPr txBox="1"/>
          <p:nvPr/>
        </p:nvSpPr>
        <p:spPr>
          <a:xfrm>
            <a:off x="64008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Foundation</a:t>
            </a:r>
            <a:endParaRPr lang="en-US" sz="1300" dirty="0"/>
          </a:p>
        </p:txBody>
      </p:sp>
      <p:sp>
        <p:nvSpPr>
          <p:cNvPr id="7" name="Text 5"/>
          <p:cNvSpPr txBox="1"/>
          <p:nvPr/>
        </p:nvSpPr>
        <p:spPr>
          <a:xfrm>
            <a:off x="62179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1–2 · closes 2</a:t>
            </a:r>
            <a:endParaRPr lang="en-US" sz="1000" dirty="0"/>
          </a:p>
        </p:txBody>
      </p:sp>
      <p:sp>
        <p:nvSpPr>
          <p:cNvPr id="8" name="Text 6"/>
          <p:cNvSpPr txBox="1"/>
          <p:nvPr/>
        </p:nvSpPr>
        <p:spPr>
          <a:xfrm>
            <a:off x="69494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No new attack surface. Makes the rest safe to build.</a:t>
            </a:r>
            <a:endParaRPr lang="en-US" sz="900" dirty="0"/>
          </a:p>
        </p:txBody>
      </p:sp>
      <p:sp>
        <p:nvSpPr>
          <p:cNvPr id="9" name="Shape 7"/>
          <p:cNvSpPr/>
          <p:nvPr/>
        </p:nvSpPr>
        <p:spPr>
          <a:xfrm>
            <a:off x="2578608" y="2551176"/>
            <a:ext cx="214884" cy="164592"/>
          </a:xfrm>
          <a:prstGeom prst="rightArrow">
            <a:avLst/>
          </a:prstGeom>
          <a:solidFill>
            <a:srgbClr val="2E6DA4"/>
          </a:solidFill>
          <a:ln w="12700">
            <a:solidFill>
              <a:srgbClr val="2E6DA4"/>
            </a:solidFill>
            <a:prstDash val="solid"/>
          </a:ln>
        </p:spPr>
      </p:sp>
      <p:sp>
        <p:nvSpPr>
          <p:cNvPr id="10" name="Shape 8"/>
          <p:cNvSpPr/>
          <p:nvPr/>
        </p:nvSpPr>
        <p:spPr>
          <a:xfrm>
            <a:off x="2830068" y="1591056"/>
            <a:ext cx="1975104" cy="2084832"/>
          </a:xfrm>
          <a:prstGeom prst="roundRect">
            <a:avLst>
              <a:gd name="adj" fmla="val 2778"/>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283006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B</a:t>
            </a:r>
            <a:endParaRPr lang="en-US" sz="3400" dirty="0"/>
          </a:p>
        </p:txBody>
      </p:sp>
      <p:sp>
        <p:nvSpPr>
          <p:cNvPr id="12" name="Text 10"/>
          <p:cNvSpPr txBox="1"/>
          <p:nvPr/>
        </p:nvSpPr>
        <p:spPr>
          <a:xfrm>
            <a:off x="290322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The REST control plane</a:t>
            </a:r>
            <a:endParaRPr lang="en-US" sz="1300" dirty="0"/>
          </a:p>
        </p:txBody>
      </p:sp>
      <p:sp>
        <p:nvSpPr>
          <p:cNvPr id="13" name="Text 11"/>
          <p:cNvSpPr txBox="1"/>
          <p:nvPr/>
        </p:nvSpPr>
        <p:spPr>
          <a:xfrm>
            <a:off x="288493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3–7 · closes 12</a:t>
            </a:r>
            <a:endParaRPr lang="en-US" sz="1000" dirty="0"/>
          </a:p>
        </p:txBody>
      </p:sp>
      <p:sp>
        <p:nvSpPr>
          <p:cNvPr id="14" name="Text 12"/>
          <p:cNvSpPr txBox="1"/>
          <p:nvPr/>
        </p:nvSpPr>
        <p:spPr>
          <a:xfrm>
            <a:off x="295808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The API, then the console that uses it.</a:t>
            </a:r>
            <a:endParaRPr lang="en-US" sz="900" dirty="0"/>
          </a:p>
        </p:txBody>
      </p:sp>
      <p:sp>
        <p:nvSpPr>
          <p:cNvPr id="15" name="Shape 13"/>
          <p:cNvSpPr/>
          <p:nvPr/>
        </p:nvSpPr>
        <p:spPr>
          <a:xfrm>
            <a:off x="4841748" y="2551176"/>
            <a:ext cx="214884" cy="164592"/>
          </a:xfrm>
          <a:prstGeom prst="rightArrow">
            <a:avLst/>
          </a:prstGeom>
          <a:solidFill>
            <a:srgbClr val="2E6DA4"/>
          </a:solidFill>
          <a:ln w="12700">
            <a:solidFill>
              <a:srgbClr val="2E6DA4"/>
            </a:solidFill>
            <a:prstDash val="solid"/>
          </a:ln>
        </p:spPr>
      </p:sp>
      <p:sp>
        <p:nvSpPr>
          <p:cNvPr id="16" name="Shape 14"/>
          <p:cNvSpPr/>
          <p:nvPr/>
        </p:nvSpPr>
        <p:spPr>
          <a:xfrm>
            <a:off x="5093208" y="1591056"/>
            <a:ext cx="1975104" cy="2084832"/>
          </a:xfrm>
          <a:prstGeom prst="roundRect">
            <a:avLst>
              <a:gd name="adj" fmla="val 2778"/>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509320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C</a:t>
            </a:r>
            <a:endParaRPr lang="en-US" sz="3400" dirty="0"/>
          </a:p>
        </p:txBody>
      </p:sp>
      <p:sp>
        <p:nvSpPr>
          <p:cNvPr id="18" name="Text 16"/>
          <p:cNvSpPr txBox="1"/>
          <p:nvPr/>
        </p:nvSpPr>
        <p:spPr>
          <a:xfrm>
            <a:off x="516636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Enterprise fit</a:t>
            </a:r>
            <a:endParaRPr lang="en-US" sz="1300" dirty="0"/>
          </a:p>
        </p:txBody>
      </p:sp>
      <p:sp>
        <p:nvSpPr>
          <p:cNvPr id="19" name="Text 17"/>
          <p:cNvSpPr txBox="1"/>
          <p:nvPr/>
        </p:nvSpPr>
        <p:spPr>
          <a:xfrm>
            <a:off x="514807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8–9 · closes 9</a:t>
            </a:r>
            <a:endParaRPr lang="en-US" sz="1000" dirty="0"/>
          </a:p>
        </p:txBody>
      </p:sp>
      <p:sp>
        <p:nvSpPr>
          <p:cNvPr id="20" name="Text 18"/>
          <p:cNvSpPr txBox="1"/>
          <p:nvPr/>
        </p:nvSpPr>
        <p:spPr>
          <a:xfrm>
            <a:off x="522122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What an auditor and a security team ask for.</a:t>
            </a:r>
            <a:endParaRPr lang="en-US" sz="900" dirty="0"/>
          </a:p>
        </p:txBody>
      </p:sp>
      <p:sp>
        <p:nvSpPr>
          <p:cNvPr id="21" name="Shape 19"/>
          <p:cNvSpPr/>
          <p:nvPr/>
        </p:nvSpPr>
        <p:spPr>
          <a:xfrm>
            <a:off x="7104888" y="2551176"/>
            <a:ext cx="214884" cy="164592"/>
          </a:xfrm>
          <a:prstGeom prst="rightArrow">
            <a:avLst/>
          </a:prstGeom>
          <a:solidFill>
            <a:srgbClr val="2E6DA4"/>
          </a:solidFill>
          <a:ln w="12700">
            <a:solidFill>
              <a:srgbClr val="2E6DA4"/>
            </a:solidFill>
            <a:prstDash val="solid"/>
          </a:ln>
        </p:spPr>
      </p:sp>
      <p:sp>
        <p:nvSpPr>
          <p:cNvPr id="22" name="Shape 20"/>
          <p:cNvSpPr/>
          <p:nvPr/>
        </p:nvSpPr>
        <p:spPr>
          <a:xfrm>
            <a:off x="7356348" y="1591056"/>
            <a:ext cx="1975104" cy="2084832"/>
          </a:xfrm>
          <a:prstGeom prst="roundRect">
            <a:avLst>
              <a:gd name="adj" fmla="val 2778"/>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735634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D</a:t>
            </a:r>
            <a:endParaRPr lang="en-US" sz="3400" dirty="0"/>
          </a:p>
        </p:txBody>
      </p:sp>
      <p:sp>
        <p:nvSpPr>
          <p:cNvPr id="24" name="Text 22"/>
          <p:cNvSpPr txBox="1"/>
          <p:nvPr/>
        </p:nvSpPr>
        <p:spPr>
          <a:xfrm>
            <a:off x="742950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Scale, availability and tenancy</a:t>
            </a:r>
            <a:endParaRPr lang="en-US" sz="1300" dirty="0"/>
          </a:p>
        </p:txBody>
      </p:sp>
      <p:sp>
        <p:nvSpPr>
          <p:cNvPr id="25" name="Text 23"/>
          <p:cNvSpPr txBox="1"/>
          <p:nvPr/>
        </p:nvSpPr>
        <p:spPr>
          <a:xfrm>
            <a:off x="741121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10–12 · closes 9</a:t>
            </a:r>
            <a:endParaRPr lang="en-US" sz="1000" dirty="0"/>
          </a:p>
        </p:txBody>
      </p:sp>
      <p:sp>
        <p:nvSpPr>
          <p:cNvPr id="26" name="Text 24"/>
          <p:cNvSpPr txBox="1"/>
          <p:nvPr/>
        </p:nvSpPr>
        <p:spPr>
          <a:xfrm>
            <a:off x="748436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Needs infrastructure to verify.</a:t>
            </a:r>
            <a:endParaRPr lang="en-US" sz="900" dirty="0"/>
          </a:p>
        </p:txBody>
      </p:sp>
      <p:sp>
        <p:nvSpPr>
          <p:cNvPr id="27" name="Shape 25"/>
          <p:cNvSpPr/>
          <p:nvPr/>
        </p:nvSpPr>
        <p:spPr>
          <a:xfrm>
            <a:off x="9368028" y="2551176"/>
            <a:ext cx="214884" cy="164592"/>
          </a:xfrm>
          <a:prstGeom prst="rightArrow">
            <a:avLst/>
          </a:prstGeom>
          <a:solidFill>
            <a:srgbClr val="2E6DA4"/>
          </a:solidFill>
          <a:ln w="12700">
            <a:solidFill>
              <a:srgbClr val="2E6DA4"/>
            </a:solidFill>
            <a:prstDash val="solid"/>
          </a:ln>
        </p:spPr>
      </p:sp>
      <p:sp>
        <p:nvSpPr>
          <p:cNvPr id="28" name="Shape 26"/>
          <p:cNvSpPr/>
          <p:nvPr/>
        </p:nvSpPr>
        <p:spPr>
          <a:xfrm>
            <a:off x="9619488" y="1591056"/>
            <a:ext cx="1975104" cy="2084832"/>
          </a:xfrm>
          <a:prstGeom prst="roundRect">
            <a:avLst>
              <a:gd name="adj" fmla="val 2778"/>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9619488"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E</a:t>
            </a:r>
            <a:endParaRPr lang="en-US" sz="3400" dirty="0"/>
          </a:p>
        </p:txBody>
      </p:sp>
      <p:sp>
        <p:nvSpPr>
          <p:cNvPr id="30" name="Text 28"/>
          <p:cNvSpPr txBox="1"/>
          <p:nvPr/>
        </p:nvSpPr>
        <p:spPr>
          <a:xfrm>
            <a:off x="9692640" y="2304288"/>
            <a:ext cx="1828800" cy="442468"/>
          </a:xfrm>
          <a:prstGeom prst="rect">
            <a:avLst/>
          </a:prstGeom>
          <a:noFill/>
          <a:ln/>
        </p:spPr>
        <p:txBody>
          <a:bodyPr wrap="square" lIns="0" tIns="0" rIns="0" bIns="0" rtlCol="0" anchor="ctr"/>
          <a:lstStyle/>
          <a:p>
            <a:pPr algn="ctr" indent="0" marL="0">
              <a:buNone/>
            </a:pPr>
            <a:r>
              <a:rPr lang="en-US" sz="1300" b="1" dirty="0">
                <a:solidFill>
                  <a:srgbClr val="102437"/>
                </a:solidFill>
                <a:latin typeface="Cambria" pitchFamily="34" charset="0"/>
                <a:ea typeface="Cambria" pitchFamily="34" charset="-122"/>
                <a:cs typeface="Cambria" pitchFamily="34" charset="-120"/>
              </a:rPr>
              <a:t>Protocol and estate reach</a:t>
            </a:r>
            <a:endParaRPr lang="en-US" sz="1300" dirty="0"/>
          </a:p>
        </p:txBody>
      </p:sp>
      <p:sp>
        <p:nvSpPr>
          <p:cNvPr id="31" name="Text 29"/>
          <p:cNvSpPr txBox="1"/>
          <p:nvPr/>
        </p:nvSpPr>
        <p:spPr>
          <a:xfrm>
            <a:off x="9674352" y="2801620"/>
            <a:ext cx="1865376" cy="182880"/>
          </a:xfrm>
          <a:prstGeom prst="rect">
            <a:avLst/>
          </a:prstGeom>
          <a:noFill/>
          <a:ln/>
        </p:spPr>
        <p:txBody>
          <a:bodyPr wrap="square" lIns="0" tIns="0" rIns="0" bIns="0" rtlCol="0" anchor="ctr"/>
          <a:lstStyle/>
          <a:p>
            <a:pPr algn="ctr" indent="0" marL="0">
              <a:buNone/>
            </a:pPr>
            <a:r>
              <a:rPr lang="en-US" sz="1000" b="1" dirty="0">
                <a:solidFill>
                  <a:srgbClr val="6B5218"/>
                </a:solidFill>
                <a:latin typeface="Calibri" pitchFamily="34" charset="0"/>
                <a:ea typeface="Calibri" pitchFamily="34" charset="-122"/>
                <a:cs typeface="Calibri" pitchFamily="34" charset="-120"/>
              </a:rPr>
              <a:t>Steps 13–14 · closes 2</a:t>
            </a:r>
            <a:endParaRPr lang="en-US" sz="1000" dirty="0"/>
          </a:p>
        </p:txBody>
      </p:sp>
      <p:sp>
        <p:nvSpPr>
          <p:cNvPr id="32" name="Text 30"/>
          <p:cNvSpPr txBox="1"/>
          <p:nvPr/>
        </p:nvSpPr>
        <p:spPr>
          <a:xfrm>
            <a:off x="974750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4A3A18"/>
                </a:solidFill>
                <a:latin typeface="Calibri" pitchFamily="34" charset="0"/>
                <a:ea typeface="Calibri" pitchFamily="34" charset="-122"/>
                <a:cs typeface="Calibri" pitchFamily="34" charset="-120"/>
              </a:rPr>
              <a:t>Additive, independent of D, verifiable here.</a:t>
            </a:r>
            <a:endParaRPr lang="en-US" sz="900" dirty="0"/>
          </a:p>
        </p:txBody>
      </p:sp>
      <p:sp>
        <p:nvSpPr>
          <p:cNvPr id="33" name="Shape 31"/>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4" name="Text 32"/>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stages are ordered</a:t>
            </a:r>
            <a:endParaRPr lang="en-US" sz="1600" dirty="0"/>
          </a:p>
        </p:txBody>
      </p:sp>
      <p:sp>
        <p:nvSpPr>
          <p:cNvPr id="35" name="Text 33"/>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dependency, not by what is most visible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A ships no feature and unblocks everything after it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E is additive — it can run beside C or D</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step ships independently and is useful alone</a:t>
            </a:r>
            <a:endParaRPr lang="en-US" sz="1250" dirty="0"/>
          </a:p>
        </p:txBody>
      </p:sp>
      <p:sp>
        <p:nvSpPr>
          <p:cNvPr id="36" name="Shape 34"/>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7" name="Text 35"/>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8" name="Text 36"/>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step has a demonstrable gate</a:t>
            </a:r>
            <a:endParaRPr lang="en-US" sz="1600" dirty="0"/>
          </a:p>
        </p:txBody>
      </p:sp>
      <p:sp>
        <p:nvSpPr>
          <p:cNvPr id="39" name="Text 37"/>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step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All 14 steps</a:t>
            </a:r>
            <a:endParaRPr lang="en-US" sz="3400" dirty="0"/>
          </a:p>
        </p:txBody>
      </p:sp>
      <p:sp>
        <p:nvSpPr>
          <p:cNvPr id="4" name="Shape 2"/>
          <p:cNvSpPr/>
          <p:nvPr/>
        </p:nvSpPr>
        <p:spPr>
          <a:xfrm>
            <a:off x="566928" y="1499616"/>
            <a:ext cx="82296" cy="585216"/>
          </a:xfrm>
          <a:prstGeom prst="rect">
            <a:avLst/>
          </a:prstGeom>
          <a:solidFill>
            <a:srgbClr val="1A3A5C"/>
          </a:solidFill>
          <a:ln w="12700">
            <a:solidFill>
              <a:srgbClr val="1A3A5C"/>
            </a:solidFill>
            <a:prstDash val="solid"/>
          </a:ln>
        </p:spPr>
      </p:sp>
      <p:sp>
        <p:nvSpPr>
          <p:cNvPr id="5" name="Shape 3"/>
          <p:cNvSpPr/>
          <p:nvPr/>
        </p:nvSpPr>
        <p:spPr>
          <a:xfrm>
            <a:off x="649224" y="1499616"/>
            <a:ext cx="5312664" cy="585216"/>
          </a:xfrm>
          <a:prstGeom prst="roundRect">
            <a:avLst>
              <a:gd name="adj" fmla="val 6250"/>
            </a:avLst>
          </a:prstGeom>
          <a:solidFill>
            <a:srgbClr val="E8EFF6"/>
          </a:solidFill>
          <a:ln w="12700">
            <a:solidFill>
              <a:srgbClr val="E8EFF6"/>
            </a:solidFill>
            <a:prstDash val="solid"/>
          </a:ln>
        </p:spPr>
      </p:sp>
      <p:sp>
        <p:nvSpPr>
          <p:cNvPr id="6" name="Text 4"/>
          <p:cNvSpPr txBox="1"/>
          <p:nvPr/>
        </p:nvSpPr>
        <p:spPr>
          <a:xfrm>
            <a:off x="768096"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188720"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Service layer and guard</a:t>
            </a:r>
            <a:endParaRPr lang="en-US" sz="1150" dirty="0"/>
          </a:p>
        </p:txBody>
      </p:sp>
      <p:sp>
        <p:nvSpPr>
          <p:cNvPr id="8" name="Text 6"/>
          <p:cNvSpPr txBox="1"/>
          <p:nvPr/>
        </p:nvSpPr>
        <p:spPr>
          <a:xfrm>
            <a:off x="5248656" y="1499616"/>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9" name="Shape 7"/>
          <p:cNvSpPr/>
          <p:nvPr/>
        </p:nvSpPr>
        <p:spPr>
          <a:xfrm>
            <a:off x="566928" y="2157984"/>
            <a:ext cx="82296" cy="585216"/>
          </a:xfrm>
          <a:prstGeom prst="rect">
            <a:avLst/>
          </a:prstGeom>
          <a:solidFill>
            <a:srgbClr val="1A3A5C"/>
          </a:solidFill>
          <a:ln w="12700">
            <a:solidFill>
              <a:srgbClr val="1A3A5C"/>
            </a:solidFill>
            <a:prstDash val="solid"/>
          </a:ln>
        </p:spPr>
      </p:sp>
      <p:sp>
        <p:nvSpPr>
          <p:cNvPr id="10" name="Shape 8"/>
          <p:cNvSpPr/>
          <p:nvPr/>
        </p:nvSpPr>
        <p:spPr>
          <a:xfrm>
            <a:off x="649224" y="2157984"/>
            <a:ext cx="5312664" cy="585216"/>
          </a:xfrm>
          <a:prstGeom prst="roundRect">
            <a:avLst>
              <a:gd name="adj" fmla="val 6250"/>
            </a:avLst>
          </a:prstGeom>
          <a:solidFill>
            <a:srgbClr val="E8EFF6"/>
          </a:solidFill>
          <a:ln w="12700">
            <a:solidFill>
              <a:srgbClr val="E8EFF6"/>
            </a:solidFill>
            <a:prstDash val="solid"/>
          </a:ln>
        </p:spPr>
      </p:sp>
      <p:sp>
        <p:nvSpPr>
          <p:cNvPr id="11" name="Text 9"/>
          <p:cNvSpPr txBox="1"/>
          <p:nvPr/>
        </p:nvSpPr>
        <p:spPr>
          <a:xfrm>
            <a:off x="768096"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Query and reporting layer</a:t>
            </a:r>
            <a:endParaRPr lang="en-US" sz="1150" dirty="0"/>
          </a:p>
        </p:txBody>
      </p:sp>
      <p:sp>
        <p:nvSpPr>
          <p:cNvPr id="13" name="Text 11"/>
          <p:cNvSpPr txBox="1"/>
          <p:nvPr/>
        </p:nvSpPr>
        <p:spPr>
          <a:xfrm>
            <a:off x="5248656"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14" name="Shape 12"/>
          <p:cNvSpPr/>
          <p:nvPr/>
        </p:nvSpPr>
        <p:spPr>
          <a:xfrm>
            <a:off x="566928" y="2816352"/>
            <a:ext cx="82296" cy="585216"/>
          </a:xfrm>
          <a:prstGeom prst="rect">
            <a:avLst/>
          </a:prstGeom>
          <a:solidFill>
            <a:srgbClr val="2E6DA4"/>
          </a:solidFill>
          <a:ln w="12700">
            <a:solidFill>
              <a:srgbClr val="2E6DA4"/>
            </a:solidFill>
            <a:prstDash val="solid"/>
          </a:ln>
        </p:spPr>
      </p:sp>
      <p:sp>
        <p:nvSpPr>
          <p:cNvPr id="15" name="Shape 13"/>
          <p:cNvSpPr/>
          <p:nvPr/>
        </p:nvSpPr>
        <p:spPr>
          <a:xfrm>
            <a:off x="649224" y="2816352"/>
            <a:ext cx="5312664" cy="585216"/>
          </a:xfrm>
          <a:prstGeom prst="roundRect">
            <a:avLst>
              <a:gd name="adj" fmla="val 6250"/>
            </a:avLst>
          </a:prstGeom>
          <a:solidFill>
            <a:srgbClr val="E8EFF6"/>
          </a:solidFill>
          <a:ln w="12700">
            <a:solidFill>
              <a:srgbClr val="E8EFF6"/>
            </a:solidFill>
            <a:prstDash val="solid"/>
          </a:ln>
        </p:spPr>
      </p:sp>
      <p:sp>
        <p:nvSpPr>
          <p:cNvPr id="16" name="Text 14"/>
          <p:cNvSpPr txBox="1"/>
          <p:nvPr/>
        </p:nvSpPr>
        <p:spPr>
          <a:xfrm>
            <a:off x="768096"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188720"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HTTP transport, sessions and service accounts</a:t>
            </a:r>
            <a:endParaRPr lang="en-US" sz="1150" dirty="0"/>
          </a:p>
        </p:txBody>
      </p:sp>
      <p:sp>
        <p:nvSpPr>
          <p:cNvPr id="18" name="Text 16"/>
          <p:cNvSpPr txBox="1"/>
          <p:nvPr/>
        </p:nvSpPr>
        <p:spPr>
          <a:xfrm>
            <a:off x="5248656"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19" name="Shape 17"/>
          <p:cNvSpPr/>
          <p:nvPr/>
        </p:nvSpPr>
        <p:spPr>
          <a:xfrm>
            <a:off x="566928" y="3474720"/>
            <a:ext cx="82296" cy="585216"/>
          </a:xfrm>
          <a:prstGeom prst="rect">
            <a:avLst/>
          </a:prstGeom>
          <a:solidFill>
            <a:srgbClr val="2E6DA4"/>
          </a:solidFill>
          <a:ln w="12700">
            <a:solidFill>
              <a:srgbClr val="2E6DA4"/>
            </a:solidFill>
            <a:prstDash val="solid"/>
          </a:ln>
        </p:spPr>
      </p:sp>
      <p:sp>
        <p:nvSpPr>
          <p:cNvPr id="20" name="Shape 18"/>
          <p:cNvSpPr/>
          <p:nvPr/>
        </p:nvSpPr>
        <p:spPr>
          <a:xfrm>
            <a:off x="649224" y="3474720"/>
            <a:ext cx="5312664" cy="585216"/>
          </a:xfrm>
          <a:prstGeom prst="roundRect">
            <a:avLst>
              <a:gd name="adj" fmla="val 6250"/>
            </a:avLst>
          </a:prstGeom>
          <a:solidFill>
            <a:srgbClr val="E8EFF6"/>
          </a:solidFill>
          <a:ln w="12700">
            <a:solidFill>
              <a:srgbClr val="E8EFF6"/>
            </a:solidFill>
            <a:prstDash val="solid"/>
          </a:ln>
        </p:spPr>
      </p:sp>
      <p:sp>
        <p:nvSpPr>
          <p:cNvPr id="21" name="Text 19"/>
          <p:cNvSpPr txBox="1"/>
          <p:nvPr/>
        </p:nvSpPr>
        <p:spPr>
          <a:xfrm>
            <a:off x="768096"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1188720"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Read endpoints</a:t>
            </a:r>
            <a:endParaRPr lang="en-US" sz="1150" dirty="0"/>
          </a:p>
        </p:txBody>
      </p:sp>
      <p:sp>
        <p:nvSpPr>
          <p:cNvPr id="23" name="Text 21"/>
          <p:cNvSpPr txBox="1"/>
          <p:nvPr/>
        </p:nvSpPr>
        <p:spPr>
          <a:xfrm>
            <a:off x="5248656" y="3474720"/>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24" name="Shape 22"/>
          <p:cNvSpPr/>
          <p:nvPr/>
        </p:nvSpPr>
        <p:spPr>
          <a:xfrm>
            <a:off x="566928" y="4133088"/>
            <a:ext cx="82296" cy="585216"/>
          </a:xfrm>
          <a:prstGeom prst="rect">
            <a:avLst/>
          </a:prstGeom>
          <a:solidFill>
            <a:srgbClr val="2E6DA4"/>
          </a:solidFill>
          <a:ln w="12700">
            <a:solidFill>
              <a:srgbClr val="2E6DA4"/>
            </a:solidFill>
            <a:prstDash val="solid"/>
          </a:ln>
        </p:spPr>
      </p:sp>
      <p:sp>
        <p:nvSpPr>
          <p:cNvPr id="25" name="Shape 23"/>
          <p:cNvSpPr/>
          <p:nvPr/>
        </p:nvSpPr>
        <p:spPr>
          <a:xfrm>
            <a:off x="649224" y="4133088"/>
            <a:ext cx="5312664" cy="585216"/>
          </a:xfrm>
          <a:prstGeom prst="roundRect">
            <a:avLst>
              <a:gd name="adj" fmla="val 6250"/>
            </a:avLst>
          </a:prstGeom>
          <a:solidFill>
            <a:srgbClr val="E8EFF6"/>
          </a:solidFill>
          <a:ln w="12700">
            <a:solidFill>
              <a:srgbClr val="E8EFF6"/>
            </a:solidFill>
            <a:prstDash val="solid"/>
          </a:ln>
        </p:spPr>
      </p:sp>
      <p:sp>
        <p:nvSpPr>
          <p:cNvPr id="26" name="Text 24"/>
          <p:cNvSpPr txBox="1"/>
          <p:nvPr/>
        </p:nvSpPr>
        <p:spPr>
          <a:xfrm>
            <a:off x="768096"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1188720"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Write endpoints, and the governance gaps</a:t>
            </a:r>
            <a:endParaRPr lang="en-US" sz="1150" dirty="0"/>
          </a:p>
        </p:txBody>
      </p:sp>
      <p:sp>
        <p:nvSpPr>
          <p:cNvPr id="28" name="Text 26"/>
          <p:cNvSpPr txBox="1"/>
          <p:nvPr/>
        </p:nvSpPr>
        <p:spPr>
          <a:xfrm>
            <a:off x="5248656"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+4</a:t>
            </a:r>
            <a:endParaRPr lang="en-US" sz="1150" dirty="0"/>
          </a:p>
        </p:txBody>
      </p:sp>
      <p:sp>
        <p:nvSpPr>
          <p:cNvPr id="29" name="Shape 27"/>
          <p:cNvSpPr/>
          <p:nvPr/>
        </p:nvSpPr>
        <p:spPr>
          <a:xfrm>
            <a:off x="566928" y="4791456"/>
            <a:ext cx="82296" cy="585216"/>
          </a:xfrm>
          <a:prstGeom prst="rect">
            <a:avLst/>
          </a:prstGeom>
          <a:solidFill>
            <a:srgbClr val="2E6DA4"/>
          </a:solidFill>
          <a:ln w="12700">
            <a:solidFill>
              <a:srgbClr val="2E6DA4"/>
            </a:solidFill>
            <a:prstDash val="solid"/>
          </a:ln>
        </p:spPr>
      </p:sp>
      <p:sp>
        <p:nvSpPr>
          <p:cNvPr id="30" name="Shape 28"/>
          <p:cNvSpPr/>
          <p:nvPr/>
        </p:nvSpPr>
        <p:spPr>
          <a:xfrm>
            <a:off x="649224" y="4791456"/>
            <a:ext cx="5312664" cy="585216"/>
          </a:xfrm>
          <a:prstGeom prst="roundRect">
            <a:avLst>
              <a:gd name="adj" fmla="val 6250"/>
            </a:avLst>
          </a:prstGeom>
          <a:solidFill>
            <a:srgbClr val="E8EFF6"/>
          </a:solidFill>
          <a:ln w="12700">
            <a:solidFill>
              <a:srgbClr val="E8EFF6"/>
            </a:solidFill>
            <a:prstDash val="solid"/>
          </a:ln>
        </p:spPr>
      </p:sp>
      <p:sp>
        <p:nvSpPr>
          <p:cNvPr id="31" name="Text 29"/>
          <p:cNvSpPr txBox="1"/>
          <p:nvPr/>
        </p:nvSpPr>
        <p:spPr>
          <a:xfrm>
            <a:off x="768096"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1188720"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Administration, OpenAPI, separation of duties</a:t>
            </a:r>
            <a:endParaRPr lang="en-US" sz="1150" dirty="0"/>
          </a:p>
        </p:txBody>
      </p:sp>
      <p:sp>
        <p:nvSpPr>
          <p:cNvPr id="33" name="Text 31"/>
          <p:cNvSpPr txBox="1"/>
          <p:nvPr/>
        </p:nvSpPr>
        <p:spPr>
          <a:xfrm>
            <a:off x="5248656"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34" name="Shape 32"/>
          <p:cNvSpPr/>
          <p:nvPr/>
        </p:nvSpPr>
        <p:spPr>
          <a:xfrm>
            <a:off x="566928" y="5449824"/>
            <a:ext cx="82296" cy="585216"/>
          </a:xfrm>
          <a:prstGeom prst="rect">
            <a:avLst/>
          </a:prstGeom>
          <a:solidFill>
            <a:srgbClr val="2E6DA4"/>
          </a:solidFill>
          <a:ln w="12700">
            <a:solidFill>
              <a:srgbClr val="2E6DA4"/>
            </a:solidFill>
            <a:prstDash val="solid"/>
          </a:ln>
        </p:spPr>
      </p:sp>
      <p:sp>
        <p:nvSpPr>
          <p:cNvPr id="35" name="Shape 33"/>
          <p:cNvSpPr/>
          <p:nvPr/>
        </p:nvSpPr>
        <p:spPr>
          <a:xfrm>
            <a:off x="649224" y="5449824"/>
            <a:ext cx="5312664" cy="585216"/>
          </a:xfrm>
          <a:prstGeom prst="roundRect">
            <a:avLst>
              <a:gd name="adj" fmla="val 6250"/>
            </a:avLst>
          </a:prstGeom>
          <a:solidFill>
            <a:srgbClr val="E8EFF6"/>
          </a:solidFill>
          <a:ln w="12700">
            <a:solidFill>
              <a:srgbClr val="E8EFF6"/>
            </a:solidFill>
            <a:prstDash val="solid"/>
          </a:ln>
        </p:spPr>
      </p:sp>
      <p:sp>
        <p:nvSpPr>
          <p:cNvPr id="36" name="Text 34"/>
          <p:cNvSpPr txBox="1"/>
          <p:nvPr/>
        </p:nvSpPr>
        <p:spPr>
          <a:xfrm>
            <a:off x="768096"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7</a:t>
            </a:r>
            <a:endParaRPr lang="en-US" sz="1500" dirty="0"/>
          </a:p>
        </p:txBody>
      </p:sp>
      <p:sp>
        <p:nvSpPr>
          <p:cNvPr id="37" name="Text 35"/>
          <p:cNvSpPr txBox="1"/>
          <p:nvPr/>
        </p:nvSpPr>
        <p:spPr>
          <a:xfrm>
            <a:off x="1188720"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Web console and self-service</a:t>
            </a:r>
            <a:endParaRPr lang="en-US" sz="1150" dirty="0"/>
          </a:p>
        </p:txBody>
      </p:sp>
      <p:sp>
        <p:nvSpPr>
          <p:cNvPr id="38" name="Text 36"/>
          <p:cNvSpPr txBox="1"/>
          <p:nvPr/>
        </p:nvSpPr>
        <p:spPr>
          <a:xfrm>
            <a:off x="5248656"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39" name="Shape 37"/>
          <p:cNvSpPr/>
          <p:nvPr/>
        </p:nvSpPr>
        <p:spPr>
          <a:xfrm>
            <a:off x="6199632" y="1499616"/>
            <a:ext cx="82296" cy="585216"/>
          </a:xfrm>
          <a:prstGeom prst="rect">
            <a:avLst/>
          </a:prstGeom>
          <a:solidFill>
            <a:srgbClr val="5A7184"/>
          </a:solidFill>
          <a:ln w="12700">
            <a:solidFill>
              <a:srgbClr val="5A7184"/>
            </a:solidFill>
            <a:prstDash val="solid"/>
          </a:ln>
        </p:spPr>
      </p:sp>
      <p:sp>
        <p:nvSpPr>
          <p:cNvPr id="40" name="Shape 38"/>
          <p:cNvSpPr/>
          <p:nvPr/>
        </p:nvSpPr>
        <p:spPr>
          <a:xfrm>
            <a:off x="6281928" y="1499616"/>
            <a:ext cx="5312664" cy="585216"/>
          </a:xfrm>
          <a:prstGeom prst="roundRect">
            <a:avLst>
              <a:gd name="adj" fmla="val 6250"/>
            </a:avLst>
          </a:prstGeom>
          <a:solidFill>
            <a:srgbClr val="E8EFF6"/>
          </a:solidFill>
          <a:ln w="12700">
            <a:solidFill>
              <a:srgbClr val="E8EFF6"/>
            </a:solidFill>
            <a:prstDash val="solid"/>
          </a:ln>
        </p:spPr>
      </p:sp>
      <p:sp>
        <p:nvSpPr>
          <p:cNvPr id="41" name="Text 39"/>
          <p:cNvSpPr txBox="1"/>
          <p:nvPr/>
        </p:nvSpPr>
        <p:spPr>
          <a:xfrm>
            <a:off x="6400800"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8</a:t>
            </a:r>
            <a:endParaRPr lang="en-US" sz="1500" dirty="0"/>
          </a:p>
        </p:txBody>
      </p:sp>
      <p:sp>
        <p:nvSpPr>
          <p:cNvPr id="42" name="Text 40"/>
          <p:cNvSpPr txBox="1"/>
          <p:nvPr/>
        </p:nvSpPr>
        <p:spPr>
          <a:xfrm>
            <a:off x="6821424"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Enterprise identity and policy</a:t>
            </a:r>
            <a:endParaRPr lang="en-US" sz="1150" dirty="0"/>
          </a:p>
        </p:txBody>
      </p:sp>
      <p:sp>
        <p:nvSpPr>
          <p:cNvPr id="43" name="Text 41"/>
          <p:cNvSpPr txBox="1"/>
          <p:nvPr/>
        </p:nvSpPr>
        <p:spPr>
          <a:xfrm>
            <a:off x="10881360" y="149961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44" name="Shape 42"/>
          <p:cNvSpPr/>
          <p:nvPr/>
        </p:nvSpPr>
        <p:spPr>
          <a:xfrm>
            <a:off x="6199632" y="2157984"/>
            <a:ext cx="82296" cy="585216"/>
          </a:xfrm>
          <a:prstGeom prst="rect">
            <a:avLst/>
          </a:prstGeom>
          <a:solidFill>
            <a:srgbClr val="5A7184"/>
          </a:solidFill>
          <a:ln w="12700">
            <a:solidFill>
              <a:srgbClr val="5A7184"/>
            </a:solidFill>
            <a:prstDash val="solid"/>
          </a:ln>
        </p:spPr>
      </p:sp>
      <p:sp>
        <p:nvSpPr>
          <p:cNvPr id="45" name="Shape 43"/>
          <p:cNvSpPr/>
          <p:nvPr/>
        </p:nvSpPr>
        <p:spPr>
          <a:xfrm>
            <a:off x="6281928" y="2157984"/>
            <a:ext cx="5312664" cy="585216"/>
          </a:xfrm>
          <a:prstGeom prst="roundRect">
            <a:avLst>
              <a:gd name="adj" fmla="val 6250"/>
            </a:avLst>
          </a:prstGeom>
          <a:solidFill>
            <a:srgbClr val="E8EFF6"/>
          </a:solidFill>
          <a:ln w="12700">
            <a:solidFill>
              <a:srgbClr val="E8EFF6"/>
            </a:solidFill>
            <a:prstDash val="solid"/>
          </a:ln>
        </p:spPr>
      </p:sp>
      <p:sp>
        <p:nvSpPr>
          <p:cNvPr id="46" name="Text 44"/>
          <p:cNvSpPr txBox="1"/>
          <p:nvPr/>
        </p:nvSpPr>
        <p:spPr>
          <a:xfrm>
            <a:off x="6400800"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9</a:t>
            </a:r>
            <a:endParaRPr lang="en-US" sz="1500" dirty="0"/>
          </a:p>
        </p:txBody>
      </p:sp>
      <p:sp>
        <p:nvSpPr>
          <p:cNvPr id="47" name="Text 45"/>
          <p:cNvSpPr txBox="1"/>
          <p:nvPr/>
        </p:nvSpPr>
        <p:spPr>
          <a:xfrm>
            <a:off x="6821424"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Audit externalisation, compliance and ceremony</a:t>
            </a:r>
            <a:endParaRPr lang="en-US" sz="1150" dirty="0"/>
          </a:p>
        </p:txBody>
      </p:sp>
      <p:sp>
        <p:nvSpPr>
          <p:cNvPr id="48" name="Text 46"/>
          <p:cNvSpPr txBox="1"/>
          <p:nvPr/>
        </p:nvSpPr>
        <p:spPr>
          <a:xfrm>
            <a:off x="10881360"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+7</a:t>
            </a:r>
            <a:endParaRPr lang="en-US" sz="1150" dirty="0"/>
          </a:p>
        </p:txBody>
      </p:sp>
      <p:sp>
        <p:nvSpPr>
          <p:cNvPr id="49" name="Shape 47"/>
          <p:cNvSpPr/>
          <p:nvPr/>
        </p:nvSpPr>
        <p:spPr>
          <a:xfrm>
            <a:off x="6199632" y="2816352"/>
            <a:ext cx="82296" cy="585216"/>
          </a:xfrm>
          <a:prstGeom prst="rect">
            <a:avLst/>
          </a:prstGeom>
          <a:solidFill>
            <a:srgbClr val="6B8299"/>
          </a:solidFill>
          <a:ln w="12700">
            <a:solidFill>
              <a:srgbClr val="6B8299"/>
            </a:solidFill>
            <a:prstDash val="solid"/>
          </a:ln>
        </p:spPr>
      </p:sp>
      <p:sp>
        <p:nvSpPr>
          <p:cNvPr id="50" name="Shape 48"/>
          <p:cNvSpPr/>
          <p:nvPr/>
        </p:nvSpPr>
        <p:spPr>
          <a:xfrm>
            <a:off x="6281928" y="2816352"/>
            <a:ext cx="5312664" cy="585216"/>
          </a:xfrm>
          <a:prstGeom prst="roundRect">
            <a:avLst>
              <a:gd name="adj" fmla="val 6250"/>
            </a:avLst>
          </a:prstGeom>
          <a:solidFill>
            <a:srgbClr val="E8EFF6"/>
          </a:solidFill>
          <a:ln w="12700">
            <a:solidFill>
              <a:srgbClr val="E8EFF6"/>
            </a:solidFill>
            <a:prstDash val="solid"/>
          </a:ln>
        </p:spPr>
      </p:sp>
      <p:sp>
        <p:nvSpPr>
          <p:cNvPr id="51" name="Text 49"/>
          <p:cNvSpPr txBox="1"/>
          <p:nvPr/>
        </p:nvSpPr>
        <p:spPr>
          <a:xfrm>
            <a:off x="6400800"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10</a:t>
            </a:r>
            <a:endParaRPr lang="en-US" sz="1500" dirty="0"/>
          </a:p>
        </p:txBody>
      </p:sp>
      <p:sp>
        <p:nvSpPr>
          <p:cNvPr id="52" name="Text 50"/>
          <p:cNvSpPr txBox="1"/>
          <p:nvPr/>
        </p:nvSpPr>
        <p:spPr>
          <a:xfrm>
            <a:off x="6821424"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Storage abstraction and PostgreSQL</a:t>
            </a:r>
            <a:endParaRPr lang="en-US" sz="1150" dirty="0"/>
          </a:p>
        </p:txBody>
      </p:sp>
      <p:sp>
        <p:nvSpPr>
          <p:cNvPr id="53" name="Text 51"/>
          <p:cNvSpPr txBox="1"/>
          <p:nvPr/>
        </p:nvSpPr>
        <p:spPr>
          <a:xfrm>
            <a:off x="10881360"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54" name="Shape 52"/>
          <p:cNvSpPr/>
          <p:nvPr/>
        </p:nvSpPr>
        <p:spPr>
          <a:xfrm>
            <a:off x="6199632" y="3474720"/>
            <a:ext cx="82296" cy="585216"/>
          </a:xfrm>
          <a:prstGeom prst="rect">
            <a:avLst/>
          </a:prstGeom>
          <a:solidFill>
            <a:srgbClr val="6B8299"/>
          </a:solidFill>
          <a:ln w="12700">
            <a:solidFill>
              <a:srgbClr val="6B8299"/>
            </a:solidFill>
            <a:prstDash val="solid"/>
          </a:ln>
        </p:spPr>
      </p:sp>
      <p:sp>
        <p:nvSpPr>
          <p:cNvPr id="55" name="Shape 53"/>
          <p:cNvSpPr/>
          <p:nvPr/>
        </p:nvSpPr>
        <p:spPr>
          <a:xfrm>
            <a:off x="6281928" y="3474720"/>
            <a:ext cx="5312664" cy="585216"/>
          </a:xfrm>
          <a:prstGeom prst="roundRect">
            <a:avLst>
              <a:gd name="adj" fmla="val 6250"/>
            </a:avLst>
          </a:prstGeom>
          <a:solidFill>
            <a:srgbClr val="E8EFF6"/>
          </a:solidFill>
          <a:ln w="12700">
            <a:solidFill>
              <a:srgbClr val="E8EFF6"/>
            </a:solidFill>
            <a:prstDash val="solid"/>
          </a:ln>
        </p:spPr>
      </p:sp>
      <p:sp>
        <p:nvSpPr>
          <p:cNvPr id="56" name="Text 54"/>
          <p:cNvSpPr txBox="1"/>
          <p:nvPr/>
        </p:nvSpPr>
        <p:spPr>
          <a:xfrm>
            <a:off x="6400800"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11</a:t>
            </a:r>
            <a:endParaRPr lang="en-US" sz="1500" dirty="0"/>
          </a:p>
        </p:txBody>
      </p:sp>
      <p:sp>
        <p:nvSpPr>
          <p:cNvPr id="57" name="Text 55"/>
          <p:cNvSpPr txBox="1"/>
          <p:nvPr/>
        </p:nvSpPr>
        <p:spPr>
          <a:xfrm>
            <a:off x="6821424"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High availability, failover and deployment</a:t>
            </a:r>
            <a:endParaRPr lang="en-US" sz="1150" dirty="0"/>
          </a:p>
        </p:txBody>
      </p:sp>
      <p:sp>
        <p:nvSpPr>
          <p:cNvPr id="58" name="Text 56"/>
          <p:cNvSpPr txBox="1"/>
          <p:nvPr/>
        </p:nvSpPr>
        <p:spPr>
          <a:xfrm>
            <a:off x="10881360" y="3474720"/>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+6</a:t>
            </a:r>
            <a:endParaRPr lang="en-US" sz="1150" dirty="0"/>
          </a:p>
        </p:txBody>
      </p:sp>
      <p:sp>
        <p:nvSpPr>
          <p:cNvPr id="59" name="Shape 57"/>
          <p:cNvSpPr/>
          <p:nvPr/>
        </p:nvSpPr>
        <p:spPr>
          <a:xfrm>
            <a:off x="6199632" y="4133088"/>
            <a:ext cx="82296" cy="585216"/>
          </a:xfrm>
          <a:prstGeom prst="rect">
            <a:avLst/>
          </a:prstGeom>
          <a:solidFill>
            <a:srgbClr val="6B8299"/>
          </a:solidFill>
          <a:ln w="12700">
            <a:solidFill>
              <a:srgbClr val="6B8299"/>
            </a:solidFill>
            <a:prstDash val="solid"/>
          </a:ln>
        </p:spPr>
      </p:sp>
      <p:sp>
        <p:nvSpPr>
          <p:cNvPr id="60" name="Shape 58"/>
          <p:cNvSpPr/>
          <p:nvPr/>
        </p:nvSpPr>
        <p:spPr>
          <a:xfrm>
            <a:off x="6281928" y="4133088"/>
            <a:ext cx="5312664" cy="585216"/>
          </a:xfrm>
          <a:prstGeom prst="roundRect">
            <a:avLst>
              <a:gd name="adj" fmla="val 6250"/>
            </a:avLst>
          </a:prstGeom>
          <a:solidFill>
            <a:srgbClr val="E8EFF6"/>
          </a:solidFill>
          <a:ln w="12700">
            <a:solidFill>
              <a:srgbClr val="E8EFF6"/>
            </a:solidFill>
            <a:prstDash val="solid"/>
          </a:ln>
        </p:spPr>
      </p:sp>
      <p:sp>
        <p:nvSpPr>
          <p:cNvPr id="61" name="Text 59"/>
          <p:cNvSpPr txBox="1"/>
          <p:nvPr/>
        </p:nvSpPr>
        <p:spPr>
          <a:xfrm>
            <a:off x="6400800"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12</a:t>
            </a:r>
            <a:endParaRPr lang="en-US" sz="1500" dirty="0"/>
          </a:p>
        </p:txBody>
      </p:sp>
      <p:sp>
        <p:nvSpPr>
          <p:cNvPr id="62" name="Text 60"/>
          <p:cNvSpPr txBox="1"/>
          <p:nvPr/>
        </p:nvSpPr>
        <p:spPr>
          <a:xfrm>
            <a:off x="6821424"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Multi-tenancy</a:t>
            </a:r>
            <a:endParaRPr lang="en-US" sz="1150" dirty="0"/>
          </a:p>
        </p:txBody>
      </p:sp>
      <p:sp>
        <p:nvSpPr>
          <p:cNvPr id="63" name="Text 61"/>
          <p:cNvSpPr txBox="1"/>
          <p:nvPr/>
        </p:nvSpPr>
        <p:spPr>
          <a:xfrm>
            <a:off x="10881360"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6199632" y="4791456"/>
            <a:ext cx="82296" cy="585216"/>
          </a:xfrm>
          <a:prstGeom prst="rect">
            <a:avLst/>
          </a:prstGeom>
          <a:solidFill>
            <a:srgbClr val="C8952B"/>
          </a:solidFill>
          <a:ln w="12700">
            <a:solidFill>
              <a:srgbClr val="C8952B"/>
            </a:solidFill>
            <a:prstDash val="solid"/>
          </a:ln>
        </p:spPr>
      </p:sp>
      <p:sp>
        <p:nvSpPr>
          <p:cNvPr id="65" name="Shape 63"/>
          <p:cNvSpPr/>
          <p:nvPr/>
        </p:nvSpPr>
        <p:spPr>
          <a:xfrm>
            <a:off x="6281928" y="4791456"/>
            <a:ext cx="5312664" cy="585216"/>
          </a:xfrm>
          <a:prstGeom prst="roundRect">
            <a:avLst>
              <a:gd name="adj" fmla="val 6250"/>
            </a:avLst>
          </a:prstGeom>
          <a:solidFill>
            <a:srgbClr val="E8EFF6"/>
          </a:solidFill>
          <a:ln w="12700">
            <a:solidFill>
              <a:srgbClr val="E8EFF6"/>
            </a:solidFill>
            <a:prstDash val="solid"/>
          </a:ln>
        </p:spPr>
      </p:sp>
      <p:sp>
        <p:nvSpPr>
          <p:cNvPr id="66" name="Text 64"/>
          <p:cNvSpPr txBox="1"/>
          <p:nvPr/>
        </p:nvSpPr>
        <p:spPr>
          <a:xfrm>
            <a:off x="6400800"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13</a:t>
            </a:r>
            <a:endParaRPr lang="en-US" sz="1500" dirty="0"/>
          </a:p>
        </p:txBody>
      </p:sp>
      <p:sp>
        <p:nvSpPr>
          <p:cNvPr id="67" name="Text 65"/>
          <p:cNvSpPr txBox="1"/>
          <p:nvPr/>
        </p:nvSpPr>
        <p:spPr>
          <a:xfrm>
            <a:off x="6821424"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KMIP JSON and XML encodings</a:t>
            </a:r>
            <a:endParaRPr lang="en-US" sz="1150" dirty="0"/>
          </a:p>
        </p:txBody>
      </p:sp>
      <p:sp>
        <p:nvSpPr>
          <p:cNvPr id="68" name="Text 66"/>
          <p:cNvSpPr txBox="1"/>
          <p:nvPr/>
        </p:nvSpPr>
        <p:spPr>
          <a:xfrm>
            <a:off x="10881360"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69" name="Shape 67"/>
          <p:cNvSpPr/>
          <p:nvPr/>
        </p:nvSpPr>
        <p:spPr>
          <a:xfrm>
            <a:off x="6199632" y="5449824"/>
            <a:ext cx="82296" cy="585216"/>
          </a:xfrm>
          <a:prstGeom prst="rect">
            <a:avLst/>
          </a:prstGeom>
          <a:solidFill>
            <a:srgbClr val="C8952B"/>
          </a:solidFill>
          <a:ln w="12700">
            <a:solidFill>
              <a:srgbClr val="C8952B"/>
            </a:solidFill>
            <a:prstDash val="solid"/>
          </a:ln>
        </p:spPr>
      </p:sp>
      <p:sp>
        <p:nvSpPr>
          <p:cNvPr id="70" name="Shape 68"/>
          <p:cNvSpPr/>
          <p:nvPr/>
        </p:nvSpPr>
        <p:spPr>
          <a:xfrm>
            <a:off x="6281928" y="5449824"/>
            <a:ext cx="5312664" cy="585216"/>
          </a:xfrm>
          <a:prstGeom prst="roundRect">
            <a:avLst>
              <a:gd name="adj" fmla="val 6250"/>
            </a:avLst>
          </a:prstGeom>
          <a:solidFill>
            <a:srgbClr val="E8EFF6"/>
          </a:solidFill>
          <a:ln w="12700">
            <a:solidFill>
              <a:srgbClr val="E8EFF6"/>
            </a:solidFill>
            <a:prstDash val="solid"/>
          </a:ln>
        </p:spPr>
      </p:sp>
      <p:sp>
        <p:nvSpPr>
          <p:cNvPr id="71" name="Text 69"/>
          <p:cNvSpPr txBox="1"/>
          <p:nvPr/>
        </p:nvSpPr>
        <p:spPr>
          <a:xfrm>
            <a:off x="6400800"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14</a:t>
            </a:r>
            <a:endParaRPr lang="en-US" sz="1500" dirty="0"/>
          </a:p>
        </p:txBody>
      </p:sp>
      <p:sp>
        <p:nvSpPr>
          <p:cNvPr id="72" name="Text 70"/>
          <p:cNvSpPr txBox="1"/>
          <p:nvPr/>
        </p:nvSpPr>
        <p:spPr>
          <a:xfrm>
            <a:off x="6821424"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Certificate discovery and expiry monitoring</a:t>
            </a:r>
            <a:endParaRPr lang="en-US" sz="1150" dirty="0"/>
          </a:p>
        </p:txBody>
      </p:sp>
      <p:sp>
        <p:nvSpPr>
          <p:cNvPr id="73" name="Text 71"/>
          <p:cNvSpPr txBox="1"/>
          <p:nvPr/>
        </p:nvSpPr>
        <p:spPr>
          <a:xfrm>
            <a:off x="10881360"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74" name="Text 72"/>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A Foundation   ·   B The REST control plane   ·   C Enterprise fit   ·   D Scale, availability and tenancy   ·   E Protocol and estate reach      +n is the gap-matrix features that step closes.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Stages C to E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C</a:t>
            </a:r>
            <a:endParaRPr lang="en-US" sz="2200" dirty="0"/>
          </a:p>
        </p:txBody>
      </p:sp>
      <p:sp>
        <p:nvSpPr>
          <p:cNvPr id="6" name="Text 4"/>
          <p:cNvSpPr txBox="1"/>
          <p:nvPr/>
        </p:nvSpPr>
        <p:spPr>
          <a:xfrm>
            <a:off x="1481328" y="1554480"/>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Enterprise fit</a:t>
            </a:r>
            <a:endParaRPr lang="en-US" sz="1700" dirty="0"/>
          </a:p>
        </p:txBody>
      </p:sp>
      <p:sp>
        <p:nvSpPr>
          <p:cNvPr id="7" name="Text 5"/>
          <p:cNvSpPr txBox="1"/>
          <p:nvPr/>
        </p:nvSpPr>
        <p:spPr>
          <a:xfrm>
            <a:off x="1481328" y="2231136"/>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What an auditor and a security team ask for.</a:t>
            </a:r>
            <a:endParaRPr lang="en-US" sz="1050" dirty="0"/>
          </a:p>
        </p:txBody>
      </p:sp>
      <p:sp>
        <p:nvSpPr>
          <p:cNvPr id="8" name="Text 6"/>
          <p:cNvSpPr txBox="1"/>
          <p:nvPr/>
        </p:nvSpPr>
        <p:spPr>
          <a:xfrm>
            <a:off x="5413248" y="1554480"/>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8.  Enterprise identity and policy</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9.  Audit externalisation, compliance and ceremony</a:t>
            </a:r>
            <a:endParaRPr lang="en-US" sz="1200" dirty="0"/>
          </a:p>
        </p:txBody>
      </p:sp>
      <p:sp>
        <p:nvSpPr>
          <p:cNvPr id="9" name="Shape 7"/>
          <p:cNvSpPr/>
          <p:nvPr/>
        </p:nvSpPr>
        <p:spPr>
          <a:xfrm>
            <a:off x="566928" y="2798064"/>
            <a:ext cx="658368" cy="658368"/>
          </a:xfrm>
          <a:prstGeom prst="roundRect">
            <a:avLst>
              <a:gd name="adj" fmla="val 11111"/>
            </a:avLst>
          </a:prstGeom>
          <a:solidFill>
            <a:srgbClr val="C8952B"/>
          </a:solidFill>
          <a:ln w="12700">
            <a:solidFill>
              <a:srgbClr val="C8952B"/>
            </a:solidFill>
            <a:prstDash val="solid"/>
          </a:ln>
        </p:spPr>
      </p:sp>
      <p:sp>
        <p:nvSpPr>
          <p:cNvPr id="10" name="Text 8"/>
          <p:cNvSpPr txBox="1"/>
          <p:nvPr/>
        </p:nvSpPr>
        <p:spPr>
          <a:xfrm>
            <a:off x="566928" y="2798064"/>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D</a:t>
            </a:r>
            <a:endParaRPr lang="en-US" sz="2200" dirty="0"/>
          </a:p>
        </p:txBody>
      </p:sp>
      <p:sp>
        <p:nvSpPr>
          <p:cNvPr id="11" name="Text 9"/>
          <p:cNvSpPr txBox="1"/>
          <p:nvPr/>
        </p:nvSpPr>
        <p:spPr>
          <a:xfrm>
            <a:off x="1481328" y="2779776"/>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availability and tenancy</a:t>
            </a:r>
            <a:endParaRPr lang="en-US" sz="1700" dirty="0"/>
          </a:p>
        </p:txBody>
      </p:sp>
      <p:sp>
        <p:nvSpPr>
          <p:cNvPr id="12" name="Text 10"/>
          <p:cNvSpPr txBox="1"/>
          <p:nvPr/>
        </p:nvSpPr>
        <p:spPr>
          <a:xfrm>
            <a:off x="1481328" y="3456432"/>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Needs infrastructure to verify.</a:t>
            </a:r>
            <a:endParaRPr lang="en-US" sz="1050" dirty="0"/>
          </a:p>
        </p:txBody>
      </p:sp>
      <p:sp>
        <p:nvSpPr>
          <p:cNvPr id="13" name="Text 11"/>
          <p:cNvSpPr txBox="1"/>
          <p:nvPr/>
        </p:nvSpPr>
        <p:spPr>
          <a:xfrm>
            <a:off x="5413248" y="2779776"/>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10.  Storage abstraction and PostgreSQL</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11.  High availability, failover and deployment</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12.  Multi-tenancy</a:t>
            </a:r>
            <a:endParaRPr lang="en-US" sz="1200" dirty="0"/>
          </a:p>
        </p:txBody>
      </p:sp>
      <p:sp>
        <p:nvSpPr>
          <p:cNvPr id="14" name="Shape 12"/>
          <p:cNvSpPr/>
          <p:nvPr/>
        </p:nvSpPr>
        <p:spPr>
          <a:xfrm>
            <a:off x="566928" y="4023360"/>
            <a:ext cx="658368" cy="658368"/>
          </a:xfrm>
          <a:prstGeom prst="roundRect">
            <a:avLst>
              <a:gd name="adj" fmla="val 11111"/>
            </a:avLst>
          </a:prstGeom>
          <a:solidFill>
            <a:srgbClr val="C8952B"/>
          </a:solidFill>
          <a:ln w="12700">
            <a:solidFill>
              <a:srgbClr val="C8952B"/>
            </a:solidFill>
            <a:prstDash val="solid"/>
          </a:ln>
        </p:spPr>
      </p:sp>
      <p:sp>
        <p:nvSpPr>
          <p:cNvPr id="15" name="Text 13"/>
          <p:cNvSpPr txBox="1"/>
          <p:nvPr/>
        </p:nvSpPr>
        <p:spPr>
          <a:xfrm>
            <a:off x="566928" y="4023360"/>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E</a:t>
            </a:r>
            <a:endParaRPr lang="en-US" sz="2200" dirty="0"/>
          </a:p>
        </p:txBody>
      </p:sp>
      <p:sp>
        <p:nvSpPr>
          <p:cNvPr id="16" name="Text 14"/>
          <p:cNvSpPr txBox="1"/>
          <p:nvPr/>
        </p:nvSpPr>
        <p:spPr>
          <a:xfrm>
            <a:off x="1481328" y="4005072"/>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Protocol and estate reach</a:t>
            </a:r>
            <a:endParaRPr lang="en-US" sz="1700" dirty="0"/>
          </a:p>
        </p:txBody>
      </p:sp>
      <p:sp>
        <p:nvSpPr>
          <p:cNvPr id="17" name="Text 15"/>
          <p:cNvSpPr txBox="1"/>
          <p:nvPr/>
        </p:nvSpPr>
        <p:spPr>
          <a:xfrm>
            <a:off x="1481328" y="4681728"/>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Additive, independent of D, verifiable here.</a:t>
            </a:r>
            <a:endParaRPr lang="en-US" sz="1050" dirty="0"/>
          </a:p>
        </p:txBody>
      </p:sp>
      <p:sp>
        <p:nvSpPr>
          <p:cNvPr id="18" name="Text 16"/>
          <p:cNvSpPr txBox="1"/>
          <p:nvPr/>
        </p:nvSpPr>
        <p:spPr>
          <a:xfrm>
            <a:off x="5413248" y="4005072"/>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13.  KMIP JSON and XML encodings</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14.  Certificate discovery and expiry monitoring</a:t>
            </a:r>
            <a:endParaRPr lang="en-US" sz="1200" dirty="0"/>
          </a:p>
        </p:txBody>
      </p:sp>
      <p:sp>
        <p:nvSpPr>
          <p:cNvPr id="19" name="Text 17"/>
          <p:cNvSpPr txBox="1"/>
          <p:nvPr/>
        </p:nvSpPr>
        <p:spPr>
          <a:xfrm>
            <a:off x="566928" y="5285232"/>
            <a:ext cx="5120640" cy="274320"/>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20" name="Text 18"/>
          <p:cNvSpPr txBox="1"/>
          <p:nvPr/>
        </p:nvSpPr>
        <p:spPr>
          <a:xfrm>
            <a:off x="566928" y="5541264"/>
            <a:ext cx="5303520" cy="950976"/>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Secrets management</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Certificate lifecycle</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PKCS#11 provider for applications</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Tokenization / format-preserving encryption</a:t>
            </a:r>
            <a:endParaRPr lang="en-US" sz="1100" dirty="0"/>
          </a:p>
        </p:txBody>
      </p:sp>
      <p:sp>
        <p:nvSpPr>
          <p:cNvPr id="21" name="Shape 19"/>
          <p:cNvSpPr/>
          <p:nvPr/>
        </p:nvSpPr>
        <p:spPr>
          <a:xfrm>
            <a:off x="6236208" y="5266944"/>
            <a:ext cx="5394960" cy="1207008"/>
          </a:xfrm>
          <a:prstGeom prst="roundRect">
            <a:avLst>
              <a:gd name="adj" fmla="val 4545"/>
            </a:avLst>
          </a:prstGeom>
          <a:solidFill>
            <a:srgbClr val="1B3350"/>
          </a:solidFill>
          <a:ln w="12700">
            <a:solidFill>
              <a:srgbClr val="2A4A6B"/>
            </a:solidFill>
            <a:prstDash val="solid"/>
          </a:ln>
        </p:spPr>
      </p:sp>
      <p:sp>
        <p:nvSpPr>
          <p:cNvPr id="22" name="Text 20"/>
          <p:cNvSpPr txBox="1"/>
          <p:nvPr/>
        </p:nvSpPr>
        <p:spPr>
          <a:xfrm>
            <a:off x="6473952" y="5468112"/>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plan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2026-09-12T10:23:10Z</dcterms:created>
  <dcterms:modified xsi:type="dcterms:W3CDTF">2026-09-12T10:23:10Z</dcterms:modified>
</cp:coreProperties>
</file>