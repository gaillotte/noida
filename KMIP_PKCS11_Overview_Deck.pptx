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red five are engineering we could start tomorrow — except the fifth, which is a reason to prefer a token that binds policy to the key. The amber three are trade-offs with known costs. The blue two depend on suppliers rather than on us. The last two red and amber cards came from reading Securosys and HashiCorp Vault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is the one to insist on. It ships no feature and removes the risk that every later endpoint quietly bypasses dual control. If the roadmap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discipline rather than the feature list: phases 0 to 5 earned their credibility by finding real defects through execution, and the same standard applies to everything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REST API or console</a:t>
            </a:r>
            <a:endParaRPr lang="en-US" sz="1300" dirty="0"/>
          </a:p>
        </p:txBody>
      </p:sp>
      <p:sp>
        <p:nvSpPr>
          <p:cNvPr id="6" name="Text 4"/>
          <p:cNvSpPr txBox="1"/>
          <p:nvPr/>
        </p:nvSpPr>
        <p:spPr>
          <a:xfrm>
            <a:off x="80467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Reporting, the console, self-service and encryption as a service are all clients of it.</a:t>
            </a:r>
            <a:endParaRPr lang="en-US" sz="1100" dirty="0"/>
          </a:p>
        </p:txBody>
      </p:sp>
      <p:sp>
        <p:nvSpPr>
          <p:cNvPr id="7" name="Shape 5"/>
          <p:cNvSpPr/>
          <p:nvPr/>
        </p:nvSpPr>
        <p:spPr>
          <a:xfrm>
            <a:off x="2814523"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052267"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multi-tenancy</a:t>
            </a:r>
            <a:endParaRPr lang="en-US" sz="1300" dirty="0"/>
          </a:p>
        </p:txBody>
      </p:sp>
      <p:sp>
        <p:nvSpPr>
          <p:cNvPr id="9" name="Text 7"/>
          <p:cNvSpPr txBox="1"/>
          <p:nvPr/>
        </p:nvSpPr>
        <p:spPr>
          <a:xfrm>
            <a:off x="3052267"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Names, searches, quotas and audit are global. Isolation means one deployment per tenant.</a:t>
            </a:r>
            <a:endParaRPr lang="en-US" sz="1100" dirty="0"/>
          </a:p>
        </p:txBody>
      </p:sp>
      <p:sp>
        <p:nvSpPr>
          <p:cNvPr id="10" name="Shape 8"/>
          <p:cNvSpPr/>
          <p:nvPr/>
        </p:nvSpPr>
        <p:spPr>
          <a:xfrm>
            <a:off x="506211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529986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SQLite only</a:t>
            </a:r>
            <a:endParaRPr lang="en-US" sz="1300" dirty="0"/>
          </a:p>
        </p:txBody>
      </p:sp>
      <p:sp>
        <p:nvSpPr>
          <p:cNvPr id="12" name="Text 10"/>
          <p:cNvSpPr txBox="1"/>
          <p:nvPr/>
        </p:nvSpPr>
        <p:spPr>
          <a:xfrm>
            <a:off x="529986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No clustering, replication or DR — the storage engine blocks them, not the protocol.</a:t>
            </a:r>
            <a:endParaRPr lang="en-US" sz="1100" dirty="0"/>
          </a:p>
        </p:txBody>
      </p:sp>
      <p:sp>
        <p:nvSpPr>
          <p:cNvPr id="13" name="Shape 11"/>
          <p:cNvSpPr/>
          <p:nvPr/>
        </p:nvSpPr>
        <p:spPr>
          <a:xfrm>
            <a:off x="7309714"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7547458"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rate limiting</a:t>
            </a:r>
            <a:endParaRPr lang="en-US" sz="1300" dirty="0"/>
          </a:p>
        </p:txBody>
      </p:sp>
      <p:sp>
        <p:nvSpPr>
          <p:cNvPr id="15" name="Text 13"/>
          <p:cNvSpPr txBox="1"/>
          <p:nvPr/>
        </p:nvSpPr>
        <p:spPr>
          <a:xfrm>
            <a:off x="7547458"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listener takes a backlog of 16 with no throttle. Flagged in the first review.</a:t>
            </a:r>
            <a:endParaRPr lang="en-US" sz="1100" dirty="0"/>
          </a:p>
        </p:txBody>
      </p:sp>
      <p:sp>
        <p:nvSpPr>
          <p:cNvPr id="16" name="Shape 14"/>
          <p:cNvSpPr/>
          <p:nvPr/>
        </p:nvSpPr>
        <p:spPr>
          <a:xfrm>
            <a:off x="9557309"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9795053"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Policy lives in the server</a:t>
            </a:r>
            <a:endParaRPr lang="en-US" sz="1300" dirty="0"/>
          </a:p>
        </p:txBody>
      </p:sp>
      <p:sp>
        <p:nvSpPr>
          <p:cNvPr id="18" name="Text 16"/>
          <p:cNvSpPr txBox="1"/>
          <p:nvPr/>
        </p:nvSpPr>
        <p:spPr>
          <a:xfrm>
            <a:off x="9795053"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Dual control is enforced here, not inside the token. Own the server and you own the policy.</a:t>
            </a:r>
            <a:endParaRPr lang="en-US" sz="1100" dirty="0"/>
          </a:p>
        </p:txBody>
      </p:sp>
      <p:sp>
        <p:nvSpPr>
          <p:cNvPr id="19" name="Shape 17"/>
          <p:cNvSpPr/>
          <p:nvPr/>
        </p:nvSpPr>
        <p:spPr>
          <a:xfrm>
            <a:off x="56692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Scaling stops at ~1.5×</a:t>
            </a:r>
            <a:endParaRPr lang="en-US" sz="1300" dirty="0"/>
          </a:p>
        </p:txBody>
      </p:sp>
      <p:sp>
        <p:nvSpPr>
          <p:cNvPr id="21" name="Text 19"/>
          <p:cNvSpPr txBox="1"/>
          <p:nvPr/>
        </p:nvSpPr>
        <p:spPr>
          <a:xfrm>
            <a:off x="80467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Pre-fork workers help, but every audited operation serialises on one write lock.</a:t>
            </a:r>
            <a:endParaRPr lang="en-US" sz="1100" dirty="0"/>
          </a:p>
        </p:txBody>
      </p:sp>
      <p:sp>
        <p:nvSpPr>
          <p:cNvPr id="22" name="Shape 20"/>
          <p:cNvSpPr/>
          <p:nvPr/>
        </p:nvSpPr>
        <p:spPr>
          <a:xfrm>
            <a:off x="2814523"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3052267"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No SIEM export or anchor</a:t>
            </a:r>
            <a:endParaRPr lang="en-US" sz="1300" dirty="0"/>
          </a:p>
        </p:txBody>
      </p:sp>
      <p:sp>
        <p:nvSpPr>
          <p:cNvPr id="24" name="Text 22"/>
          <p:cNvSpPr txBox="1"/>
          <p:nvPr/>
        </p:nvSpPr>
        <p:spPr>
          <a:xfrm>
            <a:off x="3052267"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00" dirty="0"/>
          </a:p>
        </p:txBody>
      </p:sp>
      <p:sp>
        <p:nvSpPr>
          <p:cNvPr id="25" name="Shape 23"/>
          <p:cNvSpPr/>
          <p:nvPr/>
        </p:nvSpPr>
        <p:spPr>
          <a:xfrm>
            <a:off x="506211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529986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Starts unsealed by one PIN</a:t>
            </a:r>
            <a:endParaRPr lang="en-US" sz="1300" dirty="0"/>
          </a:p>
        </p:txBody>
      </p:sp>
      <p:sp>
        <p:nvSpPr>
          <p:cNvPr id="27" name="Text 25"/>
          <p:cNvSpPr txBox="1"/>
          <p:nvPr/>
        </p:nvSpPr>
        <p:spPr>
          <a:xfrm>
            <a:off x="529986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store needs the token, so a stolen database is inert. But one PIN holder is the ceremony.</a:t>
            </a:r>
            <a:endParaRPr lang="en-US" sz="1100" dirty="0"/>
          </a:p>
        </p:txBody>
      </p:sp>
      <p:sp>
        <p:nvSpPr>
          <p:cNvPr id="28" name="Shape 26"/>
          <p:cNvSpPr/>
          <p:nvPr/>
        </p:nvSpPr>
        <p:spPr>
          <a:xfrm>
            <a:off x="7309714"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7547458"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Not FIPS or CC validated</a:t>
            </a:r>
            <a:endParaRPr lang="en-US" sz="1300" dirty="0"/>
          </a:p>
        </p:txBody>
      </p:sp>
      <p:sp>
        <p:nvSpPr>
          <p:cNvPr id="30" name="Text 28"/>
          <p:cNvSpPr txBox="1"/>
          <p:nvPr/>
        </p:nvSpPr>
        <p:spPr>
          <a:xfrm>
            <a:off x="7547458"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00" dirty="0"/>
          </a:p>
        </p:txBody>
      </p:sp>
      <p:sp>
        <p:nvSpPr>
          <p:cNvPr id="31" name="Shape 29"/>
          <p:cNvSpPr/>
          <p:nvPr/>
        </p:nvSpPr>
        <p:spPr>
          <a:xfrm>
            <a:off x="9557309"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9795053"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 post-quantum</a:t>
            </a:r>
            <a:endParaRPr lang="en-US" sz="1300" dirty="0"/>
          </a:p>
        </p:txBody>
      </p:sp>
      <p:sp>
        <p:nvSpPr>
          <p:cNvPr id="33" name="Text 31"/>
          <p:cNvSpPr txBox="1"/>
          <p:nvPr/>
        </p:nvSpPr>
        <p:spPr>
          <a:xfrm>
            <a:off x="9795053"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Needs both a PQC token and KMIP 3.0. Neither has shipped in a release.</a:t>
            </a:r>
            <a:endParaRPr lang="en-US" sz="1100" dirty="0"/>
          </a:p>
        </p:txBody>
      </p:sp>
      <p:sp>
        <p:nvSpPr>
          <p:cNvPr id="34" name="Text 32"/>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Five waves, in dependency order</a:t>
            </a:r>
            <a:endParaRPr lang="en-US" sz="3400" dirty="0"/>
          </a:p>
        </p:txBody>
      </p:sp>
      <p:sp>
        <p:nvSpPr>
          <p:cNvPr id="4" name="Shape 2"/>
          <p:cNvSpPr/>
          <p:nvPr/>
        </p:nvSpPr>
        <p:spPr>
          <a:xfrm>
            <a:off x="566928" y="1591056"/>
            <a:ext cx="1975104" cy="1920240"/>
          </a:xfrm>
          <a:prstGeom prst="roundRect">
            <a:avLst>
              <a:gd name="adj" fmla="val 2857"/>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6</a:t>
            </a:r>
            <a:endParaRPr lang="en-US" sz="3400" dirty="0"/>
          </a:p>
        </p:txBody>
      </p:sp>
      <p:sp>
        <p:nvSpPr>
          <p:cNvPr id="6" name="Text 4"/>
          <p:cNvSpPr txBox="1"/>
          <p:nvPr/>
        </p:nvSpPr>
        <p:spPr>
          <a:xfrm>
            <a:off x="566928"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Control plane</a:t>
            </a:r>
            <a:endParaRPr lang="en-US" sz="1500" dirty="0"/>
          </a:p>
        </p:txBody>
      </p:sp>
      <p:sp>
        <p:nvSpPr>
          <p:cNvPr id="7" name="Text 5"/>
          <p:cNvSpPr txBox="1"/>
          <p:nvPr/>
        </p:nvSpPr>
        <p:spPr>
          <a:xfrm>
            <a:off x="713232"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Service layer, REST API, console</a:t>
            </a:r>
            <a:endParaRPr lang="en-US" sz="1100" dirty="0"/>
          </a:p>
        </p:txBody>
      </p:sp>
      <p:sp>
        <p:nvSpPr>
          <p:cNvPr id="8" name="Shape 6"/>
          <p:cNvSpPr/>
          <p:nvPr/>
        </p:nvSpPr>
        <p:spPr>
          <a:xfrm>
            <a:off x="2569464" y="2468880"/>
            <a:ext cx="237744" cy="164592"/>
          </a:xfrm>
          <a:prstGeom prst="rightArrow">
            <a:avLst/>
          </a:prstGeom>
          <a:solidFill>
            <a:srgbClr val="2E6DA4"/>
          </a:solidFill>
          <a:ln w="12700">
            <a:solidFill>
              <a:srgbClr val="2E6DA4"/>
            </a:solidFill>
            <a:prstDash val="solid"/>
          </a:ln>
        </p:spPr>
      </p:sp>
      <p:sp>
        <p:nvSpPr>
          <p:cNvPr id="9" name="Shape 7"/>
          <p:cNvSpPr/>
          <p:nvPr/>
        </p:nvSpPr>
        <p:spPr>
          <a:xfrm>
            <a:off x="2825496" y="1591056"/>
            <a:ext cx="1975104" cy="1920240"/>
          </a:xfrm>
          <a:prstGeom prst="roundRect">
            <a:avLst>
              <a:gd name="adj" fmla="val 2857"/>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2825496"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7</a:t>
            </a:r>
            <a:endParaRPr lang="en-US" sz="3400" dirty="0"/>
          </a:p>
        </p:txBody>
      </p:sp>
      <p:sp>
        <p:nvSpPr>
          <p:cNvPr id="11" name="Text 9"/>
          <p:cNvSpPr txBox="1"/>
          <p:nvPr/>
        </p:nvSpPr>
        <p:spPr>
          <a:xfrm>
            <a:off x="2825496"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Enterprise fit</a:t>
            </a:r>
            <a:endParaRPr lang="en-US" sz="1500" dirty="0"/>
          </a:p>
        </p:txBody>
      </p:sp>
      <p:sp>
        <p:nvSpPr>
          <p:cNvPr id="12" name="Text 10"/>
          <p:cNvSpPr txBox="1"/>
          <p:nvPr/>
        </p:nvSpPr>
        <p:spPr>
          <a:xfrm>
            <a:off x="2971800"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Directory identity, service accounts, SIEM, rate limiting</a:t>
            </a:r>
            <a:endParaRPr lang="en-US" sz="1100" dirty="0"/>
          </a:p>
        </p:txBody>
      </p:sp>
      <p:sp>
        <p:nvSpPr>
          <p:cNvPr id="13" name="Shape 11"/>
          <p:cNvSpPr/>
          <p:nvPr/>
        </p:nvSpPr>
        <p:spPr>
          <a:xfrm>
            <a:off x="4828032" y="2468880"/>
            <a:ext cx="237744" cy="164592"/>
          </a:xfrm>
          <a:prstGeom prst="rightArrow">
            <a:avLst/>
          </a:prstGeom>
          <a:solidFill>
            <a:srgbClr val="2E6DA4"/>
          </a:solidFill>
          <a:ln w="12700">
            <a:solidFill>
              <a:srgbClr val="2E6DA4"/>
            </a:solidFill>
            <a:prstDash val="solid"/>
          </a:ln>
        </p:spPr>
      </p:sp>
      <p:sp>
        <p:nvSpPr>
          <p:cNvPr id="14" name="Shape 12"/>
          <p:cNvSpPr/>
          <p:nvPr/>
        </p:nvSpPr>
        <p:spPr>
          <a:xfrm>
            <a:off x="5084064" y="1591056"/>
            <a:ext cx="1975104" cy="1920240"/>
          </a:xfrm>
          <a:prstGeom prst="roundRect">
            <a:avLst>
              <a:gd name="adj" fmla="val 2857"/>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5084064"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8</a:t>
            </a:r>
            <a:endParaRPr lang="en-US" sz="3400" dirty="0"/>
          </a:p>
        </p:txBody>
      </p:sp>
      <p:sp>
        <p:nvSpPr>
          <p:cNvPr id="16" name="Text 14"/>
          <p:cNvSpPr txBox="1"/>
          <p:nvPr/>
        </p:nvSpPr>
        <p:spPr>
          <a:xfrm>
            <a:off x="5084064"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Scale</a:t>
            </a:r>
            <a:endParaRPr lang="en-US" sz="1500" dirty="0"/>
          </a:p>
        </p:txBody>
      </p:sp>
      <p:sp>
        <p:nvSpPr>
          <p:cNvPr id="17" name="Text 15"/>
          <p:cNvSpPr txBox="1"/>
          <p:nvPr/>
        </p:nvSpPr>
        <p:spPr>
          <a:xfrm>
            <a:off x="5230368"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PostgreSQL, HA clustering, DR, HSM failover</a:t>
            </a:r>
            <a:endParaRPr lang="en-US" sz="1100" dirty="0"/>
          </a:p>
        </p:txBody>
      </p:sp>
      <p:sp>
        <p:nvSpPr>
          <p:cNvPr id="18" name="Shape 16"/>
          <p:cNvSpPr/>
          <p:nvPr/>
        </p:nvSpPr>
        <p:spPr>
          <a:xfrm>
            <a:off x="7086600" y="2468880"/>
            <a:ext cx="237744" cy="164592"/>
          </a:xfrm>
          <a:prstGeom prst="rightArrow">
            <a:avLst/>
          </a:prstGeom>
          <a:solidFill>
            <a:srgbClr val="2E6DA4"/>
          </a:solidFill>
          <a:ln w="12700">
            <a:solidFill>
              <a:srgbClr val="2E6DA4"/>
            </a:solidFill>
            <a:prstDash val="solid"/>
          </a:ln>
        </p:spPr>
      </p:sp>
      <p:sp>
        <p:nvSpPr>
          <p:cNvPr id="19" name="Shape 17"/>
          <p:cNvSpPr/>
          <p:nvPr/>
        </p:nvSpPr>
        <p:spPr>
          <a:xfrm>
            <a:off x="7342632" y="1591056"/>
            <a:ext cx="1975104" cy="1920240"/>
          </a:xfrm>
          <a:prstGeom prst="roundRect">
            <a:avLst>
              <a:gd name="adj" fmla="val 2857"/>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7342632"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9</a:t>
            </a:r>
            <a:endParaRPr lang="en-US" sz="3400" dirty="0"/>
          </a:p>
        </p:txBody>
      </p:sp>
      <p:sp>
        <p:nvSpPr>
          <p:cNvPr id="21" name="Text 19"/>
          <p:cNvSpPr txBox="1"/>
          <p:nvPr/>
        </p:nvSpPr>
        <p:spPr>
          <a:xfrm>
            <a:off x="7342632"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Tenancy</a:t>
            </a:r>
            <a:endParaRPr lang="en-US" sz="1500" dirty="0"/>
          </a:p>
        </p:txBody>
      </p:sp>
      <p:sp>
        <p:nvSpPr>
          <p:cNvPr id="22" name="Text 20"/>
          <p:cNvSpPr txBox="1"/>
          <p:nvPr/>
        </p:nvSpPr>
        <p:spPr>
          <a:xfrm>
            <a:off x="7488936"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Namespaces, quotas, per-tenant audit</a:t>
            </a:r>
            <a:endParaRPr lang="en-US" sz="1100" dirty="0"/>
          </a:p>
        </p:txBody>
      </p:sp>
      <p:sp>
        <p:nvSpPr>
          <p:cNvPr id="23" name="Shape 21"/>
          <p:cNvSpPr/>
          <p:nvPr/>
        </p:nvSpPr>
        <p:spPr>
          <a:xfrm>
            <a:off x="9345168" y="2468880"/>
            <a:ext cx="237744" cy="164592"/>
          </a:xfrm>
          <a:prstGeom prst="rightArrow">
            <a:avLst/>
          </a:prstGeom>
          <a:solidFill>
            <a:srgbClr val="2E6DA4"/>
          </a:solidFill>
          <a:ln w="12700">
            <a:solidFill>
              <a:srgbClr val="2E6DA4"/>
            </a:solidFill>
            <a:prstDash val="solid"/>
          </a:ln>
        </p:spPr>
      </p:sp>
      <p:sp>
        <p:nvSpPr>
          <p:cNvPr id="24" name="Shape 22"/>
          <p:cNvSpPr/>
          <p:nvPr/>
        </p:nvSpPr>
        <p:spPr>
          <a:xfrm>
            <a:off x="9601200" y="1591056"/>
            <a:ext cx="1975104" cy="1920240"/>
          </a:xfrm>
          <a:prstGeom prst="roundRect">
            <a:avLst>
              <a:gd name="adj" fmla="val 2857"/>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9601200"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10</a:t>
            </a:r>
            <a:endParaRPr lang="en-US" sz="3400" dirty="0"/>
          </a:p>
        </p:txBody>
      </p:sp>
      <p:sp>
        <p:nvSpPr>
          <p:cNvPr id="26" name="Text 24"/>
          <p:cNvSpPr txBox="1"/>
          <p:nvPr/>
        </p:nvSpPr>
        <p:spPr>
          <a:xfrm>
            <a:off x="9601200" y="2322576"/>
            <a:ext cx="1975104" cy="329184"/>
          </a:xfrm>
          <a:prstGeom prst="rect">
            <a:avLst/>
          </a:prstGeom>
          <a:noFill/>
          <a:ln/>
        </p:spPr>
        <p:txBody>
          <a:bodyPr wrap="square" lIns="0" tIns="0" rIns="0" bIns="0" rtlCol="0" anchor="ctr"/>
          <a:lstStyle/>
          <a:p>
            <a:pPr algn="ctr" indent="0" marL="0">
              <a:buNone/>
            </a:pPr>
            <a:r>
              <a:rPr lang="en-US" sz="1500" b="1" dirty="0">
                <a:solidFill>
                  <a:srgbClr val="102437"/>
                </a:solidFill>
                <a:latin typeface="Cambria" pitchFamily="34" charset="0"/>
                <a:ea typeface="Cambria" pitchFamily="34" charset="-122"/>
                <a:cs typeface="Cambria" pitchFamily="34" charset="-120"/>
              </a:rPr>
              <a:t>Compliance</a:t>
            </a:r>
            <a:endParaRPr lang="en-US" sz="1500" dirty="0"/>
          </a:p>
        </p:txBody>
      </p:sp>
      <p:sp>
        <p:nvSpPr>
          <p:cNvPr id="27" name="Text 25"/>
          <p:cNvSpPr txBox="1"/>
          <p:nvPr/>
        </p:nvSpPr>
        <p:spPr>
          <a:xfrm>
            <a:off x="9747504" y="2688336"/>
            <a:ext cx="1682496" cy="1152144"/>
          </a:xfrm>
          <a:prstGeom prst="rect">
            <a:avLst/>
          </a:prstGeom>
          <a:noFill/>
          <a:ln/>
        </p:spPr>
        <p:txBody>
          <a:bodyPr wrap="square" lIns="0" tIns="0" rIns="0" bIns="0" rtlCol="0" anchor="ctr"/>
          <a:lstStyle/>
          <a:p>
            <a:pPr algn="ctr" indent="0" marL="0">
              <a:buNone/>
            </a:pPr>
            <a:r>
              <a:rPr lang="en-US" sz="1100" dirty="0">
                <a:solidFill>
                  <a:srgbClr val="4A3A18"/>
                </a:solidFill>
                <a:latin typeface="Calibri" pitchFamily="34" charset="0"/>
                <a:ea typeface="Calibri" pitchFamily="34" charset="-122"/>
                <a:cs typeface="Calibri" pitchFamily="34" charset="-120"/>
              </a:rPr>
              <a:t>Validated token, KMIP 3.0, post-quantum</a:t>
            </a:r>
            <a:endParaRPr lang="en-US" sz="1100" dirty="0"/>
          </a:p>
        </p:txBody>
      </p:sp>
      <p:sp>
        <p:nvSpPr>
          <p:cNvPr id="28" name="Shape 26"/>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waves are ordered</a:t>
            </a:r>
            <a:endParaRPr lang="en-US" sz="1600" dirty="0"/>
          </a:p>
        </p:txBody>
      </p:sp>
      <p:sp>
        <p:nvSpPr>
          <p:cNvPr id="30" name="Text 28"/>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what each unlocks, not by visibility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6 makes five other gaps addressable at once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8 is a prerequisite for 9, not a parallel track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wave ships independently and is useful alone</a:t>
            </a:r>
            <a:endParaRPr lang="en-US" sz="1250" dirty="0"/>
          </a:p>
        </p:txBody>
      </p:sp>
      <p:sp>
        <p:nvSpPr>
          <p:cNvPr id="31" name="Shape 29"/>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3" name="Text 31"/>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wave has a demonstrable gate</a:t>
            </a:r>
            <a:endParaRPr lang="en-US" sz="1600" dirty="0"/>
          </a:p>
        </p:txBody>
      </p:sp>
      <p:sp>
        <p:nvSpPr>
          <p:cNvPr id="34" name="Text 32"/>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wave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Wave 6 and 7 — the control plane</a:t>
            </a:r>
            <a:endParaRPr lang="en-US" sz="3400" dirty="0"/>
          </a:p>
        </p:txBody>
      </p:sp>
      <p:sp>
        <p:nvSpPr>
          <p:cNvPr id="4" name="Shape 2"/>
          <p:cNvSpPr/>
          <p:nvPr/>
        </p:nvSpPr>
        <p:spPr>
          <a:xfrm>
            <a:off x="566928"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6.1</a:t>
            </a:r>
            <a:endParaRPr lang="en-US" sz="1000" dirty="0"/>
          </a:p>
        </p:txBody>
      </p:sp>
      <p:sp>
        <p:nvSpPr>
          <p:cNvPr id="6" name="Text 4"/>
          <p:cNvSpPr txBox="1"/>
          <p:nvPr/>
        </p:nvSpPr>
        <p:spPr>
          <a:xfrm>
            <a:off x="804672"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Service layer extraction</a:t>
            </a:r>
            <a:endParaRPr lang="en-US" sz="1500" dirty="0"/>
          </a:p>
        </p:txBody>
      </p:sp>
      <p:sp>
        <p:nvSpPr>
          <p:cNvPr id="7" name="Text 5"/>
          <p:cNvSpPr txBox="1"/>
          <p:nvPr/>
        </p:nvSpPr>
        <p:spPr>
          <a:xfrm>
            <a:off x="804672"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Move authorization, dual control, audit and metrics out of the dispatcher into a guard both transports call.</a:t>
            </a:r>
            <a:endParaRPr lang="en-US" sz="1150" dirty="0"/>
          </a:p>
        </p:txBody>
      </p:sp>
      <p:sp>
        <p:nvSpPr>
          <p:cNvPr id="8" name="Text 6"/>
          <p:cNvSpPr txBox="1"/>
          <p:nvPr/>
        </p:nvSpPr>
        <p:spPr>
          <a:xfrm>
            <a:off x="804672"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pure refactor — all 816 tests pass unchanged, no new surface.</a:t>
            </a:r>
            <a:endParaRPr lang="en-US" sz="1050" dirty="0"/>
          </a:p>
        </p:txBody>
      </p:sp>
      <p:sp>
        <p:nvSpPr>
          <p:cNvPr id="9" name="Shape 7"/>
          <p:cNvSpPr/>
          <p:nvPr/>
        </p:nvSpPr>
        <p:spPr>
          <a:xfrm>
            <a:off x="4334256"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4572000"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6.2</a:t>
            </a:r>
            <a:endParaRPr lang="en-US" sz="1000" dirty="0"/>
          </a:p>
        </p:txBody>
      </p:sp>
      <p:sp>
        <p:nvSpPr>
          <p:cNvPr id="11" name="Text 9"/>
          <p:cNvSpPr txBox="1"/>
          <p:nvPr/>
        </p:nvSpPr>
        <p:spPr>
          <a:xfrm>
            <a:off x="4572000"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Read-only REST + sessions</a:t>
            </a:r>
            <a:endParaRPr lang="en-US" sz="1500" dirty="0"/>
          </a:p>
        </p:txBody>
      </p:sp>
      <p:sp>
        <p:nvSpPr>
          <p:cNvPr id="12" name="Text 10"/>
          <p:cNvSpPr txBox="1"/>
          <p:nvPr/>
        </p:nvSpPr>
        <p:spPr>
          <a:xfrm>
            <a:off x="4572000"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Login, tokens, key inventory with paging and sort, audit search, approval queue, expiry reports.</a:t>
            </a:r>
            <a:endParaRPr lang="en-US" sz="1150" dirty="0"/>
          </a:p>
        </p:txBody>
      </p:sp>
      <p:sp>
        <p:nvSpPr>
          <p:cNvPr id="13" name="Text 11"/>
          <p:cNvSpPr txBox="1"/>
          <p:nvPr/>
        </p:nvSpPr>
        <p:spPr>
          <a:xfrm>
            <a:off x="4572000"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read-only console renders real data and can change nothing.</a:t>
            </a:r>
            <a:endParaRPr lang="en-US" sz="1050" dirty="0"/>
          </a:p>
        </p:txBody>
      </p:sp>
      <p:sp>
        <p:nvSpPr>
          <p:cNvPr id="14" name="Shape 12"/>
          <p:cNvSpPr/>
          <p:nvPr/>
        </p:nvSpPr>
        <p:spPr>
          <a:xfrm>
            <a:off x="8101584"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8339328"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6.3</a:t>
            </a:r>
            <a:endParaRPr lang="en-US" sz="1000" dirty="0"/>
          </a:p>
        </p:txBody>
      </p:sp>
      <p:sp>
        <p:nvSpPr>
          <p:cNvPr id="16" name="Text 14"/>
          <p:cNvSpPr txBox="1"/>
          <p:nvPr/>
        </p:nvSpPr>
        <p:spPr>
          <a:xfrm>
            <a:off x="8339328"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Write endpoints</a:t>
            </a:r>
            <a:endParaRPr lang="en-US" sz="1500" dirty="0"/>
          </a:p>
        </p:txBody>
      </p:sp>
      <p:sp>
        <p:nvSpPr>
          <p:cNvPr id="17" name="Text 15"/>
          <p:cNvSpPr txBox="1"/>
          <p:nvPr/>
        </p:nvSpPr>
        <p:spPr>
          <a:xfrm>
            <a:off x="8339328"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Key lifecycle, grants, groups, cryptoperiods — all through the guard, so governance applies automatically.</a:t>
            </a:r>
            <a:endParaRPr lang="en-US" sz="1150" dirty="0"/>
          </a:p>
        </p:txBody>
      </p:sp>
      <p:sp>
        <p:nvSpPr>
          <p:cNvPr id="18" name="Text 16"/>
          <p:cNvSpPr txBox="1"/>
          <p:nvPr/>
        </p:nvSpPr>
        <p:spPr>
          <a:xfrm>
            <a:off x="8339328"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REST Destroy under dual control is refused exactly as the KMIP one is.</a:t>
            </a:r>
            <a:endParaRPr lang="en-US" sz="1050" dirty="0"/>
          </a:p>
        </p:txBody>
      </p:sp>
      <p:sp>
        <p:nvSpPr>
          <p:cNvPr id="19" name="Shape 17"/>
          <p:cNvSpPr/>
          <p:nvPr/>
        </p:nvSpPr>
        <p:spPr>
          <a:xfrm>
            <a:off x="566928"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6.4</a:t>
            </a:r>
            <a:endParaRPr lang="en-US" sz="1000" dirty="0"/>
          </a:p>
        </p:txBody>
      </p:sp>
      <p:sp>
        <p:nvSpPr>
          <p:cNvPr id="21" name="Text 19"/>
          <p:cNvSpPr txBox="1"/>
          <p:nvPr/>
        </p:nvSpPr>
        <p:spPr>
          <a:xfrm>
            <a:off x="804672"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Console</a:t>
            </a:r>
            <a:endParaRPr lang="en-US" sz="1500" dirty="0"/>
          </a:p>
        </p:txBody>
      </p:sp>
      <p:sp>
        <p:nvSpPr>
          <p:cNvPr id="22" name="Text 20"/>
          <p:cNvSpPr txBox="1"/>
          <p:nvPr/>
        </p:nvSpPr>
        <p:spPr>
          <a:xfrm>
            <a:off x="804672"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 single-page client of the API. No privileged back door; the console can do nothing the API forbids.</a:t>
            </a:r>
            <a:endParaRPr lang="en-US" sz="1150" dirty="0"/>
          </a:p>
        </p:txBody>
      </p:sp>
      <p:sp>
        <p:nvSpPr>
          <p:cNvPr id="23" name="Text 21"/>
          <p:cNvSpPr txBox="1"/>
          <p:nvPr/>
        </p:nvSpPr>
        <p:spPr>
          <a:xfrm>
            <a:off x="804672"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an operator completes a full day's work without the CLI.</a:t>
            </a:r>
            <a:endParaRPr lang="en-US" sz="1050" dirty="0"/>
          </a:p>
        </p:txBody>
      </p:sp>
      <p:sp>
        <p:nvSpPr>
          <p:cNvPr id="24" name="Shape 22"/>
          <p:cNvSpPr/>
          <p:nvPr/>
        </p:nvSpPr>
        <p:spPr>
          <a:xfrm>
            <a:off x="4334256"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4572000"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7.1</a:t>
            </a:r>
            <a:endParaRPr lang="en-US" sz="1000" dirty="0"/>
          </a:p>
        </p:txBody>
      </p:sp>
      <p:sp>
        <p:nvSpPr>
          <p:cNvPr id="26" name="Text 24"/>
          <p:cNvSpPr txBox="1"/>
          <p:nvPr/>
        </p:nvSpPr>
        <p:spPr>
          <a:xfrm>
            <a:off x="4572000" y="4572000"/>
            <a:ext cx="304495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Directory identity + service accounts</a:t>
            </a:r>
            <a:endParaRPr lang="en-US" sz="1500" dirty="0"/>
          </a:p>
        </p:txBody>
      </p:sp>
      <p:sp>
        <p:nvSpPr>
          <p:cNvPr id="27" name="Text 25"/>
          <p:cNvSpPr txBox="1"/>
          <p:nvPr/>
        </p:nvSpPr>
        <p:spPr>
          <a:xfrm>
            <a:off x="4572000" y="5155692"/>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OIDC or LDAP at the edge resolving to provisioned identities, and revocable machine credentials.</a:t>
            </a:r>
            <a:endParaRPr lang="en-US" sz="1150" dirty="0"/>
          </a:p>
        </p:txBody>
      </p:sp>
      <p:sp>
        <p:nvSpPr>
          <p:cNvPr id="28" name="Text 26"/>
          <p:cNvSpPr txBox="1"/>
          <p:nvPr/>
        </p:nvSpPr>
        <p:spPr>
          <a:xfrm>
            <a:off x="4572000"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user logs in with corporate credentials; a leaked token is revoked in one action.</a:t>
            </a:r>
            <a:endParaRPr lang="en-US" sz="1050" dirty="0"/>
          </a:p>
        </p:txBody>
      </p:sp>
      <p:sp>
        <p:nvSpPr>
          <p:cNvPr id="29" name="Shape 27"/>
          <p:cNvSpPr/>
          <p:nvPr/>
        </p:nvSpPr>
        <p:spPr>
          <a:xfrm>
            <a:off x="8101584"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Text 28"/>
          <p:cNvSpPr txBox="1"/>
          <p:nvPr/>
        </p:nvSpPr>
        <p:spPr>
          <a:xfrm>
            <a:off x="8339328"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7.2</a:t>
            </a:r>
            <a:endParaRPr lang="en-US" sz="1000" dirty="0"/>
          </a:p>
        </p:txBody>
      </p:sp>
      <p:sp>
        <p:nvSpPr>
          <p:cNvPr id="31" name="Text 29"/>
          <p:cNvSpPr txBox="1"/>
          <p:nvPr/>
        </p:nvSpPr>
        <p:spPr>
          <a:xfrm>
            <a:off x="8339328"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Hardening and SIEM</a:t>
            </a:r>
            <a:endParaRPr lang="en-US" sz="1500" dirty="0"/>
          </a:p>
        </p:txBody>
      </p:sp>
      <p:sp>
        <p:nvSpPr>
          <p:cNvPr id="32" name="Text 30"/>
          <p:cNvSpPr txBox="1"/>
          <p:nvPr/>
        </p:nvSpPr>
        <p:spPr>
          <a:xfrm>
            <a:off x="8339328"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Connection caps and per-identity rate limiting; audit shipped as syslog or CEF.</a:t>
            </a:r>
            <a:endParaRPr lang="en-US" sz="1150" dirty="0"/>
          </a:p>
        </p:txBody>
      </p:sp>
      <p:sp>
        <p:nvSpPr>
          <p:cNvPr id="33" name="Text 31"/>
          <p:cNvSpPr txBox="1"/>
          <p:nvPr/>
        </p:nvSpPr>
        <p:spPr>
          <a:xfrm>
            <a:off x="8339328"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the listener survives a flood; entries appear in the SIEM within a minute.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Wave 8 to 10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8</a:t>
            </a:r>
            <a:endParaRPr lang="en-US" sz="2200" dirty="0"/>
          </a:p>
        </p:txBody>
      </p:sp>
      <p:sp>
        <p:nvSpPr>
          <p:cNvPr id="6" name="Text 4"/>
          <p:cNvSpPr txBox="1"/>
          <p:nvPr/>
        </p:nvSpPr>
        <p:spPr>
          <a:xfrm>
            <a:off x="1481328" y="1554480"/>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and availability</a:t>
            </a:r>
            <a:endParaRPr lang="en-US" sz="1700" dirty="0"/>
          </a:p>
        </p:txBody>
      </p:sp>
      <p:sp>
        <p:nvSpPr>
          <p:cNvPr id="7" name="Text 5"/>
          <p:cNvSpPr txBox="1"/>
          <p:nvPr/>
        </p:nvSpPr>
        <p:spPr>
          <a:xfrm>
            <a:off x="5413248" y="1554480"/>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PostgreSQL backend is the prerequisite: SQLite has no multi-writer story, so clustering, replication and DR all wait behind it. HSM failover follows, once a second token exists to test against.</a:t>
            </a:r>
            <a:endParaRPr lang="en-US" sz="1200" dirty="0"/>
          </a:p>
        </p:txBody>
      </p:sp>
      <p:sp>
        <p:nvSpPr>
          <p:cNvPr id="8" name="Shape 6"/>
          <p:cNvSpPr/>
          <p:nvPr/>
        </p:nvSpPr>
        <p:spPr>
          <a:xfrm>
            <a:off x="566928" y="2816352"/>
            <a:ext cx="658368" cy="658368"/>
          </a:xfrm>
          <a:prstGeom prst="roundRect">
            <a:avLst>
              <a:gd name="adj" fmla="val 11111"/>
            </a:avLst>
          </a:prstGeom>
          <a:solidFill>
            <a:srgbClr val="C8952B"/>
          </a:solidFill>
          <a:ln w="12700">
            <a:solidFill>
              <a:srgbClr val="C8952B"/>
            </a:solidFill>
            <a:prstDash val="solid"/>
          </a:ln>
        </p:spPr>
      </p:sp>
      <p:sp>
        <p:nvSpPr>
          <p:cNvPr id="9" name="Text 7"/>
          <p:cNvSpPr txBox="1"/>
          <p:nvPr/>
        </p:nvSpPr>
        <p:spPr>
          <a:xfrm>
            <a:off x="566928" y="2816352"/>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9</a:t>
            </a:r>
            <a:endParaRPr lang="en-US" sz="2200" dirty="0"/>
          </a:p>
        </p:txBody>
      </p:sp>
      <p:sp>
        <p:nvSpPr>
          <p:cNvPr id="10" name="Text 8"/>
          <p:cNvSpPr txBox="1"/>
          <p:nvPr/>
        </p:nvSpPr>
        <p:spPr>
          <a:xfrm>
            <a:off x="1481328" y="2798064"/>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Multi-tenancy</a:t>
            </a:r>
            <a:endParaRPr lang="en-US" sz="1700" dirty="0"/>
          </a:p>
        </p:txBody>
      </p:sp>
      <p:sp>
        <p:nvSpPr>
          <p:cNvPr id="11" name="Text 9"/>
          <p:cNvSpPr txBox="1"/>
          <p:nvPr/>
        </p:nvSpPr>
        <p:spPr>
          <a:xfrm>
            <a:off x="5413248" y="2798064"/>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tenant boundary reaches into every query, the audit log and the CLI — a wave of its own, not a flag. Worth building when there is a second tenant to serve; until then one deployment per tenant is a real answer.</a:t>
            </a:r>
            <a:endParaRPr lang="en-US" sz="1200" dirty="0"/>
          </a:p>
        </p:txBody>
      </p:sp>
      <p:sp>
        <p:nvSpPr>
          <p:cNvPr id="12" name="Shape 10"/>
          <p:cNvSpPr/>
          <p:nvPr/>
        </p:nvSpPr>
        <p:spPr>
          <a:xfrm>
            <a:off x="566928" y="4059936"/>
            <a:ext cx="658368" cy="658368"/>
          </a:xfrm>
          <a:prstGeom prst="roundRect">
            <a:avLst>
              <a:gd name="adj" fmla="val 11111"/>
            </a:avLst>
          </a:prstGeom>
          <a:solidFill>
            <a:srgbClr val="C8952B"/>
          </a:solidFill>
          <a:ln w="12700">
            <a:solidFill>
              <a:srgbClr val="C8952B"/>
            </a:solidFill>
            <a:prstDash val="solid"/>
          </a:ln>
        </p:spPr>
      </p:sp>
      <p:sp>
        <p:nvSpPr>
          <p:cNvPr id="13" name="Text 11"/>
          <p:cNvSpPr txBox="1"/>
          <p:nvPr/>
        </p:nvSpPr>
        <p:spPr>
          <a:xfrm>
            <a:off x="566928" y="4059936"/>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10</a:t>
            </a:r>
            <a:endParaRPr lang="en-US" sz="2200" dirty="0"/>
          </a:p>
        </p:txBody>
      </p:sp>
      <p:sp>
        <p:nvSpPr>
          <p:cNvPr id="14" name="Text 12"/>
          <p:cNvSpPr txBox="1"/>
          <p:nvPr/>
        </p:nvSpPr>
        <p:spPr>
          <a:xfrm>
            <a:off x="1481328" y="4041648"/>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Compliance and post-quantum</a:t>
            </a:r>
            <a:endParaRPr lang="en-US" sz="1700" dirty="0"/>
          </a:p>
        </p:txBody>
      </p:sp>
      <p:sp>
        <p:nvSpPr>
          <p:cNvPr id="15" name="Text 13"/>
          <p:cNvSpPr txBox="1"/>
          <p:nvPr/>
        </p:nvSpPr>
        <p:spPr>
          <a:xfrm>
            <a:off x="5413248" y="4041648"/>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Swap in a validated token and run the suite against it. Adopt KMIP 3.0 and the PQC algorithms once a token ships them in a release — vendor-range enums would work locally and interoperate with nothing.</a:t>
            </a:r>
            <a:endParaRPr lang="en-US" sz="1200" dirty="0"/>
          </a:p>
        </p:txBody>
      </p:sp>
      <p:sp>
        <p:nvSpPr>
          <p:cNvPr id="16" name="Text 14"/>
          <p:cNvSpPr txBox="1"/>
          <p:nvPr/>
        </p:nvSpPr>
        <p:spPr>
          <a:xfrm>
            <a:off x="566928" y="5358384"/>
            <a:ext cx="5120640" cy="292608"/>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17" name="Text 15"/>
          <p:cNvSpPr txBox="1"/>
          <p:nvPr/>
        </p:nvSpPr>
        <p:spPr>
          <a:xfrm>
            <a:off x="566928" y="5614416"/>
            <a:ext cx="5486400" cy="896112"/>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Tokenization and FPE — a separate product, not a KMS feature.</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Being a certificate authority — front it with a real CA instead.</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A PKCS#11 provider for applications — only if demand appears.</a:t>
            </a:r>
            <a:endParaRPr lang="en-US" sz="1150" dirty="0"/>
          </a:p>
        </p:txBody>
      </p:sp>
      <p:sp>
        <p:nvSpPr>
          <p:cNvPr id="18" name="Shape 16"/>
          <p:cNvSpPr/>
          <p:nvPr/>
        </p:nvSpPr>
        <p:spPr>
          <a:xfrm>
            <a:off x="6236208" y="5303520"/>
            <a:ext cx="5394960" cy="1170432"/>
          </a:xfrm>
          <a:prstGeom prst="roundRect">
            <a:avLst>
              <a:gd name="adj" fmla="val 4688"/>
            </a:avLst>
          </a:prstGeom>
          <a:solidFill>
            <a:srgbClr val="1B3350"/>
          </a:solidFill>
          <a:ln w="12700">
            <a:solidFill>
              <a:srgbClr val="2A4A6B"/>
            </a:solidFill>
            <a:prstDash val="solid"/>
          </a:ln>
        </p:spPr>
      </p:sp>
      <p:sp>
        <p:nvSpPr>
          <p:cNvPr id="19" name="Text 17"/>
          <p:cNvSpPr txBox="1"/>
          <p:nvPr/>
        </p:nvSpPr>
        <p:spPr>
          <a:xfrm>
            <a:off x="6473952" y="5504688"/>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roadmap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2026-09-11T23:18:37Z</dcterms:created>
  <dcterms:modified xsi:type="dcterms:W3CDTF">2026-09-11T23:18:37Z</dcterms:modified>
</cp:coreProperties>
</file>