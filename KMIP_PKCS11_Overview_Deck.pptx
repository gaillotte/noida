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deck covers what KMIP is, how this implementation is designed on top of PKCS#11, what a full KMS needs beyond it, where we stand against the commercial market, and the route forward. Every number on this slide was verified by running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KMIP is substitution. Before it, key management was a lock-in surface. Note it is a protocol and object model, not a product — a distinction that matters again three slides from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Deactivated rule is the one people get wrong: a retired key keeps Decrypt and Verify. If it did not, retiring a key would destroy access to everything it ever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hinge of the deck. Everything we later call a gap 'outside KMIP' traces back to the right-hand column — it is not that we have not implemented those things, it is that the protocol has no way to express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to remember: everything above the shim is protocol and policy; everything below is the token. That boundary is what makes a validated-HSM swap a procurement decision rather than a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matched-pair point is the one operators get wrong. Restore refuses a mismatched token for exactly this reason, and backup verification proves a stored secret actually decrypts rather than assuming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one slide from this section survives, it should be this one. The left card is the design constraint for the next section; the middle card is the answer to 'why not just add threads'.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card is the design discipline. It is tempting to expose encrypt/decrypt over REST because it is easy; that is how products end up with divergent authorization on two paths to the same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as the sequencing argument: the service layer in the middle is the first thing to build, and it can be built and shipped before any REST endpoint exists, as a pure refactor proven by the existing test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statistic is the one to dwell on: 19 of the shortfalls are not backlog items for the KMIP layer at all. Integration and identity are where the concentration of gaps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for all of it: 816 tests running live against a real SoftHSM2 token rather than mocks, built up across phases 0 to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them: the first four are engineering we could start tomorrow, the middle two are design trade-offs with known costs, and the last two depend on suppliers rather than on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0 to 5 used exactly this structure and all six gates were met, so the format is proven on this codebase rather than borrowed.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 is the one to insist on. It ships no feature and removes the risk that every later endpoint quietly bypasses dual control. If the roadmap gets cut, cut from the end, not from the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discipline rather than the feature list: phases 0 to 5 earned their credibility by finding real defects through execution, and the same standard applies to everything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437"/>
        </a:solidFill>
      </p:bgPr>
    </p:bg>
    <p:spTree>
      <p:nvGrpSpPr>
        <p:cNvPr id="1" name=""/>
        <p:cNvGrpSpPr/>
        <p:nvPr/>
      </p:nvGrpSpPr>
      <p:grpSpPr>
        <a:xfrm>
          <a:off x="0" y="0"/>
          <a:ext cx="0" cy="0"/>
          <a:chOff x="0" y="0"/>
          <a:chExt cx="0" cy="0"/>
        </a:xfrm>
      </p:grpSpPr>
      <p:sp>
        <p:nvSpPr>
          <p:cNvPr id="2" name="Text 0"/>
          <p:cNvSpPr txBox="1"/>
          <p:nvPr/>
        </p:nvSpPr>
        <p:spPr>
          <a:xfrm>
            <a:off x="566928" y="1783080"/>
            <a:ext cx="11027664"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KMIP on PKCS#11</a:t>
            </a:r>
            <a:endParaRPr lang="en-US" sz="5400" dirty="0"/>
          </a:p>
        </p:txBody>
      </p:sp>
      <p:sp>
        <p:nvSpPr>
          <p:cNvPr id="3" name="Text 1"/>
          <p:cNvSpPr txBox="1"/>
          <p:nvPr/>
        </p:nvSpPr>
        <p:spPr>
          <a:xfrm>
            <a:off x="566928" y="2743200"/>
            <a:ext cx="11027664" cy="457200"/>
          </a:xfrm>
          <a:prstGeom prst="rect">
            <a:avLst/>
          </a:prstGeom>
          <a:noFill/>
          <a:ln/>
        </p:spPr>
        <p:txBody>
          <a:bodyPr wrap="square" lIns="0" tIns="0" rIns="0" bIns="0" rtlCol="0" anchor="ctr"/>
          <a:lstStyle/>
          <a:p>
            <a:pPr indent="0" marL="0">
              <a:buNone/>
            </a:pPr>
            <a:r>
              <a:rPr lang="en-US" sz="2400" dirty="0">
                <a:solidFill>
                  <a:srgbClr val="9DB8D4"/>
                </a:solidFill>
                <a:latin typeface="Cambria" pitchFamily="34" charset="0"/>
                <a:ea typeface="Cambria" pitchFamily="34" charset="-122"/>
                <a:cs typeface="Cambria" pitchFamily="34" charset="-120"/>
              </a:rPr>
              <a:t>From key server to key management service</a:t>
            </a:r>
            <a:endParaRPr lang="en-US" sz="2400" dirty="0"/>
          </a:p>
        </p:txBody>
      </p:sp>
      <p:sp>
        <p:nvSpPr>
          <p:cNvPr id="4" name="Text 2"/>
          <p:cNvSpPr txBox="1"/>
          <p:nvPr/>
        </p:nvSpPr>
        <p:spPr>
          <a:xfrm>
            <a:off x="566928" y="3310128"/>
            <a:ext cx="11027664" cy="365760"/>
          </a:xfrm>
          <a:prstGeom prst="rect">
            <a:avLst/>
          </a:prstGeom>
          <a:noFill/>
          <a:ln/>
        </p:spPr>
        <p:txBody>
          <a:bodyPr wrap="square" lIns="0" tIns="0" rIns="0" bIns="0" rtlCol="0" anchor="ctr"/>
          <a:lstStyle/>
          <a:p>
            <a:pPr indent="0" marL="0">
              <a:buNone/>
            </a:pPr>
            <a:r>
              <a:rPr lang="en-US" sz="1400" spc="140" kern="0" dirty="0">
                <a:solidFill>
                  <a:srgbClr val="C8952B"/>
                </a:solidFill>
                <a:latin typeface="Calibri" pitchFamily="34" charset="0"/>
                <a:ea typeface="Calibri" pitchFamily="34" charset="-122"/>
                <a:cs typeface="Calibri" pitchFamily="34" charset="-120"/>
              </a:rPr>
              <a:t>Design · gap analysis · roadmap</a:t>
            </a:r>
            <a:endParaRPr lang="en-US" sz="1400" dirty="0"/>
          </a:p>
        </p:txBody>
      </p:sp>
      <p:sp>
        <p:nvSpPr>
          <p:cNvPr id="5" name="Text 3"/>
          <p:cNvSpPr txBox="1"/>
          <p:nvPr/>
        </p:nvSpPr>
        <p:spPr>
          <a:xfrm>
            <a:off x="566928" y="4343400"/>
            <a:ext cx="2560320" cy="502920"/>
          </a:xfrm>
          <a:prstGeom prst="rect">
            <a:avLst/>
          </a:prstGeom>
          <a:noFill/>
          <a:ln/>
        </p:spPr>
        <p:txBody>
          <a:bodyPr wrap="square" lIns="0" tIns="0" rIns="0" bIns="0" rtlCol="0" anchor="ctr"/>
          <a:lstStyle/>
          <a:p>
            <a:pPr indent="0" marL="0">
              <a:buNone/>
            </a:pPr>
            <a:r>
              <a:rPr lang="en-US" sz="3000" b="1" dirty="0">
                <a:solidFill>
                  <a:srgbClr val="C8952B"/>
                </a:solidFill>
                <a:latin typeface="Cambria" pitchFamily="34" charset="0"/>
                <a:ea typeface="Cambria" pitchFamily="34" charset="-122"/>
                <a:cs typeface="Cambria" pitchFamily="34" charset="-120"/>
              </a:rPr>
              <a:t>41 / 53</a:t>
            </a:r>
            <a:endParaRPr lang="en-US" sz="3000" dirty="0"/>
          </a:p>
        </p:txBody>
      </p:sp>
      <p:sp>
        <p:nvSpPr>
          <p:cNvPr id="6" name="Text 4"/>
          <p:cNvSpPr txBox="1"/>
          <p:nvPr/>
        </p:nvSpPr>
        <p:spPr>
          <a:xfrm>
            <a:off x="566928" y="4864608"/>
            <a:ext cx="2560320" cy="457200"/>
          </a:xfrm>
          <a:prstGeom prst="rect">
            <a:avLst/>
          </a:prstGeom>
          <a:noFill/>
          <a:ln/>
        </p:spPr>
        <p:txBody>
          <a:bodyPr wrap="square" lIns="0" tIns="0" rIns="0" bIns="0" rtlCol="0" anchor="ctr"/>
          <a:lstStyle/>
          <a:p>
            <a:pPr indent="0" marL="0">
              <a:buNone/>
            </a:pPr>
            <a:r>
              <a:rPr lang="en-US" sz="1150" dirty="0">
                <a:solidFill>
                  <a:srgbClr val="9DB8D4"/>
                </a:solidFill>
                <a:latin typeface="Calibri" pitchFamily="34" charset="0"/>
                <a:ea typeface="Calibri" pitchFamily="34" charset="-122"/>
                <a:cs typeface="Calibri" pitchFamily="34" charset="-120"/>
              </a:rPr>
              <a:t>KMIP 2.1 operations</a:t>
            </a:r>
            <a:endParaRPr lang="en-US" sz="1150" dirty="0"/>
          </a:p>
        </p:txBody>
      </p:sp>
      <p:sp>
        <p:nvSpPr>
          <p:cNvPr id="7" name="Text 5"/>
          <p:cNvSpPr txBox="1"/>
          <p:nvPr/>
        </p:nvSpPr>
        <p:spPr>
          <a:xfrm>
            <a:off x="3355848" y="4343400"/>
            <a:ext cx="2560320" cy="502920"/>
          </a:xfrm>
          <a:prstGeom prst="rect">
            <a:avLst/>
          </a:prstGeom>
          <a:noFill/>
          <a:ln/>
        </p:spPr>
        <p:txBody>
          <a:bodyPr wrap="square" lIns="0" tIns="0" rIns="0" bIns="0" rtlCol="0" anchor="ctr"/>
          <a:lstStyle/>
          <a:p>
            <a:pPr indent="0" marL="0">
              <a:buNone/>
            </a:pPr>
            <a:r>
              <a:rPr lang="en-US" sz="3000" b="1" dirty="0">
                <a:solidFill>
                  <a:srgbClr val="C8952B"/>
                </a:solidFill>
                <a:latin typeface="Cambria" pitchFamily="34" charset="0"/>
                <a:ea typeface="Cambria" pitchFamily="34" charset="-122"/>
                <a:cs typeface="Cambria" pitchFamily="34" charset="-120"/>
              </a:rPr>
              <a:t>816</a:t>
            </a:r>
            <a:endParaRPr lang="en-US" sz="3000" dirty="0"/>
          </a:p>
        </p:txBody>
      </p:sp>
      <p:sp>
        <p:nvSpPr>
          <p:cNvPr id="8" name="Text 6"/>
          <p:cNvSpPr txBox="1"/>
          <p:nvPr/>
        </p:nvSpPr>
        <p:spPr>
          <a:xfrm>
            <a:off x="3355848" y="4864608"/>
            <a:ext cx="2560320" cy="457200"/>
          </a:xfrm>
          <a:prstGeom prst="rect">
            <a:avLst/>
          </a:prstGeom>
          <a:noFill/>
          <a:ln/>
        </p:spPr>
        <p:txBody>
          <a:bodyPr wrap="square" lIns="0" tIns="0" rIns="0" bIns="0" rtlCol="0" anchor="ctr"/>
          <a:lstStyle/>
          <a:p>
            <a:pPr indent="0" marL="0">
              <a:buNone/>
            </a:pPr>
            <a:r>
              <a:rPr lang="en-US" sz="1150" dirty="0">
                <a:solidFill>
                  <a:srgbClr val="9DB8D4"/>
                </a:solidFill>
                <a:latin typeface="Calibri" pitchFamily="34" charset="0"/>
                <a:ea typeface="Calibri" pitchFamily="34" charset="-122"/>
                <a:cs typeface="Calibri" pitchFamily="34" charset="-120"/>
              </a:rPr>
              <a:t>tests, live against a token</a:t>
            </a:r>
            <a:endParaRPr lang="en-US" sz="1150" dirty="0"/>
          </a:p>
        </p:txBody>
      </p:sp>
      <p:sp>
        <p:nvSpPr>
          <p:cNvPr id="9" name="Text 7"/>
          <p:cNvSpPr txBox="1"/>
          <p:nvPr/>
        </p:nvSpPr>
        <p:spPr>
          <a:xfrm>
            <a:off x="6144768" y="4343400"/>
            <a:ext cx="2560320" cy="502920"/>
          </a:xfrm>
          <a:prstGeom prst="rect">
            <a:avLst/>
          </a:prstGeom>
          <a:noFill/>
          <a:ln/>
        </p:spPr>
        <p:txBody>
          <a:bodyPr wrap="square" lIns="0" tIns="0" rIns="0" bIns="0" rtlCol="0" anchor="ctr"/>
          <a:lstStyle/>
          <a:p>
            <a:pPr indent="0" marL="0">
              <a:buNone/>
            </a:pPr>
            <a:r>
              <a:rPr lang="en-US" sz="3000" b="1" dirty="0">
                <a:solidFill>
                  <a:srgbClr val="C8952B"/>
                </a:solidFill>
                <a:latin typeface="Cambria" pitchFamily="34" charset="0"/>
                <a:ea typeface="Cambria" pitchFamily="34" charset="-122"/>
                <a:cs typeface="Cambria" pitchFamily="34" charset="-120"/>
              </a:rPr>
              <a:t>74</a:t>
            </a:r>
            <a:endParaRPr lang="en-US" sz="3000" dirty="0"/>
          </a:p>
        </p:txBody>
      </p:sp>
      <p:sp>
        <p:nvSpPr>
          <p:cNvPr id="10" name="Text 8"/>
          <p:cNvSpPr txBox="1"/>
          <p:nvPr/>
        </p:nvSpPr>
        <p:spPr>
          <a:xfrm>
            <a:off x="6144768" y="4864608"/>
            <a:ext cx="2560320" cy="457200"/>
          </a:xfrm>
          <a:prstGeom prst="rect">
            <a:avLst/>
          </a:prstGeom>
          <a:noFill/>
          <a:ln/>
        </p:spPr>
        <p:txBody>
          <a:bodyPr wrap="square" lIns="0" tIns="0" rIns="0" bIns="0" rtlCol="0" anchor="ctr"/>
          <a:lstStyle/>
          <a:p>
            <a:pPr indent="0" marL="0">
              <a:buNone/>
            </a:pPr>
            <a:r>
              <a:rPr lang="en-US" sz="1150" dirty="0">
                <a:solidFill>
                  <a:srgbClr val="9DB8D4"/>
                </a:solidFill>
                <a:latin typeface="Calibri" pitchFamily="34" charset="0"/>
                <a:ea typeface="Calibri" pitchFamily="34" charset="-122"/>
                <a:cs typeface="Calibri" pitchFamily="34" charset="-120"/>
              </a:rPr>
              <a:t>features assessed vs market</a:t>
            </a:r>
            <a:endParaRPr lang="en-US" sz="1150" dirty="0"/>
          </a:p>
        </p:txBody>
      </p:sp>
      <p:sp>
        <p:nvSpPr>
          <p:cNvPr id="11" name="Text 9"/>
          <p:cNvSpPr txBox="1"/>
          <p:nvPr/>
        </p:nvSpPr>
        <p:spPr>
          <a:xfrm>
            <a:off x="8933688" y="4343400"/>
            <a:ext cx="2560320" cy="502920"/>
          </a:xfrm>
          <a:prstGeom prst="rect">
            <a:avLst/>
          </a:prstGeom>
          <a:noFill/>
          <a:ln/>
        </p:spPr>
        <p:txBody>
          <a:bodyPr wrap="square" lIns="0" tIns="0" rIns="0" bIns="0" rtlCol="0" anchor="ctr"/>
          <a:lstStyle/>
          <a:p>
            <a:pPr indent="0" marL="0">
              <a:buNone/>
            </a:pPr>
            <a:r>
              <a:rPr lang="en-US" sz="3000" b="1" dirty="0">
                <a:solidFill>
                  <a:srgbClr val="C8952B"/>
                </a:solidFill>
                <a:latin typeface="Cambria" pitchFamily="34" charset="0"/>
                <a:ea typeface="Cambria" pitchFamily="34" charset="-122"/>
                <a:cs typeface="Cambria" pitchFamily="34" charset="-120"/>
              </a:rPr>
              <a:t>19</a:t>
            </a:r>
            <a:endParaRPr lang="en-US" sz="3000" dirty="0"/>
          </a:p>
        </p:txBody>
      </p:sp>
      <p:sp>
        <p:nvSpPr>
          <p:cNvPr id="12" name="Text 10"/>
          <p:cNvSpPr txBox="1"/>
          <p:nvPr/>
        </p:nvSpPr>
        <p:spPr>
          <a:xfrm>
            <a:off x="8933688" y="4864608"/>
            <a:ext cx="2560320" cy="457200"/>
          </a:xfrm>
          <a:prstGeom prst="rect">
            <a:avLst/>
          </a:prstGeom>
          <a:noFill/>
          <a:ln/>
        </p:spPr>
        <p:txBody>
          <a:bodyPr wrap="square" lIns="0" tIns="0" rIns="0" bIns="0" rtlCol="0" anchor="ctr"/>
          <a:lstStyle/>
          <a:p>
            <a:pPr indent="0" marL="0">
              <a:buNone/>
            </a:pPr>
            <a:r>
              <a:rPr lang="en-US" sz="1150" dirty="0">
                <a:solidFill>
                  <a:srgbClr val="9DB8D4"/>
                </a:solidFill>
                <a:latin typeface="Calibri" pitchFamily="34" charset="0"/>
                <a:ea typeface="Calibri" pitchFamily="34" charset="-122"/>
                <a:cs typeface="Calibri" pitchFamily="34" charset="-120"/>
              </a:rPr>
              <a:t>gaps outside KMIP's reach</a:t>
            </a:r>
            <a:endParaRPr lang="en-US" sz="1150" dirty="0"/>
          </a:p>
        </p:txBody>
      </p:sp>
      <p:sp>
        <p:nvSpPr>
          <p:cNvPr id="13" name="Text 11"/>
          <p:cNvSpPr txBox="1"/>
          <p:nvPr/>
        </p:nvSpPr>
        <p:spPr>
          <a:xfrm>
            <a:off x="566928" y="6108192"/>
            <a:ext cx="11027664" cy="274320"/>
          </a:xfrm>
          <a:prstGeom prst="rect">
            <a:avLst/>
          </a:prstGeom>
          <a:noFill/>
          <a:ln/>
        </p:spPr>
        <p:txBody>
          <a:bodyPr wrap="square" lIns="0" tIns="0" rIns="0" bIns="0" rtlCol="0" anchor="ctr"/>
          <a:lstStyle/>
          <a:p>
            <a:pPr indent="0" marL="0">
              <a:buNone/>
            </a:pPr>
            <a:r>
              <a:rPr lang="en-US" sz="1050" dirty="0">
                <a:solidFill>
                  <a:srgbClr val="6B8299"/>
                </a:solidFill>
                <a:latin typeface="Calibri" pitchFamily="34" charset="0"/>
                <a:ea typeface="Calibri" pitchFamily="34" charset="-122"/>
                <a:cs typeface="Calibri" pitchFamily="34" charset="-120"/>
              </a:rPr>
              <a:t>kmip_pkcs11  ·  September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27664" cy="237744"/>
          </a:xfrm>
          <a:prstGeom prst="rect">
            <a:avLst/>
          </a:prstGeom>
          <a:noFill/>
          <a:ln/>
        </p:spPr>
        <p:txBody>
          <a:bodyPr wrap="square" lIns="0" tIns="0" rIns="0" bIns="0" rtlCol="0" anchor="ctr"/>
          <a:lstStyle/>
          <a:p>
            <a:pPr indent="0" marL="0">
              <a:buNone/>
            </a:pPr>
            <a:r>
              <a:rPr lang="en-US" sz="1150" b="1" spc="220" kern="0" dirty="0">
                <a:solidFill>
                  <a:srgbClr val="C8952B"/>
                </a:solidFill>
                <a:latin typeface="Calibri" pitchFamily="34" charset="0"/>
                <a:ea typeface="Calibri" pitchFamily="34" charset="-122"/>
                <a:cs typeface="Calibri" pitchFamily="34" charset="-120"/>
              </a:rPr>
              <a:t>WHAT IS KMIP · 1 OF 3</a:t>
            </a:r>
            <a:endParaRPr lang="en-US" sz="1150" dirty="0"/>
          </a:p>
        </p:txBody>
      </p:sp>
      <p:sp>
        <p:nvSpPr>
          <p:cNvPr id="3" name="Text 1"/>
          <p:cNvSpPr txBox="1"/>
          <p:nvPr/>
        </p:nvSpPr>
        <p:spPr>
          <a:xfrm>
            <a:off x="566928" y="621792"/>
            <a:ext cx="11027664" cy="658368"/>
          </a:xfrm>
          <a:prstGeom prst="rect">
            <a:avLst/>
          </a:prstGeom>
          <a:noFill/>
          <a:ln/>
        </p:spPr>
        <p:txBody>
          <a:bodyPr wrap="square" lIns="0" tIns="0" rIns="0" bIns="0" rtlCol="0" anchor="ctr"/>
          <a:lstStyle/>
          <a:p>
            <a:pPr indent="0" marL="0">
              <a:buNone/>
            </a:pPr>
            <a:r>
              <a:rPr lang="en-US" sz="3400" b="1" dirty="0">
                <a:solidFill>
                  <a:srgbClr val="1A3A5C"/>
                </a:solidFill>
                <a:latin typeface="Cambria" pitchFamily="34" charset="0"/>
                <a:ea typeface="Cambria" pitchFamily="34" charset="-122"/>
                <a:cs typeface="Cambria" pitchFamily="34" charset="-120"/>
              </a:rPr>
              <a:t>One protocol for every key store</a:t>
            </a:r>
            <a:endParaRPr lang="en-US" sz="3400" dirty="0"/>
          </a:p>
        </p:txBody>
      </p:sp>
      <p:sp>
        <p:nvSpPr>
          <p:cNvPr id="4" name="Shape 2"/>
          <p:cNvSpPr/>
          <p:nvPr/>
        </p:nvSpPr>
        <p:spPr>
          <a:xfrm>
            <a:off x="566928" y="1572768"/>
            <a:ext cx="5394960" cy="2084832"/>
          </a:xfrm>
          <a:prstGeom prst="roundRect">
            <a:avLst>
              <a:gd name="adj" fmla="val 2632"/>
            </a:avLst>
          </a:prstGeom>
          <a:solidFill>
            <a:srgbClr val="F7E9E8"/>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5" name="Text 3"/>
          <p:cNvSpPr txBox="1"/>
          <p:nvPr/>
        </p:nvSpPr>
        <p:spPr>
          <a:xfrm>
            <a:off x="804672" y="1773936"/>
            <a:ext cx="4919472" cy="201168"/>
          </a:xfrm>
          <a:prstGeom prst="rect">
            <a:avLst/>
          </a:prstGeom>
          <a:noFill/>
          <a:ln/>
        </p:spPr>
        <p:txBody>
          <a:bodyPr wrap="square" lIns="0" tIns="0" rIns="0" bIns="0" rtlCol="0" anchor="ctr"/>
          <a:lstStyle/>
          <a:p>
            <a:pPr indent="0" marL="0">
              <a:buNone/>
            </a:pPr>
            <a:r>
              <a:rPr lang="en-US" sz="1000" b="1" spc="160" kern="0" dirty="0">
                <a:solidFill>
                  <a:srgbClr val="B3261E"/>
                </a:solidFill>
                <a:latin typeface="Calibri" pitchFamily="34" charset="0"/>
                <a:ea typeface="Calibri" pitchFamily="34" charset="-122"/>
                <a:cs typeface="Calibri" pitchFamily="34" charset="-120"/>
              </a:rPr>
              <a:t>BEFORE</a:t>
            </a:r>
            <a:endParaRPr lang="en-US" sz="1000" dirty="0"/>
          </a:p>
        </p:txBody>
      </p:sp>
      <p:sp>
        <p:nvSpPr>
          <p:cNvPr id="6" name="Text 4"/>
          <p:cNvSpPr txBox="1"/>
          <p:nvPr/>
        </p:nvSpPr>
        <p:spPr>
          <a:xfrm>
            <a:off x="804672" y="2048256"/>
            <a:ext cx="4919472" cy="310896"/>
          </a:xfrm>
          <a:prstGeom prst="rect">
            <a:avLst/>
          </a:prstGeom>
          <a:noFill/>
          <a:ln/>
        </p:spPr>
        <p:txBody>
          <a:bodyPr wrap="square" lIns="0" tIns="0" rIns="0" bIns="0" rtlCol="0" anchor="ctr"/>
          <a:lstStyle/>
          <a:p>
            <a:pPr indent="0" marL="0">
              <a:buNone/>
            </a:pPr>
            <a:r>
              <a:rPr lang="en-US" sz="1600" b="1" dirty="0">
                <a:solidFill>
                  <a:srgbClr val="1A3A5C"/>
                </a:solidFill>
                <a:latin typeface="Cambria" pitchFamily="34" charset="0"/>
                <a:ea typeface="Cambria" pitchFamily="34" charset="-122"/>
                <a:cs typeface="Cambria" pitchFamily="34" charset="-120"/>
              </a:rPr>
              <a:t>N vendors, N integrations</a:t>
            </a:r>
            <a:endParaRPr lang="en-US" sz="1600" dirty="0"/>
          </a:p>
        </p:txBody>
      </p:sp>
      <p:sp>
        <p:nvSpPr>
          <p:cNvPr id="7" name="Text 5"/>
          <p:cNvSpPr txBox="1"/>
          <p:nvPr/>
        </p:nvSpPr>
        <p:spPr>
          <a:xfrm>
            <a:off x="804672" y="2414016"/>
            <a:ext cx="4919472" cy="1078992"/>
          </a:xfrm>
          <a:prstGeom prst="rect">
            <a:avLst/>
          </a:prstGeom>
          <a:noFill/>
          <a:ln/>
        </p:spPr>
        <p:txBody>
          <a:bodyPr wrap="square" lIns="0" tIns="0" rIns="0" bIns="0" rtlCol="0" anchor="t"/>
          <a:lstStyle/>
          <a:p>
            <a:pPr marL="342900" indent="-342900">
              <a:lnSpc>
                <a:spcPts val="1700"/>
              </a:lnSpc>
              <a:spcAft>
                <a:spcPts val="600"/>
              </a:spcAft>
              <a:buSzPct val="100000"/>
              <a:buChar char="•"/>
            </a:pPr>
            <a:r>
              <a:rPr lang="en-US" sz="1300" dirty="0">
                <a:solidFill>
                  <a:srgbClr val="4D5A68"/>
                </a:solidFill>
                <a:latin typeface="Calibri" pitchFamily="34" charset="0"/>
                <a:ea typeface="Calibri" pitchFamily="34" charset="-122"/>
                <a:cs typeface="Calibri" pitchFamily="34" charset="-120"/>
              </a:rPr>
              <a:t>Every HSM and KMS exposed its own proprietary API</a:t>
            </a:r>
            <a:endParaRPr lang="en-US" sz="1300" dirty="0"/>
          </a:p>
          <a:p>
            <a:pPr marL="342900" indent="-342900">
              <a:lnSpc>
                <a:spcPts val="1700"/>
              </a:lnSpc>
              <a:spcAft>
                <a:spcPts val="600"/>
              </a:spcAft>
              <a:buSzPct val="100000"/>
              <a:buChar char="•"/>
            </a:pPr>
            <a:r>
              <a:rPr lang="en-US" sz="1300" dirty="0">
                <a:solidFill>
                  <a:srgbClr val="4D5A68"/>
                </a:solidFill>
                <a:latin typeface="Calibri" pitchFamily="34" charset="0"/>
                <a:ea typeface="Calibri" pitchFamily="34" charset="-122"/>
                <a:cs typeface="Calibri" pitchFamily="34" charset="-120"/>
              </a:rPr>
              <a:t>Each database, backup tool and storage array needed bespoke work</a:t>
            </a:r>
            <a:endParaRPr lang="en-US" sz="1300" dirty="0"/>
          </a:p>
          <a:p>
            <a:pPr marL="342900" indent="-342900">
              <a:lnSpc>
                <a:spcPts val="1700"/>
              </a:lnSpc>
              <a:spcAft>
                <a:spcPts val="600"/>
              </a:spcAft>
              <a:buSzPct val="100000"/>
              <a:buChar char="•"/>
            </a:pPr>
            <a:r>
              <a:rPr lang="en-US" sz="1300" dirty="0">
                <a:solidFill>
                  <a:srgbClr val="4D5A68"/>
                </a:solidFill>
                <a:latin typeface="Calibri" pitchFamily="34" charset="0"/>
                <a:ea typeface="Calibri" pitchFamily="34" charset="-122"/>
                <a:cs typeface="Calibri" pitchFamily="34" charset="-120"/>
              </a:rPr>
              <a:t>Changing vendor meant rewriting every integration</a:t>
            </a:r>
            <a:endParaRPr lang="en-US" sz="1300" dirty="0"/>
          </a:p>
        </p:txBody>
      </p:sp>
      <p:sp>
        <p:nvSpPr>
          <p:cNvPr id="8" name="Shape 6"/>
          <p:cNvSpPr/>
          <p:nvPr/>
        </p:nvSpPr>
        <p:spPr>
          <a:xfrm>
            <a:off x="6236208" y="1572768"/>
            <a:ext cx="5394960" cy="2084832"/>
          </a:xfrm>
          <a:prstGeom prst="roundRect">
            <a:avLst>
              <a:gd name="adj" fmla="val 2632"/>
            </a:avLst>
          </a:prstGeom>
          <a:solidFill>
            <a:srgbClr val="E2F0E7"/>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9" name="Text 7"/>
          <p:cNvSpPr txBox="1"/>
          <p:nvPr/>
        </p:nvSpPr>
        <p:spPr>
          <a:xfrm>
            <a:off x="6473952" y="1773936"/>
            <a:ext cx="4919472" cy="201168"/>
          </a:xfrm>
          <a:prstGeom prst="rect">
            <a:avLst/>
          </a:prstGeom>
          <a:noFill/>
          <a:ln/>
        </p:spPr>
        <p:txBody>
          <a:bodyPr wrap="square" lIns="0" tIns="0" rIns="0" bIns="0" rtlCol="0" anchor="ctr"/>
          <a:lstStyle/>
          <a:p>
            <a:pPr indent="0" marL="0">
              <a:buNone/>
            </a:pPr>
            <a:r>
              <a:rPr lang="en-US" sz="1000" b="1" spc="160" kern="0" dirty="0">
                <a:solidFill>
                  <a:srgbClr val="1F7A43"/>
                </a:solidFill>
                <a:latin typeface="Calibri" pitchFamily="34" charset="0"/>
                <a:ea typeface="Calibri" pitchFamily="34" charset="-122"/>
                <a:cs typeface="Calibri" pitchFamily="34" charset="-120"/>
              </a:rPr>
              <a:t>WITH KMIP</a:t>
            </a:r>
            <a:endParaRPr lang="en-US" sz="1000" dirty="0"/>
          </a:p>
        </p:txBody>
      </p:sp>
      <p:sp>
        <p:nvSpPr>
          <p:cNvPr id="10" name="Text 8"/>
          <p:cNvSpPr txBox="1"/>
          <p:nvPr/>
        </p:nvSpPr>
        <p:spPr>
          <a:xfrm>
            <a:off x="6473952" y="2048256"/>
            <a:ext cx="4919472" cy="310896"/>
          </a:xfrm>
          <a:prstGeom prst="rect">
            <a:avLst/>
          </a:prstGeom>
          <a:noFill/>
          <a:ln/>
        </p:spPr>
        <p:txBody>
          <a:bodyPr wrap="square" lIns="0" tIns="0" rIns="0" bIns="0" rtlCol="0" anchor="ctr"/>
          <a:lstStyle/>
          <a:p>
            <a:pPr indent="0" marL="0">
              <a:buNone/>
            </a:pPr>
            <a:r>
              <a:rPr lang="en-US" sz="1600" b="1" dirty="0">
                <a:solidFill>
                  <a:srgbClr val="1A3A5C"/>
                </a:solidFill>
                <a:latin typeface="Cambria" pitchFamily="34" charset="0"/>
                <a:ea typeface="Cambria" pitchFamily="34" charset="-122"/>
                <a:cs typeface="Cambria" pitchFamily="34" charset="-120"/>
              </a:rPr>
              <a:t>One protocol, many products</a:t>
            </a:r>
            <a:endParaRPr lang="en-US" sz="1600" dirty="0"/>
          </a:p>
        </p:txBody>
      </p:sp>
      <p:sp>
        <p:nvSpPr>
          <p:cNvPr id="11" name="Text 9"/>
          <p:cNvSpPr txBox="1"/>
          <p:nvPr/>
        </p:nvSpPr>
        <p:spPr>
          <a:xfrm>
            <a:off x="6473952" y="2414016"/>
            <a:ext cx="4919472" cy="1078992"/>
          </a:xfrm>
          <a:prstGeom prst="rect">
            <a:avLst/>
          </a:prstGeom>
          <a:noFill/>
          <a:ln/>
        </p:spPr>
        <p:txBody>
          <a:bodyPr wrap="square" lIns="0" tIns="0" rIns="0" bIns="0" rtlCol="0" anchor="t"/>
          <a:lstStyle/>
          <a:p>
            <a:pPr marL="342900" indent="-342900">
              <a:lnSpc>
                <a:spcPts val="1700"/>
              </a:lnSpc>
              <a:spcAft>
                <a:spcPts val="600"/>
              </a:spcAft>
              <a:buSzPct val="100000"/>
              <a:buChar char="•"/>
            </a:pPr>
            <a:r>
              <a:rPr lang="en-US" sz="1300" dirty="0">
                <a:solidFill>
                  <a:srgbClr val="4D5A68"/>
                </a:solidFill>
                <a:latin typeface="Calibri" pitchFamily="34" charset="0"/>
                <a:ea typeface="Calibri" pitchFamily="34" charset="-122"/>
                <a:cs typeface="Calibri" pitchFamily="34" charset="-120"/>
              </a:rPr>
              <a:t>A client speaks KMIP once and talks to any compliant server</a:t>
            </a:r>
            <a:endParaRPr lang="en-US" sz="1300" dirty="0"/>
          </a:p>
          <a:p>
            <a:pPr marL="342900" indent="-342900">
              <a:lnSpc>
                <a:spcPts val="1700"/>
              </a:lnSpc>
              <a:spcAft>
                <a:spcPts val="600"/>
              </a:spcAft>
              <a:buSzPct val="100000"/>
              <a:buChar char="•"/>
            </a:pPr>
            <a:r>
              <a:rPr lang="en-US" sz="1300" dirty="0">
                <a:solidFill>
                  <a:srgbClr val="4D5A68"/>
                </a:solidFill>
                <a:latin typeface="Calibri" pitchFamily="34" charset="0"/>
                <a:ea typeface="Calibri" pitchFamily="34" charset="-122"/>
                <a:cs typeface="Calibri" pitchFamily="34" charset="-120"/>
              </a:rPr>
              <a:t>Oracle TDE, SQL Server, NetApp, VMware and Veeam all speak it</a:t>
            </a:r>
            <a:endParaRPr lang="en-US" sz="1300" dirty="0"/>
          </a:p>
          <a:p>
            <a:pPr marL="342900" indent="-342900">
              <a:lnSpc>
                <a:spcPts val="1700"/>
              </a:lnSpc>
              <a:spcAft>
                <a:spcPts val="600"/>
              </a:spcAft>
              <a:buSzPct val="100000"/>
              <a:buChar char="•"/>
            </a:pPr>
            <a:r>
              <a:rPr lang="en-US" sz="1300" dirty="0">
                <a:solidFill>
                  <a:srgbClr val="4D5A68"/>
                </a:solidFill>
                <a:latin typeface="Calibri" pitchFamily="34" charset="0"/>
                <a:ea typeface="Calibri" pitchFamily="34" charset="-122"/>
                <a:cs typeface="Calibri" pitchFamily="34" charset="-120"/>
              </a:rPr>
              <a:t>Vendor substitution becomes a configuration change</a:t>
            </a:r>
            <a:endParaRPr lang="en-US" sz="1300" dirty="0"/>
          </a:p>
        </p:txBody>
      </p:sp>
      <p:sp>
        <p:nvSpPr>
          <p:cNvPr id="12" name="Shape 10"/>
          <p:cNvSpPr/>
          <p:nvPr/>
        </p:nvSpPr>
        <p:spPr>
          <a:xfrm>
            <a:off x="566928" y="3858768"/>
            <a:ext cx="11027664" cy="2148840"/>
          </a:xfrm>
          <a:prstGeom prst="roundRect">
            <a:avLst>
              <a:gd name="adj" fmla="val 2553"/>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13" name="Text 11"/>
          <p:cNvSpPr txBox="1"/>
          <p:nvPr/>
        </p:nvSpPr>
        <p:spPr>
          <a:xfrm>
            <a:off x="804672" y="4059936"/>
            <a:ext cx="10552176" cy="310896"/>
          </a:xfrm>
          <a:prstGeom prst="rect">
            <a:avLst/>
          </a:prstGeom>
          <a:noFill/>
          <a:ln/>
        </p:spPr>
        <p:txBody>
          <a:bodyPr wrap="square" lIns="0" tIns="0" rIns="0" bIns="0" rtlCol="0" anchor="ctr"/>
          <a:lstStyle/>
          <a:p>
            <a:pPr indent="0" marL="0">
              <a:buNone/>
            </a:pPr>
            <a:r>
              <a:rPr lang="en-US" sz="1600" b="1" dirty="0">
                <a:solidFill>
                  <a:srgbClr val="1A3A5C"/>
                </a:solidFill>
                <a:latin typeface="Cambria" pitchFamily="34" charset="0"/>
                <a:ea typeface="Cambria" pitchFamily="34" charset="-122"/>
                <a:cs typeface="Cambria" pitchFamily="34" charset="-120"/>
              </a:rPr>
              <a:t>What the standard actually is</a:t>
            </a:r>
            <a:endParaRPr lang="en-US" sz="1600" dirty="0"/>
          </a:p>
        </p:txBody>
      </p:sp>
      <p:sp>
        <p:nvSpPr>
          <p:cNvPr id="14" name="Text 12"/>
          <p:cNvSpPr txBox="1"/>
          <p:nvPr/>
        </p:nvSpPr>
        <p:spPr>
          <a:xfrm>
            <a:off x="804672" y="4425696"/>
            <a:ext cx="10552176" cy="1417320"/>
          </a:xfrm>
          <a:prstGeom prst="rect">
            <a:avLst/>
          </a:prstGeom>
          <a:noFill/>
          <a:ln/>
        </p:spPr>
        <p:txBody>
          <a:bodyPr wrap="square" lIns="0" tIns="0" rIns="0" bIns="0" rtlCol="0" anchor="t"/>
          <a:lstStyle/>
          <a:p>
            <a:pPr marL="342900" indent="-342900">
              <a:lnSpc>
                <a:spcPts val="1700"/>
              </a:lnSpc>
              <a:spcAft>
                <a:spcPts val="600"/>
              </a:spcAft>
              <a:buSzPct val="100000"/>
              <a:buChar char="•"/>
            </a:pPr>
            <a:r>
              <a:rPr lang="en-US" sz="1400" dirty="0">
                <a:solidFill>
                  <a:srgbClr val="4D5A68"/>
                </a:solidFill>
                <a:latin typeface="Calibri" pitchFamily="34" charset="0"/>
                <a:ea typeface="Calibri" pitchFamily="34" charset="-122"/>
                <a:cs typeface="Calibri" pitchFamily="34" charset="-120"/>
              </a:rPr>
              <a:t>An OASIS standard: a wire protocol plus an object model, not a product</a:t>
            </a:r>
            <a:endParaRPr lang="en-US" sz="1400" dirty="0"/>
          </a:p>
          <a:p>
            <a:pPr marL="342900" indent="-342900">
              <a:lnSpc>
                <a:spcPts val="1700"/>
              </a:lnSpc>
              <a:spcAft>
                <a:spcPts val="600"/>
              </a:spcAft>
              <a:buSzPct val="100000"/>
              <a:buChar char="•"/>
            </a:pPr>
            <a:r>
              <a:rPr lang="en-US" sz="1400" dirty="0">
                <a:solidFill>
                  <a:srgbClr val="4D5A68"/>
                </a:solidFill>
                <a:latin typeface="Calibri" pitchFamily="34" charset="0"/>
                <a:ea typeface="Calibri" pitchFamily="34" charset="-122"/>
                <a:cs typeface="Calibri" pitchFamily="34" charset="-120"/>
              </a:rPr>
              <a:t>TTLV — tag, type, length, value — a compact binary encoding carried over TLS</a:t>
            </a:r>
            <a:endParaRPr lang="en-US" sz="1400" dirty="0"/>
          </a:p>
          <a:p>
            <a:pPr marL="342900" indent="-342900">
              <a:lnSpc>
                <a:spcPts val="1700"/>
              </a:lnSpc>
              <a:spcAft>
                <a:spcPts val="600"/>
              </a:spcAft>
              <a:buSzPct val="100000"/>
              <a:buChar char="•"/>
            </a:pPr>
            <a:r>
              <a:rPr lang="en-US" sz="1400" dirty="0">
                <a:solidFill>
                  <a:srgbClr val="4D5A68"/>
                </a:solidFill>
                <a:latin typeface="Calibri" pitchFamily="34" charset="0"/>
                <a:ea typeface="Calibri" pitchFamily="34" charset="-122"/>
                <a:cs typeface="Calibri" pitchFamily="34" charset="-120"/>
              </a:rPr>
              <a:t>Client/server, request/response, with batching; 53 operations defined in version 2.1</a:t>
            </a:r>
            <a:endParaRPr lang="en-US" sz="1400" dirty="0"/>
          </a:p>
          <a:p>
            <a:pPr marL="342900" indent="-342900">
              <a:lnSpc>
                <a:spcPts val="1700"/>
              </a:lnSpc>
              <a:spcAft>
                <a:spcPts val="600"/>
              </a:spcAft>
              <a:buSzPct val="100000"/>
              <a:buChar char="•"/>
            </a:pPr>
            <a:r>
              <a:rPr lang="en-US" sz="1400" dirty="0">
                <a:solidFill>
                  <a:srgbClr val="4D5A68"/>
                </a:solidFill>
                <a:latin typeface="Calibri" pitchFamily="34" charset="0"/>
                <a:ea typeface="Calibri" pitchFamily="34" charset="-122"/>
                <a:cs typeface="Calibri" pitchFamily="34" charset="-120"/>
              </a:rPr>
              <a:t>Governs the whole life of a key: create, use, rotate, retire, destroy, and prove what happened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27664" cy="237744"/>
          </a:xfrm>
          <a:prstGeom prst="rect">
            <a:avLst/>
          </a:prstGeom>
          <a:noFill/>
          <a:ln/>
        </p:spPr>
        <p:txBody>
          <a:bodyPr wrap="square" lIns="0" tIns="0" rIns="0" bIns="0" rtlCol="0" anchor="ctr"/>
          <a:lstStyle/>
          <a:p>
            <a:pPr indent="0" marL="0">
              <a:buNone/>
            </a:pPr>
            <a:r>
              <a:rPr lang="en-US" sz="1150" b="1" spc="220" kern="0" dirty="0">
                <a:solidFill>
                  <a:srgbClr val="C8952B"/>
                </a:solidFill>
                <a:latin typeface="Calibri" pitchFamily="34" charset="0"/>
                <a:ea typeface="Calibri" pitchFamily="34" charset="-122"/>
                <a:cs typeface="Calibri" pitchFamily="34" charset="-120"/>
              </a:rPr>
              <a:t>WHAT IS KMIP · 2 OF 3</a:t>
            </a:r>
            <a:endParaRPr lang="en-US" sz="1150" dirty="0"/>
          </a:p>
        </p:txBody>
      </p:sp>
      <p:sp>
        <p:nvSpPr>
          <p:cNvPr id="3" name="Text 1"/>
          <p:cNvSpPr txBox="1"/>
          <p:nvPr/>
        </p:nvSpPr>
        <p:spPr>
          <a:xfrm>
            <a:off x="566928" y="621792"/>
            <a:ext cx="11027664" cy="658368"/>
          </a:xfrm>
          <a:prstGeom prst="rect">
            <a:avLst/>
          </a:prstGeom>
          <a:noFill/>
          <a:ln/>
        </p:spPr>
        <p:txBody>
          <a:bodyPr wrap="square" lIns="0" tIns="0" rIns="0" bIns="0" rtlCol="0" anchor="ctr"/>
          <a:lstStyle/>
          <a:p>
            <a:pPr indent="0" marL="0">
              <a:buNone/>
            </a:pPr>
            <a:r>
              <a:rPr lang="en-US" sz="3400" b="1" dirty="0">
                <a:solidFill>
                  <a:srgbClr val="1A3A5C"/>
                </a:solidFill>
                <a:latin typeface="Cambria" pitchFamily="34" charset="0"/>
                <a:ea typeface="Cambria" pitchFamily="34" charset="-122"/>
                <a:cs typeface="Cambria" pitchFamily="34" charset="-120"/>
              </a:rPr>
              <a:t>Managed objects, attributes, a lifecycle</a:t>
            </a:r>
            <a:endParaRPr lang="en-US" sz="3400" dirty="0"/>
          </a:p>
        </p:txBody>
      </p:sp>
      <p:sp>
        <p:nvSpPr>
          <p:cNvPr id="4" name="Shape 2"/>
          <p:cNvSpPr/>
          <p:nvPr/>
        </p:nvSpPr>
        <p:spPr>
          <a:xfrm>
            <a:off x="566928" y="1572768"/>
            <a:ext cx="3520440" cy="2331720"/>
          </a:xfrm>
          <a:prstGeom prst="roundRect">
            <a:avLst>
              <a:gd name="adj" fmla="val 2353"/>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5" name="Text 3"/>
          <p:cNvSpPr txBox="1"/>
          <p:nvPr/>
        </p:nvSpPr>
        <p:spPr>
          <a:xfrm>
            <a:off x="804672" y="1773936"/>
            <a:ext cx="3044952" cy="201168"/>
          </a:xfrm>
          <a:prstGeom prst="rect">
            <a:avLst/>
          </a:prstGeom>
          <a:noFill/>
          <a:ln/>
        </p:spPr>
        <p:txBody>
          <a:bodyPr wrap="square" lIns="0" tIns="0" rIns="0" bIns="0" rtlCol="0" anchor="ctr"/>
          <a:lstStyle/>
          <a:p>
            <a:pPr indent="0" marL="0">
              <a:buNone/>
            </a:pPr>
            <a:r>
              <a:rPr lang="en-US" sz="1000" b="1" spc="160" kern="0" dirty="0">
                <a:solidFill>
                  <a:srgbClr val="2E6DA4"/>
                </a:solidFill>
                <a:latin typeface="Calibri" pitchFamily="34" charset="0"/>
                <a:ea typeface="Calibri" pitchFamily="34" charset="-122"/>
                <a:cs typeface="Calibri" pitchFamily="34" charset="-120"/>
              </a:rPr>
              <a:t>OBJECT TYPES</a:t>
            </a:r>
            <a:endParaRPr lang="en-US" sz="1000" dirty="0"/>
          </a:p>
        </p:txBody>
      </p:sp>
      <p:sp>
        <p:nvSpPr>
          <p:cNvPr id="6" name="Text 4"/>
          <p:cNvSpPr txBox="1"/>
          <p:nvPr/>
        </p:nvSpPr>
        <p:spPr>
          <a:xfrm>
            <a:off x="804672" y="2048256"/>
            <a:ext cx="3044952" cy="310896"/>
          </a:xfrm>
          <a:prstGeom prst="rect">
            <a:avLst/>
          </a:prstGeom>
          <a:noFill/>
          <a:ln/>
        </p:spPr>
        <p:txBody>
          <a:bodyPr wrap="square" lIns="0" tIns="0" rIns="0" bIns="0" rtlCol="0" anchor="ctr"/>
          <a:lstStyle/>
          <a:p>
            <a:pPr indent="0" marL="0">
              <a:buNone/>
            </a:pPr>
            <a:r>
              <a:rPr lang="en-US" sz="1600" b="1" dirty="0">
                <a:solidFill>
                  <a:srgbClr val="1A3A5C"/>
                </a:solidFill>
                <a:latin typeface="Cambria" pitchFamily="34" charset="0"/>
                <a:ea typeface="Cambria" pitchFamily="34" charset="-122"/>
                <a:cs typeface="Cambria" pitchFamily="34" charset="-120"/>
              </a:rPr>
              <a:t>What KMIP manages</a:t>
            </a:r>
            <a:endParaRPr lang="en-US" sz="1600" dirty="0"/>
          </a:p>
        </p:txBody>
      </p:sp>
      <p:sp>
        <p:nvSpPr>
          <p:cNvPr id="7" name="Text 5"/>
          <p:cNvSpPr txBox="1"/>
          <p:nvPr/>
        </p:nvSpPr>
        <p:spPr>
          <a:xfrm>
            <a:off x="804672" y="2414016"/>
            <a:ext cx="3044952" cy="1325880"/>
          </a:xfrm>
          <a:prstGeom prst="rect">
            <a:avLst/>
          </a:prstGeom>
          <a:noFill/>
          <a:ln/>
        </p:spPr>
        <p:txBody>
          <a:bodyPr wrap="square" lIns="0" tIns="0" rIns="0" bIns="0" rtlCol="0" anchor="t"/>
          <a:lstStyle/>
          <a:p>
            <a:pPr marL="342900" indent="-342900">
              <a:lnSpc>
                <a:spcPts val="1700"/>
              </a:lnSpc>
              <a:spcAft>
                <a:spcPts val="600"/>
              </a:spcAft>
              <a:buSzPct val="100000"/>
              <a:buChar char="•"/>
            </a:pPr>
            <a:r>
              <a:rPr lang="en-US" sz="1250" dirty="0">
                <a:solidFill>
                  <a:srgbClr val="4D5A68"/>
                </a:solidFill>
                <a:latin typeface="Calibri" pitchFamily="34" charset="0"/>
                <a:ea typeface="Calibri" pitchFamily="34" charset="-122"/>
                <a:cs typeface="Calibri" pitchFamily="34" charset="-120"/>
              </a:rPr>
              <a:t>SymmetricKey</a:t>
            </a:r>
            <a:endParaRPr lang="en-US" sz="1250" dirty="0"/>
          </a:p>
          <a:p>
            <a:pPr marL="342900" indent="-342900">
              <a:lnSpc>
                <a:spcPts val="1700"/>
              </a:lnSpc>
              <a:spcAft>
                <a:spcPts val="600"/>
              </a:spcAft>
              <a:buSzPct val="100000"/>
              <a:buChar char="•"/>
            </a:pPr>
            <a:r>
              <a:rPr lang="en-US" sz="1250" dirty="0">
                <a:solidFill>
                  <a:srgbClr val="4D5A68"/>
                </a:solidFill>
                <a:latin typeface="Calibri" pitchFamily="34" charset="0"/>
                <a:ea typeface="Calibri" pitchFamily="34" charset="-122"/>
                <a:cs typeface="Calibri" pitchFamily="34" charset="-120"/>
              </a:rPr>
              <a:t>PublicKey / PrivateKey</a:t>
            </a:r>
            <a:endParaRPr lang="en-US" sz="1250" dirty="0"/>
          </a:p>
          <a:p>
            <a:pPr marL="342900" indent="-342900">
              <a:lnSpc>
                <a:spcPts val="1700"/>
              </a:lnSpc>
              <a:spcAft>
                <a:spcPts val="600"/>
              </a:spcAft>
              <a:buSzPct val="100000"/>
              <a:buChar char="•"/>
            </a:pPr>
            <a:r>
              <a:rPr lang="en-US" sz="1250" dirty="0">
                <a:solidFill>
                  <a:srgbClr val="4D5A68"/>
                </a:solidFill>
                <a:latin typeface="Calibri" pitchFamily="34" charset="0"/>
                <a:ea typeface="Calibri" pitchFamily="34" charset="-122"/>
                <a:cs typeface="Calibri" pitchFamily="34" charset="-120"/>
              </a:rPr>
              <a:t>Certificate</a:t>
            </a:r>
            <a:endParaRPr lang="en-US" sz="1250" dirty="0"/>
          </a:p>
          <a:p>
            <a:pPr marL="342900" indent="-342900">
              <a:lnSpc>
                <a:spcPts val="1700"/>
              </a:lnSpc>
              <a:spcAft>
                <a:spcPts val="600"/>
              </a:spcAft>
              <a:buSzPct val="100000"/>
              <a:buChar char="•"/>
            </a:pPr>
            <a:r>
              <a:rPr lang="en-US" sz="1250" dirty="0">
                <a:solidFill>
                  <a:srgbClr val="4D5A68"/>
                </a:solidFill>
                <a:latin typeface="Calibri" pitchFamily="34" charset="0"/>
                <a:ea typeface="Calibri" pitchFamily="34" charset="-122"/>
                <a:cs typeface="Calibri" pitchFamily="34" charset="-120"/>
              </a:rPr>
              <a:t>SecretData</a:t>
            </a:r>
            <a:endParaRPr lang="en-US" sz="1250" dirty="0"/>
          </a:p>
          <a:p>
            <a:pPr marL="342900" indent="-342900">
              <a:lnSpc>
                <a:spcPts val="1700"/>
              </a:lnSpc>
              <a:spcAft>
                <a:spcPts val="600"/>
              </a:spcAft>
              <a:buSzPct val="100000"/>
              <a:buChar char="•"/>
            </a:pPr>
            <a:r>
              <a:rPr lang="en-US" sz="1250" dirty="0">
                <a:solidFill>
                  <a:srgbClr val="4D5A68"/>
                </a:solidFill>
                <a:latin typeface="Calibri" pitchFamily="34" charset="0"/>
                <a:ea typeface="Calibri" pitchFamily="34" charset="-122"/>
                <a:cs typeface="Calibri" pitchFamily="34" charset="-120"/>
              </a:rPr>
              <a:t>OpaqueObject</a:t>
            </a:r>
            <a:endParaRPr lang="en-US" sz="1250" dirty="0"/>
          </a:p>
          <a:p>
            <a:pPr marL="342900" indent="-342900">
              <a:lnSpc>
                <a:spcPts val="1700"/>
              </a:lnSpc>
              <a:spcAft>
                <a:spcPts val="600"/>
              </a:spcAft>
              <a:buSzPct val="100000"/>
              <a:buChar char="•"/>
            </a:pPr>
            <a:r>
              <a:rPr lang="en-US" sz="1250" dirty="0">
                <a:solidFill>
                  <a:srgbClr val="4D5A68"/>
                </a:solidFill>
                <a:latin typeface="Calibri" pitchFamily="34" charset="0"/>
                <a:ea typeface="Calibri" pitchFamily="34" charset="-122"/>
                <a:cs typeface="Calibri" pitchFamily="34" charset="-120"/>
              </a:rPr>
              <a:t>SplitKey</a:t>
            </a:r>
            <a:endParaRPr lang="en-US" sz="1250" dirty="0"/>
          </a:p>
        </p:txBody>
      </p:sp>
      <p:sp>
        <p:nvSpPr>
          <p:cNvPr id="8" name="Shape 6"/>
          <p:cNvSpPr/>
          <p:nvPr/>
        </p:nvSpPr>
        <p:spPr>
          <a:xfrm>
            <a:off x="4334256" y="1572768"/>
            <a:ext cx="3520440" cy="2331720"/>
          </a:xfrm>
          <a:prstGeom prst="roundRect">
            <a:avLst>
              <a:gd name="adj" fmla="val 2353"/>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9" name="Text 7"/>
          <p:cNvSpPr txBox="1"/>
          <p:nvPr/>
        </p:nvSpPr>
        <p:spPr>
          <a:xfrm>
            <a:off x="4572000" y="1773936"/>
            <a:ext cx="3044952" cy="201168"/>
          </a:xfrm>
          <a:prstGeom prst="rect">
            <a:avLst/>
          </a:prstGeom>
          <a:noFill/>
          <a:ln/>
        </p:spPr>
        <p:txBody>
          <a:bodyPr wrap="square" lIns="0" tIns="0" rIns="0" bIns="0" rtlCol="0" anchor="ctr"/>
          <a:lstStyle/>
          <a:p>
            <a:pPr indent="0" marL="0">
              <a:buNone/>
            </a:pPr>
            <a:r>
              <a:rPr lang="en-US" sz="1000" b="1" spc="160" kern="0" dirty="0">
                <a:solidFill>
                  <a:srgbClr val="2E6DA4"/>
                </a:solidFill>
                <a:latin typeface="Calibri" pitchFamily="34" charset="0"/>
                <a:ea typeface="Calibri" pitchFamily="34" charset="-122"/>
                <a:cs typeface="Calibri" pitchFamily="34" charset="-120"/>
              </a:rPr>
              <a:t>ATTRIBUTES</a:t>
            </a:r>
            <a:endParaRPr lang="en-US" sz="1000" dirty="0"/>
          </a:p>
        </p:txBody>
      </p:sp>
      <p:sp>
        <p:nvSpPr>
          <p:cNvPr id="10" name="Text 8"/>
          <p:cNvSpPr txBox="1"/>
          <p:nvPr/>
        </p:nvSpPr>
        <p:spPr>
          <a:xfrm>
            <a:off x="4572000" y="2048256"/>
            <a:ext cx="3044952" cy="310896"/>
          </a:xfrm>
          <a:prstGeom prst="rect">
            <a:avLst/>
          </a:prstGeom>
          <a:noFill/>
          <a:ln/>
        </p:spPr>
        <p:txBody>
          <a:bodyPr wrap="square" lIns="0" tIns="0" rIns="0" bIns="0" rtlCol="0" anchor="ctr"/>
          <a:lstStyle/>
          <a:p>
            <a:pPr indent="0" marL="0">
              <a:buNone/>
            </a:pPr>
            <a:r>
              <a:rPr lang="en-US" sz="1600" b="1" dirty="0">
                <a:solidFill>
                  <a:srgbClr val="1A3A5C"/>
                </a:solidFill>
                <a:latin typeface="Cambria" pitchFamily="34" charset="0"/>
                <a:ea typeface="Cambria" pitchFamily="34" charset="-122"/>
                <a:cs typeface="Cambria" pitchFamily="34" charset="-120"/>
              </a:rPr>
              <a:t>What describes them</a:t>
            </a:r>
            <a:endParaRPr lang="en-US" sz="1600" dirty="0"/>
          </a:p>
        </p:txBody>
      </p:sp>
      <p:sp>
        <p:nvSpPr>
          <p:cNvPr id="11" name="Text 9"/>
          <p:cNvSpPr txBox="1"/>
          <p:nvPr/>
        </p:nvSpPr>
        <p:spPr>
          <a:xfrm>
            <a:off x="4572000" y="2414016"/>
            <a:ext cx="3044952" cy="1325880"/>
          </a:xfrm>
          <a:prstGeom prst="rect">
            <a:avLst/>
          </a:prstGeom>
          <a:noFill/>
          <a:ln/>
        </p:spPr>
        <p:txBody>
          <a:bodyPr wrap="square" lIns="0" tIns="0" rIns="0" bIns="0" rtlCol="0" anchor="t"/>
          <a:lstStyle/>
          <a:p>
            <a:pPr marL="342900" indent="-342900">
              <a:lnSpc>
                <a:spcPts val="1700"/>
              </a:lnSpc>
              <a:spcAft>
                <a:spcPts val="600"/>
              </a:spcAft>
              <a:buSzPct val="100000"/>
              <a:buChar char="•"/>
            </a:pPr>
            <a:r>
              <a:rPr lang="en-US" sz="1250" dirty="0">
                <a:solidFill>
                  <a:srgbClr val="4D5A68"/>
                </a:solidFill>
                <a:latin typeface="Calibri" pitchFamily="34" charset="0"/>
                <a:ea typeface="Calibri" pitchFamily="34" charset="-122"/>
                <a:cs typeface="Calibri" pitchFamily="34" charset="-120"/>
              </a:rPr>
              <a:t>Algorithm and length</a:t>
            </a:r>
            <a:endParaRPr lang="en-US" sz="1250" dirty="0"/>
          </a:p>
          <a:p>
            <a:pPr marL="342900" indent="-342900">
              <a:lnSpc>
                <a:spcPts val="1700"/>
              </a:lnSpc>
              <a:spcAft>
                <a:spcPts val="600"/>
              </a:spcAft>
              <a:buSzPct val="100000"/>
              <a:buChar char="•"/>
            </a:pPr>
            <a:r>
              <a:rPr lang="en-US" sz="1250" dirty="0">
                <a:solidFill>
                  <a:srgbClr val="4D5A68"/>
                </a:solidFill>
                <a:latin typeface="Calibri" pitchFamily="34" charset="0"/>
                <a:ea typeface="Calibri" pitchFamily="34" charset="-122"/>
                <a:cs typeface="Calibri" pitchFamily="34" charset="-120"/>
              </a:rPr>
              <a:t>Cryptographic usage mask</a:t>
            </a:r>
            <a:endParaRPr lang="en-US" sz="1250" dirty="0"/>
          </a:p>
          <a:p>
            <a:pPr marL="342900" indent="-342900">
              <a:lnSpc>
                <a:spcPts val="1700"/>
              </a:lnSpc>
              <a:spcAft>
                <a:spcPts val="600"/>
              </a:spcAft>
              <a:buSzPct val="100000"/>
              <a:buChar char="•"/>
            </a:pPr>
            <a:r>
              <a:rPr lang="en-US" sz="1250" dirty="0">
                <a:solidFill>
                  <a:srgbClr val="4D5A68"/>
                </a:solidFill>
                <a:latin typeface="Calibri" pitchFamily="34" charset="0"/>
                <a:ea typeface="Calibri" pitchFamily="34" charset="-122"/>
                <a:cs typeface="Calibri" pitchFamily="34" charset="-120"/>
              </a:rPr>
              <a:t>Name and custom x- attributes</a:t>
            </a:r>
            <a:endParaRPr lang="en-US" sz="1250" dirty="0"/>
          </a:p>
          <a:p>
            <a:pPr marL="342900" indent="-342900">
              <a:lnSpc>
                <a:spcPts val="1700"/>
              </a:lnSpc>
              <a:spcAft>
                <a:spcPts val="600"/>
              </a:spcAft>
              <a:buSzPct val="100000"/>
              <a:buChar char="•"/>
            </a:pPr>
            <a:r>
              <a:rPr lang="en-US" sz="1250" dirty="0">
                <a:solidFill>
                  <a:srgbClr val="4D5A68"/>
                </a:solidFill>
                <a:latin typeface="Calibri" pitchFamily="34" charset="0"/>
                <a:ea typeface="Calibri" pitchFamily="34" charset="-122"/>
                <a:cs typeface="Calibri" pitchFamily="34" charset="-120"/>
              </a:rPr>
              <a:t>Links between keys</a:t>
            </a:r>
            <a:endParaRPr lang="en-US" sz="1250" dirty="0"/>
          </a:p>
          <a:p>
            <a:pPr marL="342900" indent="-342900">
              <a:lnSpc>
                <a:spcPts val="1700"/>
              </a:lnSpc>
              <a:spcAft>
                <a:spcPts val="600"/>
              </a:spcAft>
              <a:buSzPct val="100000"/>
              <a:buChar char="•"/>
            </a:pPr>
            <a:r>
              <a:rPr lang="en-US" sz="1250" dirty="0">
                <a:solidFill>
                  <a:srgbClr val="4D5A68"/>
                </a:solidFill>
                <a:latin typeface="Calibri" pitchFamily="34" charset="0"/>
                <a:ea typeface="Calibri" pitchFamily="34" charset="-122"/>
                <a:cs typeface="Calibri" pitchFamily="34" charset="-120"/>
              </a:rPr>
              <a:t>Dates: activation, deactivation</a:t>
            </a:r>
            <a:endParaRPr lang="en-US" sz="1250" dirty="0"/>
          </a:p>
          <a:p>
            <a:pPr marL="342900" indent="-342900">
              <a:lnSpc>
                <a:spcPts val="1700"/>
              </a:lnSpc>
              <a:spcAft>
                <a:spcPts val="600"/>
              </a:spcAft>
              <a:buSzPct val="100000"/>
              <a:buChar char="•"/>
            </a:pPr>
            <a:r>
              <a:rPr lang="en-US" sz="1250" dirty="0">
                <a:solidFill>
                  <a:srgbClr val="4D5A68"/>
                </a:solidFill>
                <a:latin typeface="Calibri" pitchFamily="34" charset="0"/>
                <a:ea typeface="Calibri" pitchFamily="34" charset="-122"/>
                <a:cs typeface="Calibri" pitchFamily="34" charset="-120"/>
              </a:rPr>
              <a:t>Owner and state</a:t>
            </a:r>
            <a:endParaRPr lang="en-US" sz="1250" dirty="0"/>
          </a:p>
        </p:txBody>
      </p:sp>
      <p:sp>
        <p:nvSpPr>
          <p:cNvPr id="12" name="Shape 10"/>
          <p:cNvSpPr/>
          <p:nvPr/>
        </p:nvSpPr>
        <p:spPr>
          <a:xfrm>
            <a:off x="8101584" y="1572768"/>
            <a:ext cx="3529584" cy="2331720"/>
          </a:xfrm>
          <a:prstGeom prst="roundRect">
            <a:avLst>
              <a:gd name="adj" fmla="val 2353"/>
            </a:avLst>
          </a:prstGeom>
          <a:solidFill>
            <a:srgbClr val="FBF3E3"/>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13" name="Text 11"/>
          <p:cNvSpPr txBox="1"/>
          <p:nvPr/>
        </p:nvSpPr>
        <p:spPr>
          <a:xfrm>
            <a:off x="8339328" y="1773936"/>
            <a:ext cx="3054096" cy="201168"/>
          </a:xfrm>
          <a:prstGeom prst="rect">
            <a:avLst/>
          </a:prstGeom>
          <a:noFill/>
          <a:ln/>
        </p:spPr>
        <p:txBody>
          <a:bodyPr wrap="square" lIns="0" tIns="0" rIns="0" bIns="0" rtlCol="0" anchor="ctr"/>
          <a:lstStyle/>
          <a:p>
            <a:pPr indent="0" marL="0">
              <a:buNone/>
            </a:pPr>
            <a:r>
              <a:rPr lang="en-US" sz="1000" b="1" spc="160" kern="0" dirty="0">
                <a:solidFill>
                  <a:srgbClr val="9A6410"/>
                </a:solidFill>
                <a:latin typeface="Calibri" pitchFamily="34" charset="0"/>
                <a:ea typeface="Calibri" pitchFamily="34" charset="-122"/>
                <a:cs typeface="Calibri" pitchFamily="34" charset="-120"/>
              </a:rPr>
              <a:t>THE SUBTLE ONE</a:t>
            </a:r>
            <a:endParaRPr lang="en-US" sz="1000" dirty="0"/>
          </a:p>
        </p:txBody>
      </p:sp>
      <p:sp>
        <p:nvSpPr>
          <p:cNvPr id="14" name="Text 12"/>
          <p:cNvSpPr txBox="1"/>
          <p:nvPr/>
        </p:nvSpPr>
        <p:spPr>
          <a:xfrm>
            <a:off x="8339328" y="2048256"/>
            <a:ext cx="3054096" cy="310896"/>
          </a:xfrm>
          <a:prstGeom prst="rect">
            <a:avLst/>
          </a:prstGeom>
          <a:noFill/>
          <a:ln/>
        </p:spPr>
        <p:txBody>
          <a:bodyPr wrap="square" lIns="0" tIns="0" rIns="0" bIns="0" rtlCol="0" anchor="ctr"/>
          <a:lstStyle/>
          <a:p>
            <a:pPr indent="0" marL="0">
              <a:buNone/>
            </a:pPr>
            <a:r>
              <a:rPr lang="en-US" sz="1600" b="1" dirty="0">
                <a:solidFill>
                  <a:srgbClr val="1A3A5C"/>
                </a:solidFill>
                <a:latin typeface="Cambria" pitchFamily="34" charset="0"/>
                <a:ea typeface="Cambria" pitchFamily="34" charset="-122"/>
                <a:cs typeface="Cambria" pitchFamily="34" charset="-120"/>
              </a:rPr>
              <a:t>Cryptoperiod</a:t>
            </a:r>
            <a:endParaRPr lang="en-US" sz="1600" dirty="0"/>
          </a:p>
        </p:txBody>
      </p:sp>
      <p:sp>
        <p:nvSpPr>
          <p:cNvPr id="15" name="Text 13"/>
          <p:cNvSpPr txBox="1"/>
          <p:nvPr/>
        </p:nvSpPr>
        <p:spPr>
          <a:xfrm>
            <a:off x="8339328" y="2414016"/>
            <a:ext cx="3054096" cy="1325880"/>
          </a:xfrm>
          <a:prstGeom prst="rect">
            <a:avLst/>
          </a:prstGeom>
          <a:noFill/>
          <a:ln/>
        </p:spPr>
        <p:txBody>
          <a:bodyPr wrap="square" lIns="0" tIns="0" rIns="0" bIns="0" rtlCol="0" anchor="t"/>
          <a:lstStyle/>
          <a:p>
            <a:pPr indent="0" marL="0">
              <a:lnSpc>
                <a:spcPts val="1700"/>
              </a:lnSpc>
              <a:buNone/>
            </a:pPr>
            <a:r>
              <a:rPr lang="en-US" sz="1250" dirty="0">
                <a:solidFill>
                  <a:srgbClr val="4D5A68"/>
                </a:solidFill>
                <a:latin typeface="Calibri" pitchFamily="34" charset="0"/>
                <a:ea typeface="Calibri" pitchFamily="34" charset="-122"/>
                <a:cs typeface="Calibri" pitchFamily="34" charset="-120"/>
              </a:rPr>
              <a:t>KMIP defines no cryptoperiod attribute. The Deactivation Date is the end of the period — so enforcing a cryptoperiod means acting on a standard attribute, not inventing a parallel one.</a:t>
            </a:r>
            <a:endParaRPr lang="en-US" sz="1250" dirty="0"/>
          </a:p>
        </p:txBody>
      </p:sp>
      <p:sp>
        <p:nvSpPr>
          <p:cNvPr id="16" name="Text 14"/>
          <p:cNvSpPr txBox="1"/>
          <p:nvPr/>
        </p:nvSpPr>
        <p:spPr>
          <a:xfrm>
            <a:off x="566928" y="4133088"/>
            <a:ext cx="2743200" cy="256032"/>
          </a:xfrm>
          <a:prstGeom prst="rect">
            <a:avLst/>
          </a:prstGeom>
          <a:noFill/>
          <a:ln/>
        </p:spPr>
        <p:txBody>
          <a:bodyPr wrap="square" lIns="0" tIns="0" rIns="0" bIns="0" rtlCol="0" anchor="ctr"/>
          <a:lstStyle/>
          <a:p>
            <a:pPr indent="0" marL="0">
              <a:buNone/>
            </a:pPr>
            <a:r>
              <a:rPr lang="en-US" sz="1000" b="1" spc="160" kern="0" dirty="0">
                <a:solidFill>
                  <a:srgbClr val="2E6DA4"/>
                </a:solidFill>
                <a:latin typeface="Calibri" pitchFamily="34" charset="0"/>
                <a:ea typeface="Calibri" pitchFamily="34" charset="-122"/>
                <a:cs typeface="Calibri" pitchFamily="34" charset="-120"/>
              </a:rPr>
              <a:t>Lifecycle</a:t>
            </a:r>
            <a:endParaRPr lang="en-US" sz="1000" dirty="0"/>
          </a:p>
        </p:txBody>
      </p:sp>
      <p:sp>
        <p:nvSpPr>
          <p:cNvPr id="17" name="Shape 15"/>
          <p:cNvSpPr/>
          <p:nvPr/>
        </p:nvSpPr>
        <p:spPr>
          <a:xfrm>
            <a:off x="566928" y="4443984"/>
            <a:ext cx="1956816" cy="566928"/>
          </a:xfrm>
          <a:prstGeom prst="roundRect">
            <a:avLst>
              <a:gd name="adj" fmla="val 9677"/>
            </a:avLst>
          </a:prstGeom>
          <a:solidFill>
            <a:srgbClr val="2E6DA4"/>
          </a:solidFill>
          <a:ln w="12700">
            <a:solidFill>
              <a:srgbClr val="2E6DA4"/>
            </a:solidFill>
            <a:prstDash val="solid"/>
          </a:ln>
        </p:spPr>
      </p:sp>
      <p:sp>
        <p:nvSpPr>
          <p:cNvPr id="18" name="Text 16"/>
          <p:cNvSpPr txBox="1"/>
          <p:nvPr/>
        </p:nvSpPr>
        <p:spPr>
          <a:xfrm>
            <a:off x="566928" y="4443984"/>
            <a:ext cx="1956816"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Pre-Active</a:t>
            </a:r>
            <a:endParaRPr lang="en-US" sz="1300" dirty="0"/>
          </a:p>
        </p:txBody>
      </p:sp>
      <p:sp>
        <p:nvSpPr>
          <p:cNvPr id="19" name="Shape 17"/>
          <p:cNvSpPr/>
          <p:nvPr/>
        </p:nvSpPr>
        <p:spPr>
          <a:xfrm>
            <a:off x="2542032" y="4727448"/>
            <a:ext cx="274320" cy="0"/>
          </a:xfrm>
          <a:prstGeom prst="line">
            <a:avLst/>
          </a:prstGeom>
          <a:noFill/>
          <a:ln w="19050">
            <a:solidFill>
              <a:srgbClr val="2E6DA4"/>
            </a:solidFill>
            <a:prstDash val="solid"/>
            <a:tailEnd type="triangle"/>
          </a:ln>
        </p:spPr>
      </p:sp>
      <p:sp>
        <p:nvSpPr>
          <p:cNvPr id="20" name="Shape 18"/>
          <p:cNvSpPr/>
          <p:nvPr/>
        </p:nvSpPr>
        <p:spPr>
          <a:xfrm>
            <a:off x="2834640" y="4443984"/>
            <a:ext cx="1956816" cy="566928"/>
          </a:xfrm>
          <a:prstGeom prst="roundRect">
            <a:avLst>
              <a:gd name="adj" fmla="val 9677"/>
            </a:avLst>
          </a:prstGeom>
          <a:solidFill>
            <a:srgbClr val="1A3A5C"/>
          </a:solidFill>
          <a:ln w="12700">
            <a:solidFill>
              <a:srgbClr val="1A3A5C"/>
            </a:solidFill>
            <a:prstDash val="solid"/>
          </a:ln>
        </p:spPr>
      </p:sp>
      <p:sp>
        <p:nvSpPr>
          <p:cNvPr id="21" name="Text 19"/>
          <p:cNvSpPr txBox="1"/>
          <p:nvPr/>
        </p:nvSpPr>
        <p:spPr>
          <a:xfrm>
            <a:off x="2834640" y="4443984"/>
            <a:ext cx="1956816"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Active</a:t>
            </a:r>
            <a:endParaRPr lang="en-US" sz="1300" dirty="0"/>
          </a:p>
        </p:txBody>
      </p:sp>
      <p:sp>
        <p:nvSpPr>
          <p:cNvPr id="22" name="Shape 20"/>
          <p:cNvSpPr/>
          <p:nvPr/>
        </p:nvSpPr>
        <p:spPr>
          <a:xfrm>
            <a:off x="4809744" y="4727448"/>
            <a:ext cx="274320" cy="0"/>
          </a:xfrm>
          <a:prstGeom prst="line">
            <a:avLst/>
          </a:prstGeom>
          <a:noFill/>
          <a:ln w="19050">
            <a:solidFill>
              <a:srgbClr val="2E6DA4"/>
            </a:solidFill>
            <a:prstDash val="solid"/>
            <a:tailEnd type="triangle"/>
          </a:ln>
        </p:spPr>
      </p:sp>
      <p:sp>
        <p:nvSpPr>
          <p:cNvPr id="23" name="Shape 21"/>
          <p:cNvSpPr/>
          <p:nvPr/>
        </p:nvSpPr>
        <p:spPr>
          <a:xfrm>
            <a:off x="5102352" y="4443984"/>
            <a:ext cx="1956816" cy="566928"/>
          </a:xfrm>
          <a:prstGeom prst="roundRect">
            <a:avLst>
              <a:gd name="adj" fmla="val 9677"/>
            </a:avLst>
          </a:prstGeom>
          <a:solidFill>
            <a:srgbClr val="5A7184"/>
          </a:solidFill>
          <a:ln w="12700">
            <a:solidFill>
              <a:srgbClr val="5A7184"/>
            </a:solidFill>
            <a:prstDash val="solid"/>
          </a:ln>
        </p:spPr>
      </p:sp>
      <p:sp>
        <p:nvSpPr>
          <p:cNvPr id="24" name="Text 22"/>
          <p:cNvSpPr txBox="1"/>
          <p:nvPr/>
        </p:nvSpPr>
        <p:spPr>
          <a:xfrm>
            <a:off x="5102352" y="4443984"/>
            <a:ext cx="1956816"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Deactivated</a:t>
            </a:r>
            <a:endParaRPr lang="en-US" sz="1300" dirty="0"/>
          </a:p>
        </p:txBody>
      </p:sp>
      <p:sp>
        <p:nvSpPr>
          <p:cNvPr id="25" name="Shape 23"/>
          <p:cNvSpPr/>
          <p:nvPr/>
        </p:nvSpPr>
        <p:spPr>
          <a:xfrm>
            <a:off x="7077456" y="4727448"/>
            <a:ext cx="274320" cy="0"/>
          </a:xfrm>
          <a:prstGeom prst="line">
            <a:avLst/>
          </a:prstGeom>
          <a:noFill/>
          <a:ln w="19050">
            <a:solidFill>
              <a:srgbClr val="2E6DA4"/>
            </a:solidFill>
            <a:prstDash val="solid"/>
            <a:tailEnd type="triangle"/>
          </a:ln>
        </p:spPr>
      </p:sp>
      <p:sp>
        <p:nvSpPr>
          <p:cNvPr id="26" name="Shape 24"/>
          <p:cNvSpPr/>
          <p:nvPr/>
        </p:nvSpPr>
        <p:spPr>
          <a:xfrm>
            <a:off x="7370064" y="4443984"/>
            <a:ext cx="1956816" cy="566928"/>
          </a:xfrm>
          <a:prstGeom prst="roundRect">
            <a:avLst>
              <a:gd name="adj" fmla="val 9677"/>
            </a:avLst>
          </a:prstGeom>
          <a:solidFill>
            <a:srgbClr val="3B4A58"/>
          </a:solidFill>
          <a:ln w="12700">
            <a:solidFill>
              <a:srgbClr val="3B4A58"/>
            </a:solidFill>
            <a:prstDash val="solid"/>
          </a:ln>
        </p:spPr>
      </p:sp>
      <p:sp>
        <p:nvSpPr>
          <p:cNvPr id="27" name="Text 25"/>
          <p:cNvSpPr txBox="1"/>
          <p:nvPr/>
        </p:nvSpPr>
        <p:spPr>
          <a:xfrm>
            <a:off x="7370064" y="4443984"/>
            <a:ext cx="1956816"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Destroyed</a:t>
            </a:r>
            <a:endParaRPr lang="en-US" sz="1300" dirty="0"/>
          </a:p>
        </p:txBody>
      </p:sp>
      <p:sp>
        <p:nvSpPr>
          <p:cNvPr id="28" name="Shape 26"/>
          <p:cNvSpPr/>
          <p:nvPr/>
        </p:nvSpPr>
        <p:spPr>
          <a:xfrm>
            <a:off x="9637776" y="4443984"/>
            <a:ext cx="1956816" cy="566928"/>
          </a:xfrm>
          <a:prstGeom prst="roundRect">
            <a:avLst>
              <a:gd name="adj" fmla="val 9677"/>
            </a:avLst>
          </a:prstGeom>
          <a:solidFill>
            <a:srgbClr val="B3261E"/>
          </a:solidFill>
          <a:ln w="12700">
            <a:solidFill>
              <a:srgbClr val="B3261E"/>
            </a:solidFill>
            <a:prstDash val="solid"/>
          </a:ln>
        </p:spPr>
      </p:sp>
      <p:sp>
        <p:nvSpPr>
          <p:cNvPr id="29" name="Text 27"/>
          <p:cNvSpPr txBox="1"/>
          <p:nvPr/>
        </p:nvSpPr>
        <p:spPr>
          <a:xfrm>
            <a:off x="9637776" y="4443984"/>
            <a:ext cx="1956816"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Compromised</a:t>
            </a:r>
            <a:endParaRPr lang="en-US" sz="1300" dirty="0"/>
          </a:p>
        </p:txBody>
      </p:sp>
      <p:sp>
        <p:nvSpPr>
          <p:cNvPr id="30" name="Text 28"/>
          <p:cNvSpPr txBox="1"/>
          <p:nvPr/>
        </p:nvSpPr>
        <p:spPr>
          <a:xfrm>
            <a:off x="9637776" y="5047488"/>
            <a:ext cx="1956816" cy="237744"/>
          </a:xfrm>
          <a:prstGeom prst="rect">
            <a:avLst/>
          </a:prstGeom>
          <a:noFill/>
          <a:ln/>
        </p:spPr>
        <p:txBody>
          <a:bodyPr wrap="square" lIns="0" tIns="0" rIns="0" bIns="0" rtlCol="0" anchor="ctr"/>
          <a:lstStyle/>
          <a:p>
            <a:pPr algn="ctr" indent="0" marL="0">
              <a:buNone/>
            </a:pPr>
            <a:r>
              <a:rPr lang="en-US" sz="950" dirty="0">
                <a:solidFill>
                  <a:srgbClr val="7B8794"/>
                </a:solidFill>
                <a:latin typeface="Calibri" pitchFamily="34" charset="0"/>
                <a:ea typeface="Calibri" pitchFamily="34" charset="-122"/>
                <a:cs typeface="Calibri" pitchFamily="34" charset="-120"/>
              </a:rPr>
              <a:t>reachable from any live state</a:t>
            </a:r>
            <a:endParaRPr lang="en-US" sz="950" dirty="0"/>
          </a:p>
        </p:txBody>
      </p:sp>
      <p:sp>
        <p:nvSpPr>
          <p:cNvPr id="31" name="Text 29"/>
          <p:cNvSpPr txBox="1"/>
          <p:nvPr/>
        </p:nvSpPr>
        <p:spPr>
          <a:xfrm>
            <a:off x="566928" y="5440680"/>
            <a:ext cx="11027664" cy="329184"/>
          </a:xfrm>
          <a:prstGeom prst="rect">
            <a:avLst/>
          </a:prstGeom>
          <a:noFill/>
          <a:ln/>
        </p:spPr>
        <p:txBody>
          <a:bodyPr wrap="square" lIns="0" tIns="0" rIns="0" bIns="0" rtlCol="0" anchor="ctr"/>
          <a:lstStyle/>
          <a:p>
            <a:pPr indent="0" marL="0">
              <a:buNone/>
            </a:pPr>
            <a:r>
              <a:rPr lang="en-US" sz="1300" i="1" dirty="0">
                <a:solidFill>
                  <a:srgbClr val="1A3A5C"/>
                </a:solidFill>
                <a:latin typeface="Calibri" pitchFamily="34" charset="0"/>
                <a:ea typeface="Calibri" pitchFamily="34" charset="-122"/>
                <a:cs typeface="Calibri" pitchFamily="34" charset="-120"/>
              </a:rPr>
              <a:t>Deactivated keys may still decrypt and verify — retiring a key must not strand the data encrypted under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27664" cy="237744"/>
          </a:xfrm>
          <a:prstGeom prst="rect">
            <a:avLst/>
          </a:prstGeom>
          <a:noFill/>
          <a:ln/>
        </p:spPr>
        <p:txBody>
          <a:bodyPr wrap="square" lIns="0" tIns="0" rIns="0" bIns="0" rtlCol="0" anchor="ctr"/>
          <a:lstStyle/>
          <a:p>
            <a:pPr indent="0" marL="0">
              <a:buNone/>
            </a:pPr>
            <a:r>
              <a:rPr lang="en-US" sz="1150" b="1" spc="220" kern="0" dirty="0">
                <a:solidFill>
                  <a:srgbClr val="C8952B"/>
                </a:solidFill>
                <a:latin typeface="Calibri" pitchFamily="34" charset="0"/>
                <a:ea typeface="Calibri" pitchFamily="34" charset="-122"/>
                <a:cs typeface="Calibri" pitchFamily="34" charset="-120"/>
              </a:rPr>
              <a:t>WHAT IS KMIP · 3 OF 3</a:t>
            </a:r>
            <a:endParaRPr lang="en-US" sz="1150" dirty="0"/>
          </a:p>
        </p:txBody>
      </p:sp>
      <p:sp>
        <p:nvSpPr>
          <p:cNvPr id="3" name="Text 1"/>
          <p:cNvSpPr txBox="1"/>
          <p:nvPr/>
        </p:nvSpPr>
        <p:spPr>
          <a:xfrm>
            <a:off x="566928" y="621792"/>
            <a:ext cx="11027664" cy="658368"/>
          </a:xfrm>
          <a:prstGeom prst="rect">
            <a:avLst/>
          </a:prstGeom>
          <a:noFill/>
          <a:ln/>
        </p:spPr>
        <p:txBody>
          <a:bodyPr wrap="square" lIns="0" tIns="0" rIns="0" bIns="0" rtlCol="0" anchor="ctr"/>
          <a:lstStyle/>
          <a:p>
            <a:pPr indent="0" marL="0">
              <a:buNone/>
            </a:pPr>
            <a:r>
              <a:rPr lang="en-US" sz="3400" b="1" dirty="0">
                <a:solidFill>
                  <a:srgbClr val="1A3A5C"/>
                </a:solidFill>
                <a:latin typeface="Cambria" pitchFamily="34" charset="0"/>
                <a:ea typeface="Cambria" pitchFamily="34" charset="-122"/>
                <a:cs typeface="Cambria" pitchFamily="34" charset="-120"/>
              </a:rPr>
              <a:t>What the standard deliberately leaves out</a:t>
            </a:r>
            <a:endParaRPr lang="en-US" sz="3400" dirty="0"/>
          </a:p>
        </p:txBody>
      </p:sp>
      <p:sp>
        <p:nvSpPr>
          <p:cNvPr id="4" name="Shape 2"/>
          <p:cNvSpPr/>
          <p:nvPr/>
        </p:nvSpPr>
        <p:spPr>
          <a:xfrm>
            <a:off x="566928" y="1572768"/>
            <a:ext cx="5394960" cy="2487168"/>
          </a:xfrm>
          <a:prstGeom prst="roundRect">
            <a:avLst>
              <a:gd name="adj" fmla="val 2206"/>
            </a:avLst>
          </a:prstGeom>
          <a:solidFill>
            <a:srgbClr val="E2F0E7"/>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5" name="Text 3"/>
          <p:cNvSpPr txBox="1"/>
          <p:nvPr/>
        </p:nvSpPr>
        <p:spPr>
          <a:xfrm>
            <a:off x="804672" y="1773936"/>
            <a:ext cx="4919472" cy="201168"/>
          </a:xfrm>
          <a:prstGeom prst="rect">
            <a:avLst/>
          </a:prstGeom>
          <a:noFill/>
          <a:ln/>
        </p:spPr>
        <p:txBody>
          <a:bodyPr wrap="square" lIns="0" tIns="0" rIns="0" bIns="0" rtlCol="0" anchor="ctr"/>
          <a:lstStyle/>
          <a:p>
            <a:pPr indent="0" marL="0">
              <a:buNone/>
            </a:pPr>
            <a:r>
              <a:rPr lang="en-US" sz="1000" b="1" spc="160" kern="0" dirty="0">
                <a:solidFill>
                  <a:srgbClr val="1F7A43"/>
                </a:solidFill>
                <a:latin typeface="Calibri" pitchFamily="34" charset="0"/>
                <a:ea typeface="Calibri" pitchFamily="34" charset="-122"/>
                <a:cs typeface="Calibri" pitchFamily="34" charset="-120"/>
              </a:rPr>
              <a:t>KMIP DEFINES</a:t>
            </a:r>
            <a:endParaRPr lang="en-US" sz="1000" dirty="0"/>
          </a:p>
        </p:txBody>
      </p:sp>
      <p:sp>
        <p:nvSpPr>
          <p:cNvPr id="6" name="Text 4"/>
          <p:cNvSpPr txBox="1"/>
          <p:nvPr/>
        </p:nvSpPr>
        <p:spPr>
          <a:xfrm>
            <a:off x="804672" y="2048256"/>
            <a:ext cx="4919472" cy="310896"/>
          </a:xfrm>
          <a:prstGeom prst="rect">
            <a:avLst/>
          </a:prstGeom>
          <a:noFill/>
          <a:ln/>
        </p:spPr>
        <p:txBody>
          <a:bodyPr wrap="square" lIns="0" tIns="0" rIns="0" bIns="0" rtlCol="0" anchor="ctr"/>
          <a:lstStyle/>
          <a:p>
            <a:pPr indent="0" marL="0">
              <a:buNone/>
            </a:pPr>
            <a:r>
              <a:rPr lang="en-US" sz="1600" b="1" dirty="0">
                <a:solidFill>
                  <a:srgbClr val="1A3A5C"/>
                </a:solidFill>
                <a:latin typeface="Cambria" pitchFamily="34" charset="0"/>
                <a:ea typeface="Cambria" pitchFamily="34" charset="-122"/>
                <a:cs typeface="Cambria" pitchFamily="34" charset="-120"/>
              </a:rPr>
              <a:t>Keys, and operations on keys</a:t>
            </a:r>
            <a:endParaRPr lang="en-US" sz="1600" dirty="0"/>
          </a:p>
        </p:txBody>
      </p:sp>
      <p:sp>
        <p:nvSpPr>
          <p:cNvPr id="7" name="Text 5"/>
          <p:cNvSpPr txBox="1"/>
          <p:nvPr/>
        </p:nvSpPr>
        <p:spPr>
          <a:xfrm>
            <a:off x="804672" y="2414016"/>
            <a:ext cx="4919472" cy="1481328"/>
          </a:xfrm>
          <a:prstGeom prst="rect">
            <a:avLst/>
          </a:prstGeom>
          <a:noFill/>
          <a:ln/>
        </p:spPr>
        <p:txBody>
          <a:bodyPr wrap="square" lIns="0" tIns="0" rIns="0" bIns="0" rtlCol="0" anchor="t"/>
          <a:lstStyle/>
          <a:p>
            <a:pPr marL="342900" indent="-342900">
              <a:lnSpc>
                <a:spcPts val="1700"/>
              </a:lnSpc>
              <a:spcAft>
                <a:spcPts val="600"/>
              </a:spcAft>
              <a:buSzPct val="100000"/>
              <a:buChar char="•"/>
            </a:pPr>
            <a:r>
              <a:rPr lang="en-US" sz="1300" dirty="0">
                <a:solidFill>
                  <a:srgbClr val="4D5A68"/>
                </a:solidFill>
                <a:latin typeface="Calibri" pitchFamily="34" charset="0"/>
                <a:ea typeface="Calibri" pitchFamily="34" charset="-122"/>
                <a:cs typeface="Calibri" pitchFamily="34" charset="-120"/>
              </a:rPr>
              <a:t>Managed objects and their attributes</a:t>
            </a:r>
            <a:endParaRPr lang="en-US" sz="1300" dirty="0"/>
          </a:p>
          <a:p>
            <a:pPr marL="342900" indent="-342900">
              <a:lnSpc>
                <a:spcPts val="1700"/>
              </a:lnSpc>
              <a:spcAft>
                <a:spcPts val="600"/>
              </a:spcAft>
              <a:buSzPct val="100000"/>
              <a:buChar char="•"/>
            </a:pPr>
            <a:r>
              <a:rPr lang="en-US" sz="1300" dirty="0">
                <a:solidFill>
                  <a:srgbClr val="4D5A68"/>
                </a:solidFill>
                <a:latin typeface="Calibri" pitchFamily="34" charset="0"/>
                <a:ea typeface="Calibri" pitchFamily="34" charset="-122"/>
                <a:cs typeface="Calibri" pitchFamily="34" charset="-120"/>
              </a:rPr>
              <a:t>The lifecycle state machine</a:t>
            </a:r>
            <a:endParaRPr lang="en-US" sz="1300" dirty="0"/>
          </a:p>
          <a:p>
            <a:pPr marL="342900" indent="-342900">
              <a:lnSpc>
                <a:spcPts val="1700"/>
              </a:lnSpc>
              <a:spcAft>
                <a:spcPts val="600"/>
              </a:spcAft>
              <a:buSzPct val="100000"/>
              <a:buChar char="•"/>
            </a:pPr>
            <a:r>
              <a:rPr lang="en-US" sz="1300" dirty="0">
                <a:solidFill>
                  <a:srgbClr val="4D5A68"/>
                </a:solidFill>
                <a:latin typeface="Calibri" pitchFamily="34" charset="0"/>
                <a:ea typeface="Calibri" pitchFamily="34" charset="-122"/>
                <a:cs typeface="Calibri" pitchFamily="34" charset="-120"/>
              </a:rPr>
              <a:t>Cryptographic operations: encrypt, sign, MAC, derive, wrap</a:t>
            </a:r>
            <a:endParaRPr lang="en-US" sz="1300" dirty="0"/>
          </a:p>
          <a:p>
            <a:pPr marL="342900" indent="-342900">
              <a:lnSpc>
                <a:spcPts val="1700"/>
              </a:lnSpc>
              <a:spcAft>
                <a:spcPts val="600"/>
              </a:spcAft>
              <a:buSzPct val="100000"/>
              <a:buChar char="•"/>
            </a:pPr>
            <a:r>
              <a:rPr lang="en-US" sz="1300" dirty="0">
                <a:solidFill>
                  <a:srgbClr val="4D5A68"/>
                </a:solidFill>
                <a:latin typeface="Calibri" pitchFamily="34" charset="0"/>
                <a:ea typeface="Calibri" pitchFamily="34" charset="-122"/>
                <a:cs typeface="Calibri" pitchFamily="34" charset="-120"/>
              </a:rPr>
              <a:t>Search over objects (Locate), batching, version negotiation</a:t>
            </a:r>
            <a:endParaRPr lang="en-US" sz="1300" dirty="0"/>
          </a:p>
        </p:txBody>
      </p:sp>
      <p:sp>
        <p:nvSpPr>
          <p:cNvPr id="8" name="Shape 6"/>
          <p:cNvSpPr/>
          <p:nvPr/>
        </p:nvSpPr>
        <p:spPr>
          <a:xfrm>
            <a:off x="6236208" y="1572768"/>
            <a:ext cx="5394960" cy="2487168"/>
          </a:xfrm>
          <a:prstGeom prst="roundRect">
            <a:avLst>
              <a:gd name="adj" fmla="val 2206"/>
            </a:avLst>
          </a:prstGeom>
          <a:solidFill>
            <a:srgbClr val="F7E9E8"/>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9" name="Text 7"/>
          <p:cNvSpPr txBox="1"/>
          <p:nvPr/>
        </p:nvSpPr>
        <p:spPr>
          <a:xfrm>
            <a:off x="6473952" y="1773936"/>
            <a:ext cx="4919472" cy="201168"/>
          </a:xfrm>
          <a:prstGeom prst="rect">
            <a:avLst/>
          </a:prstGeom>
          <a:noFill/>
          <a:ln/>
        </p:spPr>
        <p:txBody>
          <a:bodyPr wrap="square" lIns="0" tIns="0" rIns="0" bIns="0" rtlCol="0" anchor="ctr"/>
          <a:lstStyle/>
          <a:p>
            <a:pPr indent="0" marL="0">
              <a:buNone/>
            </a:pPr>
            <a:r>
              <a:rPr lang="en-US" sz="1000" b="1" spc="160" kern="0" dirty="0">
                <a:solidFill>
                  <a:srgbClr val="B3261E"/>
                </a:solidFill>
                <a:latin typeface="Calibri" pitchFamily="34" charset="0"/>
                <a:ea typeface="Calibri" pitchFamily="34" charset="-122"/>
                <a:cs typeface="Calibri" pitchFamily="34" charset="-120"/>
              </a:rPr>
              <a:t>KMIP DOES NOT DEFINE</a:t>
            </a:r>
            <a:endParaRPr lang="en-US" sz="1000" dirty="0"/>
          </a:p>
        </p:txBody>
      </p:sp>
      <p:sp>
        <p:nvSpPr>
          <p:cNvPr id="10" name="Text 8"/>
          <p:cNvSpPr txBox="1"/>
          <p:nvPr/>
        </p:nvSpPr>
        <p:spPr>
          <a:xfrm>
            <a:off x="6473952" y="2048256"/>
            <a:ext cx="4919472" cy="310896"/>
          </a:xfrm>
          <a:prstGeom prst="rect">
            <a:avLst/>
          </a:prstGeom>
          <a:noFill/>
          <a:ln/>
        </p:spPr>
        <p:txBody>
          <a:bodyPr wrap="square" lIns="0" tIns="0" rIns="0" bIns="0" rtlCol="0" anchor="ctr"/>
          <a:lstStyle/>
          <a:p>
            <a:pPr indent="0" marL="0">
              <a:buNone/>
            </a:pPr>
            <a:r>
              <a:rPr lang="en-US" sz="1600" b="1" dirty="0">
                <a:solidFill>
                  <a:srgbClr val="1A3A5C"/>
                </a:solidFill>
                <a:latin typeface="Cambria" pitchFamily="34" charset="0"/>
                <a:ea typeface="Cambria" pitchFamily="34" charset="-122"/>
                <a:cs typeface="Cambria" pitchFamily="34" charset="-120"/>
              </a:rPr>
              <a:t>Everything around them</a:t>
            </a:r>
            <a:endParaRPr lang="en-US" sz="1600" dirty="0"/>
          </a:p>
        </p:txBody>
      </p:sp>
      <p:sp>
        <p:nvSpPr>
          <p:cNvPr id="11" name="Text 9"/>
          <p:cNvSpPr txBox="1"/>
          <p:nvPr/>
        </p:nvSpPr>
        <p:spPr>
          <a:xfrm>
            <a:off x="6473952" y="2414016"/>
            <a:ext cx="4919472" cy="1481328"/>
          </a:xfrm>
          <a:prstGeom prst="rect">
            <a:avLst/>
          </a:prstGeom>
          <a:noFill/>
          <a:ln/>
        </p:spPr>
        <p:txBody>
          <a:bodyPr wrap="square" lIns="0" tIns="0" rIns="0" bIns="0" rtlCol="0" anchor="t"/>
          <a:lstStyle/>
          <a:p>
            <a:pPr marL="342900" indent="-342900">
              <a:lnSpc>
                <a:spcPts val="1700"/>
              </a:lnSpc>
              <a:spcAft>
                <a:spcPts val="600"/>
              </a:spcAft>
              <a:buSzPct val="100000"/>
              <a:buChar char="•"/>
            </a:pPr>
            <a:r>
              <a:rPr lang="en-US" sz="1300" dirty="0">
                <a:solidFill>
                  <a:srgbClr val="4D5A68"/>
                </a:solidFill>
                <a:latin typeface="Calibri" pitchFamily="34" charset="0"/>
                <a:ea typeface="Calibri" pitchFamily="34" charset="-122"/>
                <a:cs typeface="Calibri" pitchFamily="34" charset="-120"/>
              </a:rPr>
              <a:t>Identities, roles, groups, grants — no user management at all</a:t>
            </a:r>
            <a:endParaRPr lang="en-US" sz="1300" dirty="0"/>
          </a:p>
          <a:p>
            <a:pPr marL="342900" indent="-342900">
              <a:lnSpc>
                <a:spcPts val="1700"/>
              </a:lnSpc>
              <a:spcAft>
                <a:spcPts val="600"/>
              </a:spcAft>
              <a:buSzPct val="100000"/>
              <a:buChar char="•"/>
            </a:pPr>
            <a:r>
              <a:rPr lang="en-US" sz="1300" dirty="0">
                <a:solidFill>
                  <a:srgbClr val="4D5A68"/>
                </a:solidFill>
                <a:latin typeface="Calibri" pitchFamily="34" charset="0"/>
                <a:ea typeface="Calibri" pitchFamily="34" charset="-122"/>
                <a:cs typeface="Calibri" pitchFamily="34" charset="-120"/>
              </a:rPr>
              <a:t>Any HTTP or REST binding: TTLV over TCP only</a:t>
            </a:r>
            <a:endParaRPr lang="en-US" sz="1300" dirty="0"/>
          </a:p>
          <a:p>
            <a:pPr marL="342900" indent="-342900">
              <a:lnSpc>
                <a:spcPts val="1700"/>
              </a:lnSpc>
              <a:spcAft>
                <a:spcPts val="600"/>
              </a:spcAft>
              <a:buSzPct val="100000"/>
              <a:buChar char="•"/>
            </a:pPr>
            <a:r>
              <a:rPr lang="en-US" sz="1300" dirty="0">
                <a:solidFill>
                  <a:srgbClr val="4D5A68"/>
                </a:solidFill>
                <a:latin typeface="Calibri" pitchFamily="34" charset="0"/>
                <a:ea typeface="Calibri" pitchFamily="34" charset="-122"/>
                <a:cs typeface="Calibri" pitchFamily="34" charset="-120"/>
              </a:rPr>
              <a:t>Tenancy, quotas, reporting, dashboards</a:t>
            </a:r>
            <a:endParaRPr lang="en-US" sz="1300" dirty="0"/>
          </a:p>
          <a:p>
            <a:pPr marL="342900" indent="-342900">
              <a:lnSpc>
                <a:spcPts val="1700"/>
              </a:lnSpc>
              <a:spcAft>
                <a:spcPts val="600"/>
              </a:spcAft>
              <a:buSzPct val="100000"/>
              <a:buChar char="•"/>
            </a:pPr>
            <a:r>
              <a:rPr lang="en-US" sz="1300" dirty="0">
                <a:solidFill>
                  <a:srgbClr val="4D5A68"/>
                </a:solidFill>
                <a:latin typeface="Calibri" pitchFamily="34" charset="0"/>
                <a:ea typeface="Calibri" pitchFamily="34" charset="-122"/>
                <a:cs typeface="Calibri" pitchFamily="34" charset="-120"/>
              </a:rPr>
              <a:t>Administrative operations of any kind</a:t>
            </a:r>
            <a:endParaRPr lang="en-US" sz="1300" dirty="0"/>
          </a:p>
        </p:txBody>
      </p:sp>
      <p:sp>
        <p:nvSpPr>
          <p:cNvPr id="12" name="Shape 10"/>
          <p:cNvSpPr/>
          <p:nvPr/>
        </p:nvSpPr>
        <p:spPr>
          <a:xfrm>
            <a:off x="566928" y="4261104"/>
            <a:ext cx="6858000" cy="1755648"/>
          </a:xfrm>
          <a:prstGeom prst="roundRect">
            <a:avLst>
              <a:gd name="adj" fmla="val 3125"/>
            </a:avLst>
          </a:prstGeom>
          <a:solidFill>
            <a:srgbClr val="1A3A5C"/>
          </a:solidFill>
          <a:ln w="12700">
            <a:solidFill>
              <a:srgbClr val="E8EFF6"/>
            </a:solidFill>
            <a:prstDash val="solid"/>
          </a:ln>
        </p:spPr>
      </p:sp>
      <p:sp>
        <p:nvSpPr>
          <p:cNvPr id="13" name="Text 11"/>
          <p:cNvSpPr txBox="1"/>
          <p:nvPr/>
        </p:nvSpPr>
        <p:spPr>
          <a:xfrm>
            <a:off x="804672" y="4462272"/>
            <a:ext cx="6382512"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consequence</a:t>
            </a:r>
            <a:endParaRPr lang="en-US" sz="1600" dirty="0"/>
          </a:p>
        </p:txBody>
      </p:sp>
      <p:sp>
        <p:nvSpPr>
          <p:cNvPr id="14" name="Text 12"/>
          <p:cNvSpPr txBox="1"/>
          <p:nvPr/>
        </p:nvSpPr>
        <p:spPr>
          <a:xfrm>
            <a:off x="804672" y="4828032"/>
            <a:ext cx="6382512" cy="1024128"/>
          </a:xfrm>
          <a:prstGeom prst="rect">
            <a:avLst/>
          </a:prstGeom>
          <a:noFill/>
          <a:ln/>
        </p:spPr>
        <p:txBody>
          <a:bodyPr wrap="square" lIns="0" tIns="0" rIns="0" bIns="0" rtlCol="0" anchor="t"/>
          <a:lstStyle/>
          <a:p>
            <a:pPr indent="0" marL="0">
              <a:lnSpc>
                <a:spcPts val="1700"/>
              </a:lnSpc>
              <a:buNone/>
            </a:pPr>
            <a:r>
              <a:rPr lang="en-US" sz="1350" dirty="0">
                <a:solidFill>
                  <a:srgbClr val="C9DAEA"/>
                </a:solidFill>
                <a:latin typeface="Calibri" pitchFamily="34" charset="0"/>
                <a:ea typeface="Calibri" pitchFamily="34" charset="-122"/>
                <a:cs typeface="Calibri" pitchFamily="34" charset="-120"/>
              </a:rPr>
              <a:t>Every commercial KMS bolts an administrative plane onto its KMIP server. A KMIP layer is an interoperability surface — it is not, by itself, a product.</a:t>
            </a:r>
            <a:endParaRPr lang="en-US" sz="1350" dirty="0"/>
          </a:p>
        </p:txBody>
      </p:sp>
      <p:sp>
        <p:nvSpPr>
          <p:cNvPr id="15" name="Shape 13"/>
          <p:cNvSpPr/>
          <p:nvPr/>
        </p:nvSpPr>
        <p:spPr>
          <a:xfrm>
            <a:off x="7699248" y="4261104"/>
            <a:ext cx="3931920" cy="1755648"/>
          </a:xfrm>
          <a:prstGeom prst="roundRect">
            <a:avLst>
              <a:gd name="adj" fmla="val 3125"/>
            </a:avLst>
          </a:prstGeom>
          <a:solidFill>
            <a:srgbClr val="FBF3E3"/>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16" name="Text 14"/>
          <p:cNvSpPr txBox="1"/>
          <p:nvPr/>
        </p:nvSpPr>
        <p:spPr>
          <a:xfrm>
            <a:off x="7936992" y="4462272"/>
            <a:ext cx="3456432" cy="201168"/>
          </a:xfrm>
          <a:prstGeom prst="rect">
            <a:avLst/>
          </a:prstGeom>
          <a:noFill/>
          <a:ln/>
        </p:spPr>
        <p:txBody>
          <a:bodyPr wrap="square" lIns="0" tIns="0" rIns="0" bIns="0" rtlCol="0" anchor="ctr"/>
          <a:lstStyle/>
          <a:p>
            <a:pPr indent="0" marL="0">
              <a:buNone/>
            </a:pPr>
            <a:r>
              <a:rPr lang="en-US" sz="1000" b="1" spc="160" kern="0" dirty="0">
                <a:solidFill>
                  <a:srgbClr val="9A6410"/>
                </a:solidFill>
                <a:latin typeface="Calibri" pitchFamily="34" charset="0"/>
                <a:ea typeface="Calibri" pitchFamily="34" charset="-122"/>
                <a:cs typeface="Calibri" pitchFamily="34" charset="-120"/>
              </a:rPr>
              <a:t>VERSIONS</a:t>
            </a:r>
            <a:endParaRPr lang="en-US" sz="1000" dirty="0"/>
          </a:p>
        </p:txBody>
      </p:sp>
      <p:sp>
        <p:nvSpPr>
          <p:cNvPr id="17" name="Text 15"/>
          <p:cNvSpPr txBox="1"/>
          <p:nvPr/>
        </p:nvSpPr>
        <p:spPr>
          <a:xfrm>
            <a:off x="7936992" y="4736592"/>
            <a:ext cx="3456432" cy="310896"/>
          </a:xfrm>
          <a:prstGeom prst="rect">
            <a:avLst/>
          </a:prstGeom>
          <a:noFill/>
          <a:ln/>
        </p:spPr>
        <p:txBody>
          <a:bodyPr wrap="square" lIns="0" tIns="0" rIns="0" bIns="0" rtlCol="0" anchor="ctr"/>
          <a:lstStyle/>
          <a:p>
            <a:pPr indent="0" marL="0">
              <a:buNone/>
            </a:pPr>
            <a:r>
              <a:rPr lang="en-US" sz="1600" b="1" dirty="0">
                <a:solidFill>
                  <a:srgbClr val="1A3A5C"/>
                </a:solidFill>
                <a:latin typeface="Cambria" pitchFamily="34" charset="0"/>
                <a:ea typeface="Cambria" pitchFamily="34" charset="-122"/>
                <a:cs typeface="Cambria" pitchFamily="34" charset="-120"/>
              </a:rPr>
              <a:t>2.1 → 3.0</a:t>
            </a:r>
            <a:endParaRPr lang="en-US" sz="1600" dirty="0"/>
          </a:p>
        </p:txBody>
      </p:sp>
      <p:sp>
        <p:nvSpPr>
          <p:cNvPr id="18" name="Text 16"/>
          <p:cNvSpPr txBox="1"/>
          <p:nvPr/>
        </p:nvSpPr>
        <p:spPr>
          <a:xfrm>
            <a:off x="7936992" y="5102352"/>
            <a:ext cx="3456432" cy="749808"/>
          </a:xfrm>
          <a:prstGeom prst="rect">
            <a:avLst/>
          </a:prstGeom>
          <a:noFill/>
          <a:ln/>
        </p:spPr>
        <p:txBody>
          <a:bodyPr wrap="square" lIns="0" tIns="0" rIns="0" bIns="0" rtlCol="0" anchor="t"/>
          <a:lstStyle/>
          <a:p>
            <a:pPr indent="0" marL="0">
              <a:lnSpc>
                <a:spcPts val="1700"/>
              </a:lnSpc>
              <a:buNone/>
            </a:pPr>
            <a:r>
              <a:rPr lang="en-US" sz="1200" dirty="0">
                <a:solidFill>
                  <a:srgbClr val="4D5A68"/>
                </a:solidFill>
                <a:latin typeface="Calibri" pitchFamily="34" charset="0"/>
                <a:ea typeface="Calibri" pitchFamily="34" charset="-122"/>
                <a:cs typeface="Calibri" pitchFamily="34" charset="-120"/>
              </a:rPr>
              <a:t>2.1 (2019) is what this project implements. 3.0 CSD02 (May 2026) adds ML-KEM, ML-DSA, SLH-DSA and Encapsulate/Decapsulate.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27664" cy="237744"/>
          </a:xfrm>
          <a:prstGeom prst="rect">
            <a:avLst/>
          </a:prstGeom>
          <a:noFill/>
          <a:ln/>
        </p:spPr>
        <p:txBody>
          <a:bodyPr wrap="square" lIns="0" tIns="0" rIns="0" bIns="0" rtlCol="0" anchor="ctr"/>
          <a:lstStyle/>
          <a:p>
            <a:pPr indent="0" marL="0">
              <a:buNone/>
            </a:pPr>
            <a:r>
              <a:rPr lang="en-US" sz="1150" b="1" spc="220" kern="0" dirty="0">
                <a:solidFill>
                  <a:srgbClr val="C8952B"/>
                </a:solidFill>
                <a:latin typeface="Calibri" pitchFamily="34" charset="0"/>
                <a:ea typeface="Calibri" pitchFamily="34" charset="-122"/>
                <a:cs typeface="Calibri" pitchFamily="34" charset="-120"/>
              </a:rPr>
              <a:t>THE DESIGN · 1 OF 3</a:t>
            </a:r>
            <a:endParaRPr lang="en-US" sz="1150" dirty="0"/>
          </a:p>
        </p:txBody>
      </p:sp>
      <p:sp>
        <p:nvSpPr>
          <p:cNvPr id="3" name="Text 1"/>
          <p:cNvSpPr txBox="1"/>
          <p:nvPr/>
        </p:nvSpPr>
        <p:spPr>
          <a:xfrm>
            <a:off x="566928" y="621792"/>
            <a:ext cx="11027664" cy="658368"/>
          </a:xfrm>
          <a:prstGeom prst="rect">
            <a:avLst/>
          </a:prstGeom>
          <a:noFill/>
          <a:ln/>
        </p:spPr>
        <p:txBody>
          <a:bodyPr wrap="square" lIns="0" tIns="0" rIns="0" bIns="0" rtlCol="0" anchor="ctr"/>
          <a:lstStyle/>
          <a:p>
            <a:pPr indent="0" marL="0">
              <a:buNone/>
            </a:pPr>
            <a:r>
              <a:rPr lang="en-US" sz="3400" b="1" dirty="0">
                <a:solidFill>
                  <a:srgbClr val="1A3A5C"/>
                </a:solidFill>
                <a:latin typeface="Cambria" pitchFamily="34" charset="0"/>
                <a:ea typeface="Cambria" pitchFamily="34" charset="-122"/>
                <a:cs typeface="Cambria" pitchFamily="34" charset="-120"/>
              </a:rPr>
              <a:t>KMIP 2.1 on a PKCS#11 token</a:t>
            </a:r>
            <a:endParaRPr lang="en-US" sz="3400" dirty="0"/>
          </a:p>
        </p:txBody>
      </p:sp>
      <p:sp>
        <p:nvSpPr>
          <p:cNvPr id="4" name="Shape 2"/>
          <p:cNvSpPr/>
          <p:nvPr/>
        </p:nvSpPr>
        <p:spPr>
          <a:xfrm>
            <a:off x="3977640" y="1517904"/>
            <a:ext cx="4206240" cy="475488"/>
          </a:xfrm>
          <a:prstGeom prst="roundRect">
            <a:avLst>
              <a:gd name="adj" fmla="val 11538"/>
            </a:avLst>
          </a:prstGeom>
          <a:solidFill>
            <a:srgbClr val="6B8299"/>
          </a:solidFill>
          <a:ln w="12700">
            <a:solidFill>
              <a:srgbClr val="6B8299"/>
            </a:solidFill>
            <a:prstDash val="solid"/>
          </a:ln>
        </p:spPr>
      </p:sp>
      <p:sp>
        <p:nvSpPr>
          <p:cNvPr id="5" name="Text 3"/>
          <p:cNvSpPr txBox="1"/>
          <p:nvPr/>
        </p:nvSpPr>
        <p:spPr>
          <a:xfrm>
            <a:off x="3977640" y="1517904"/>
            <a:ext cx="420624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KMIP clients</a:t>
            </a:r>
            <a:endParaRPr lang="en-US" sz="1250" dirty="0"/>
          </a:p>
        </p:txBody>
      </p:sp>
      <p:sp>
        <p:nvSpPr>
          <p:cNvPr id="6" name="Text 4"/>
          <p:cNvSpPr txBox="1"/>
          <p:nvPr/>
        </p:nvSpPr>
        <p:spPr>
          <a:xfrm>
            <a:off x="8348472" y="1591056"/>
            <a:ext cx="3246120" cy="329184"/>
          </a:xfrm>
          <a:prstGeom prst="rect">
            <a:avLst/>
          </a:prstGeom>
          <a:noFill/>
          <a:ln/>
        </p:spPr>
        <p:txBody>
          <a:bodyPr wrap="square" lIns="0" tIns="0" rIns="0" bIns="0" rtlCol="0" anchor="ctr"/>
          <a:lstStyle/>
          <a:p>
            <a:pPr indent="0" marL="0">
              <a:buNone/>
            </a:pPr>
            <a:r>
              <a:rPr lang="en-US" sz="1050" dirty="0">
                <a:solidFill>
                  <a:srgbClr val="7B8794"/>
                </a:solidFill>
                <a:latin typeface="Calibri" pitchFamily="34" charset="0"/>
                <a:ea typeface="Calibri" pitchFamily="34" charset="-122"/>
                <a:cs typeface="Calibri" pitchFamily="34" charset="-120"/>
              </a:rPr>
              <a:t>Oracle TDE · VMware · NetApp · scripts</a:t>
            </a:r>
            <a:endParaRPr lang="en-US" sz="1050" dirty="0"/>
          </a:p>
        </p:txBody>
      </p:sp>
      <p:sp>
        <p:nvSpPr>
          <p:cNvPr id="7" name="Shape 5"/>
          <p:cNvSpPr/>
          <p:nvPr/>
        </p:nvSpPr>
        <p:spPr>
          <a:xfrm>
            <a:off x="6080760" y="2002536"/>
            <a:ext cx="0" cy="182880"/>
          </a:xfrm>
          <a:prstGeom prst="line">
            <a:avLst/>
          </a:prstGeom>
          <a:noFill/>
          <a:ln w="19050">
            <a:solidFill>
              <a:srgbClr val="2E6DA4"/>
            </a:solidFill>
            <a:prstDash val="solid"/>
            <a:tailEnd type="triangle"/>
          </a:ln>
        </p:spPr>
      </p:sp>
      <p:sp>
        <p:nvSpPr>
          <p:cNvPr id="8" name="Shape 6"/>
          <p:cNvSpPr/>
          <p:nvPr/>
        </p:nvSpPr>
        <p:spPr>
          <a:xfrm>
            <a:off x="3977640" y="2199132"/>
            <a:ext cx="4206240" cy="475488"/>
          </a:xfrm>
          <a:prstGeom prst="roundRect">
            <a:avLst>
              <a:gd name="adj" fmla="val 11538"/>
            </a:avLst>
          </a:prstGeom>
          <a:solidFill>
            <a:srgbClr val="2E6DA4"/>
          </a:solidFill>
          <a:ln w="12700">
            <a:solidFill>
              <a:srgbClr val="2E6DA4"/>
            </a:solidFill>
            <a:prstDash val="solid"/>
          </a:ln>
        </p:spPr>
      </p:sp>
      <p:sp>
        <p:nvSpPr>
          <p:cNvPr id="9" name="Text 7"/>
          <p:cNvSpPr txBox="1"/>
          <p:nvPr/>
        </p:nvSpPr>
        <p:spPr>
          <a:xfrm>
            <a:off x="3977640" y="2199132"/>
            <a:ext cx="420624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TLS 1.2+  ·  TCP 5696</a:t>
            </a:r>
            <a:endParaRPr lang="en-US" sz="1250" dirty="0"/>
          </a:p>
        </p:txBody>
      </p:sp>
      <p:sp>
        <p:nvSpPr>
          <p:cNvPr id="10" name="Text 8"/>
          <p:cNvSpPr txBox="1"/>
          <p:nvPr/>
        </p:nvSpPr>
        <p:spPr>
          <a:xfrm>
            <a:off x="8348472" y="2272284"/>
            <a:ext cx="3246120" cy="329184"/>
          </a:xfrm>
          <a:prstGeom prst="rect">
            <a:avLst/>
          </a:prstGeom>
          <a:noFill/>
          <a:ln/>
        </p:spPr>
        <p:txBody>
          <a:bodyPr wrap="square" lIns="0" tIns="0" rIns="0" bIns="0" rtlCol="0" anchor="ctr"/>
          <a:lstStyle/>
          <a:p>
            <a:pPr indent="0" marL="0">
              <a:buNone/>
            </a:pPr>
            <a:r>
              <a:rPr lang="en-US" sz="1050" dirty="0">
                <a:solidFill>
                  <a:srgbClr val="7B8794"/>
                </a:solidFill>
                <a:latin typeface="Calibri" pitchFamily="34" charset="0"/>
                <a:ea typeface="Calibri" pitchFamily="34" charset="-122"/>
                <a:cs typeface="Calibri" pitchFamily="34" charset="-120"/>
              </a:rPr>
              <a:t>enforced by default; mTLS optional</a:t>
            </a:r>
            <a:endParaRPr lang="en-US" sz="1050" dirty="0"/>
          </a:p>
        </p:txBody>
      </p:sp>
      <p:sp>
        <p:nvSpPr>
          <p:cNvPr id="11" name="Shape 9"/>
          <p:cNvSpPr/>
          <p:nvPr/>
        </p:nvSpPr>
        <p:spPr>
          <a:xfrm>
            <a:off x="6080760" y="2683764"/>
            <a:ext cx="0" cy="182880"/>
          </a:xfrm>
          <a:prstGeom prst="line">
            <a:avLst/>
          </a:prstGeom>
          <a:noFill/>
          <a:ln w="19050">
            <a:solidFill>
              <a:srgbClr val="2E6DA4"/>
            </a:solidFill>
            <a:prstDash val="solid"/>
            <a:tailEnd type="triangle"/>
          </a:ln>
        </p:spPr>
      </p:sp>
      <p:sp>
        <p:nvSpPr>
          <p:cNvPr id="12" name="Shape 10"/>
          <p:cNvSpPr/>
          <p:nvPr/>
        </p:nvSpPr>
        <p:spPr>
          <a:xfrm>
            <a:off x="3977640" y="2880360"/>
            <a:ext cx="4206240" cy="475488"/>
          </a:xfrm>
          <a:prstGeom prst="roundRect">
            <a:avLst>
              <a:gd name="adj" fmla="val 11538"/>
            </a:avLst>
          </a:prstGeom>
          <a:solidFill>
            <a:srgbClr val="1A3A5C"/>
          </a:solidFill>
          <a:ln w="12700">
            <a:solidFill>
              <a:srgbClr val="1A3A5C"/>
            </a:solidFill>
            <a:prstDash val="solid"/>
          </a:ln>
        </p:spPr>
      </p:sp>
      <p:sp>
        <p:nvSpPr>
          <p:cNvPr id="13" name="Text 11"/>
          <p:cNvSpPr txBox="1"/>
          <p:nvPr/>
        </p:nvSpPr>
        <p:spPr>
          <a:xfrm>
            <a:off x="3977640" y="2880360"/>
            <a:ext cx="420624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Server  ·  thread per connection</a:t>
            </a:r>
            <a:endParaRPr lang="en-US" sz="1250" dirty="0"/>
          </a:p>
        </p:txBody>
      </p:sp>
      <p:sp>
        <p:nvSpPr>
          <p:cNvPr id="14" name="Text 12"/>
          <p:cNvSpPr txBox="1"/>
          <p:nvPr/>
        </p:nvSpPr>
        <p:spPr>
          <a:xfrm>
            <a:off x="8348472" y="2953512"/>
            <a:ext cx="3246120" cy="329184"/>
          </a:xfrm>
          <a:prstGeom prst="rect">
            <a:avLst/>
          </a:prstGeom>
          <a:noFill/>
          <a:ln/>
        </p:spPr>
        <p:txBody>
          <a:bodyPr wrap="square" lIns="0" tIns="0" rIns="0" bIns="0" rtlCol="0" anchor="ctr"/>
          <a:lstStyle/>
          <a:p>
            <a:pPr indent="0" marL="0">
              <a:buNone/>
            </a:pPr>
            <a:r>
              <a:rPr lang="en-US" sz="1050" dirty="0">
                <a:solidFill>
                  <a:srgbClr val="7B8794"/>
                </a:solidFill>
                <a:latin typeface="Calibri" pitchFamily="34" charset="0"/>
                <a:ea typeface="Calibri" pitchFamily="34" charset="-122"/>
                <a:cs typeface="Calibri" pitchFamily="34" charset="-120"/>
              </a:rPr>
              <a:t>request caps, handshake timeout</a:t>
            </a:r>
            <a:endParaRPr lang="en-US" sz="1050" dirty="0"/>
          </a:p>
        </p:txBody>
      </p:sp>
      <p:sp>
        <p:nvSpPr>
          <p:cNvPr id="15" name="Shape 13"/>
          <p:cNvSpPr/>
          <p:nvPr/>
        </p:nvSpPr>
        <p:spPr>
          <a:xfrm>
            <a:off x="6080760" y="3364992"/>
            <a:ext cx="0" cy="182880"/>
          </a:xfrm>
          <a:prstGeom prst="line">
            <a:avLst/>
          </a:prstGeom>
          <a:noFill/>
          <a:ln w="19050">
            <a:solidFill>
              <a:srgbClr val="2E6DA4"/>
            </a:solidFill>
            <a:prstDash val="solid"/>
            <a:tailEnd type="triangle"/>
          </a:ln>
        </p:spPr>
      </p:sp>
      <p:sp>
        <p:nvSpPr>
          <p:cNvPr id="16" name="Shape 14"/>
          <p:cNvSpPr/>
          <p:nvPr/>
        </p:nvSpPr>
        <p:spPr>
          <a:xfrm>
            <a:off x="3977640" y="3561588"/>
            <a:ext cx="4206240" cy="475488"/>
          </a:xfrm>
          <a:prstGeom prst="roundRect">
            <a:avLst>
              <a:gd name="adj" fmla="val 11538"/>
            </a:avLst>
          </a:prstGeom>
          <a:solidFill>
            <a:srgbClr val="1A3A5C"/>
          </a:solidFill>
          <a:ln w="12700">
            <a:solidFill>
              <a:srgbClr val="1A3A5C"/>
            </a:solidFill>
            <a:prstDash val="solid"/>
          </a:ln>
        </p:spPr>
      </p:sp>
      <p:sp>
        <p:nvSpPr>
          <p:cNvPr id="17" name="Text 15"/>
          <p:cNvSpPr txBox="1"/>
          <p:nvPr/>
        </p:nvSpPr>
        <p:spPr>
          <a:xfrm>
            <a:off x="3977640" y="3561588"/>
            <a:ext cx="420624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Dispatcher  ·  41 operations</a:t>
            </a:r>
            <a:endParaRPr lang="en-US" sz="1250" dirty="0"/>
          </a:p>
        </p:txBody>
      </p:sp>
      <p:sp>
        <p:nvSpPr>
          <p:cNvPr id="18" name="Text 16"/>
          <p:cNvSpPr txBox="1"/>
          <p:nvPr/>
        </p:nvSpPr>
        <p:spPr>
          <a:xfrm>
            <a:off x="8348472" y="3634740"/>
            <a:ext cx="3246120" cy="329184"/>
          </a:xfrm>
          <a:prstGeom prst="rect">
            <a:avLst/>
          </a:prstGeom>
          <a:noFill/>
          <a:ln/>
        </p:spPr>
        <p:txBody>
          <a:bodyPr wrap="square" lIns="0" tIns="0" rIns="0" bIns="0" rtlCol="0" anchor="ctr"/>
          <a:lstStyle/>
          <a:p>
            <a:pPr indent="0" marL="0">
              <a:buNone/>
            </a:pPr>
            <a:r>
              <a:rPr lang="en-US" sz="1050" dirty="0">
                <a:solidFill>
                  <a:srgbClr val="7B8794"/>
                </a:solidFill>
                <a:latin typeface="Calibri" pitchFamily="34" charset="0"/>
                <a:ea typeface="Calibri" pitchFamily="34" charset="-122"/>
                <a:cs typeface="Calibri" pitchFamily="34" charset="-120"/>
              </a:rPr>
              <a:t>authorization · dual control · audit · metrics</a:t>
            </a:r>
            <a:endParaRPr lang="en-US" sz="1050" dirty="0"/>
          </a:p>
        </p:txBody>
      </p:sp>
      <p:sp>
        <p:nvSpPr>
          <p:cNvPr id="19" name="Shape 17"/>
          <p:cNvSpPr/>
          <p:nvPr/>
        </p:nvSpPr>
        <p:spPr>
          <a:xfrm>
            <a:off x="6080760" y="4046220"/>
            <a:ext cx="0" cy="182880"/>
          </a:xfrm>
          <a:prstGeom prst="line">
            <a:avLst/>
          </a:prstGeom>
          <a:noFill/>
          <a:ln w="19050">
            <a:solidFill>
              <a:srgbClr val="2E6DA4"/>
            </a:solidFill>
            <a:prstDash val="solid"/>
            <a:tailEnd type="triangle"/>
          </a:ln>
        </p:spPr>
      </p:sp>
      <p:sp>
        <p:nvSpPr>
          <p:cNvPr id="20" name="Shape 18"/>
          <p:cNvSpPr/>
          <p:nvPr/>
        </p:nvSpPr>
        <p:spPr>
          <a:xfrm>
            <a:off x="3977640" y="4242816"/>
            <a:ext cx="4206240" cy="475488"/>
          </a:xfrm>
          <a:prstGeom prst="roundRect">
            <a:avLst>
              <a:gd name="adj" fmla="val 11538"/>
            </a:avLst>
          </a:prstGeom>
          <a:solidFill>
            <a:srgbClr val="2E6DA4"/>
          </a:solidFill>
          <a:ln w="12700">
            <a:solidFill>
              <a:srgbClr val="2E6DA4"/>
            </a:solidFill>
            <a:prstDash val="solid"/>
          </a:ln>
        </p:spPr>
      </p:sp>
      <p:sp>
        <p:nvSpPr>
          <p:cNvPr id="21" name="Text 19"/>
          <p:cNvSpPr txBox="1"/>
          <p:nvPr/>
        </p:nvSpPr>
        <p:spPr>
          <a:xfrm>
            <a:off x="3977640" y="4242816"/>
            <a:ext cx="420624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40 operation handlers</a:t>
            </a:r>
            <a:endParaRPr lang="en-US" sz="1250" dirty="0"/>
          </a:p>
        </p:txBody>
      </p:sp>
      <p:sp>
        <p:nvSpPr>
          <p:cNvPr id="22" name="Text 20"/>
          <p:cNvSpPr txBox="1"/>
          <p:nvPr/>
        </p:nvSpPr>
        <p:spPr>
          <a:xfrm>
            <a:off x="8348472" y="4315968"/>
            <a:ext cx="3246120" cy="329184"/>
          </a:xfrm>
          <a:prstGeom prst="rect">
            <a:avLst/>
          </a:prstGeom>
          <a:noFill/>
          <a:ln/>
        </p:spPr>
        <p:txBody>
          <a:bodyPr wrap="square" lIns="0" tIns="0" rIns="0" bIns="0" rtlCol="0" anchor="ctr"/>
          <a:lstStyle/>
          <a:p>
            <a:pPr indent="0" marL="0">
              <a:buNone/>
            </a:pPr>
            <a:r>
              <a:rPr lang="en-US" sz="1050" dirty="0">
                <a:solidFill>
                  <a:srgbClr val="7B8794"/>
                </a:solidFill>
                <a:latin typeface="Calibri" pitchFamily="34" charset="0"/>
                <a:ea typeface="Calibri" pitchFamily="34" charset="-122"/>
                <a:cs typeface="Calibri" pitchFamily="34" charset="-120"/>
              </a:rPr>
              <a:t>one file per KMIP operation</a:t>
            </a:r>
            <a:endParaRPr lang="en-US" sz="1050" dirty="0"/>
          </a:p>
        </p:txBody>
      </p:sp>
      <p:sp>
        <p:nvSpPr>
          <p:cNvPr id="23" name="Shape 21"/>
          <p:cNvSpPr/>
          <p:nvPr/>
        </p:nvSpPr>
        <p:spPr>
          <a:xfrm>
            <a:off x="6080760" y="4727448"/>
            <a:ext cx="0" cy="182880"/>
          </a:xfrm>
          <a:prstGeom prst="line">
            <a:avLst/>
          </a:prstGeom>
          <a:noFill/>
          <a:ln w="19050">
            <a:solidFill>
              <a:srgbClr val="2E6DA4"/>
            </a:solidFill>
            <a:prstDash val="solid"/>
            <a:tailEnd type="triangle"/>
          </a:ln>
        </p:spPr>
      </p:sp>
      <p:sp>
        <p:nvSpPr>
          <p:cNvPr id="24" name="Shape 22"/>
          <p:cNvSpPr/>
          <p:nvPr/>
        </p:nvSpPr>
        <p:spPr>
          <a:xfrm>
            <a:off x="3977640" y="4924044"/>
            <a:ext cx="4206240" cy="475488"/>
          </a:xfrm>
          <a:prstGeom prst="roundRect">
            <a:avLst>
              <a:gd name="adj" fmla="val 11538"/>
            </a:avLst>
          </a:prstGeom>
          <a:solidFill>
            <a:srgbClr val="C8952B"/>
          </a:solidFill>
          <a:ln w="12700">
            <a:solidFill>
              <a:srgbClr val="C8952B"/>
            </a:solidFill>
            <a:prstDash val="solid"/>
          </a:ln>
        </p:spPr>
      </p:sp>
      <p:sp>
        <p:nvSpPr>
          <p:cNvPr id="25" name="Text 23"/>
          <p:cNvSpPr txBox="1"/>
          <p:nvPr/>
        </p:nvSpPr>
        <p:spPr>
          <a:xfrm>
            <a:off x="3977640" y="4924044"/>
            <a:ext cx="4206240" cy="475488"/>
          </a:xfrm>
          <a:prstGeom prst="rect">
            <a:avLst/>
          </a:prstGeom>
          <a:noFill/>
          <a:ln/>
        </p:spPr>
        <p:txBody>
          <a:bodyPr wrap="square" lIns="0" tIns="0" rIns="0" bIns="0" rtlCol="0" anchor="ctr"/>
          <a:lstStyle/>
          <a:p>
            <a:pPr algn="ctr" indent="0" marL="0">
              <a:buNone/>
            </a:pPr>
            <a:r>
              <a:rPr lang="en-US" sz="1250" b="1" dirty="0">
                <a:solidFill>
                  <a:srgbClr val="102437"/>
                </a:solidFill>
                <a:latin typeface="Calibri" pitchFamily="34" charset="0"/>
                <a:ea typeface="Calibri" pitchFamily="34" charset="-122"/>
                <a:cs typeface="Calibri" pitchFamily="34" charset="-120"/>
              </a:rPr>
              <a:t>PKCS#11 shim</a:t>
            </a:r>
            <a:endParaRPr lang="en-US" sz="1250" dirty="0"/>
          </a:p>
        </p:txBody>
      </p:sp>
      <p:sp>
        <p:nvSpPr>
          <p:cNvPr id="26" name="Text 24"/>
          <p:cNvSpPr txBox="1"/>
          <p:nvPr/>
        </p:nvSpPr>
        <p:spPr>
          <a:xfrm>
            <a:off x="8348472" y="4997196"/>
            <a:ext cx="3246120" cy="329184"/>
          </a:xfrm>
          <a:prstGeom prst="rect">
            <a:avLst/>
          </a:prstGeom>
          <a:noFill/>
          <a:ln/>
        </p:spPr>
        <p:txBody>
          <a:bodyPr wrap="square" lIns="0" tIns="0" rIns="0" bIns="0" rtlCol="0" anchor="ctr"/>
          <a:lstStyle/>
          <a:p>
            <a:pPr indent="0" marL="0">
              <a:buNone/>
            </a:pPr>
            <a:r>
              <a:rPr lang="en-US" sz="1050" dirty="0">
                <a:solidFill>
                  <a:srgbClr val="7B8794"/>
                </a:solidFill>
                <a:latin typeface="Calibri" pitchFamily="34" charset="0"/>
                <a:ea typeface="Calibri" pitchFamily="34" charset="-122"/>
                <a:cs typeface="Calibri" pitchFamily="34" charset="-120"/>
              </a:rPr>
              <a:t>the only file that imports pkcs11</a:t>
            </a:r>
            <a:endParaRPr lang="en-US" sz="1050" dirty="0"/>
          </a:p>
        </p:txBody>
      </p:sp>
      <p:sp>
        <p:nvSpPr>
          <p:cNvPr id="27" name="Shape 25"/>
          <p:cNvSpPr/>
          <p:nvPr/>
        </p:nvSpPr>
        <p:spPr>
          <a:xfrm>
            <a:off x="6080760" y="5408676"/>
            <a:ext cx="0" cy="182880"/>
          </a:xfrm>
          <a:prstGeom prst="line">
            <a:avLst/>
          </a:prstGeom>
          <a:noFill/>
          <a:ln w="19050">
            <a:solidFill>
              <a:srgbClr val="2E6DA4"/>
            </a:solidFill>
            <a:prstDash val="solid"/>
            <a:tailEnd type="triangle"/>
          </a:ln>
        </p:spPr>
      </p:sp>
      <p:sp>
        <p:nvSpPr>
          <p:cNvPr id="28" name="Shape 26"/>
          <p:cNvSpPr/>
          <p:nvPr/>
        </p:nvSpPr>
        <p:spPr>
          <a:xfrm>
            <a:off x="3977640" y="5605272"/>
            <a:ext cx="4206240" cy="475488"/>
          </a:xfrm>
          <a:prstGeom prst="roundRect">
            <a:avLst>
              <a:gd name="adj" fmla="val 11538"/>
            </a:avLst>
          </a:prstGeom>
          <a:solidFill>
            <a:srgbClr val="102437"/>
          </a:solidFill>
          <a:ln w="12700">
            <a:solidFill>
              <a:srgbClr val="102437"/>
            </a:solidFill>
            <a:prstDash val="solid"/>
          </a:ln>
        </p:spPr>
      </p:sp>
      <p:sp>
        <p:nvSpPr>
          <p:cNvPr id="29" name="Text 27"/>
          <p:cNvSpPr txBox="1"/>
          <p:nvPr/>
        </p:nvSpPr>
        <p:spPr>
          <a:xfrm>
            <a:off x="3977640" y="5605272"/>
            <a:ext cx="420624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Token  ·  SoftHSM2 2.7.0</a:t>
            </a:r>
            <a:endParaRPr lang="en-US" sz="1250" dirty="0"/>
          </a:p>
        </p:txBody>
      </p:sp>
      <p:sp>
        <p:nvSpPr>
          <p:cNvPr id="30" name="Text 28"/>
          <p:cNvSpPr txBox="1"/>
          <p:nvPr/>
        </p:nvSpPr>
        <p:spPr>
          <a:xfrm>
            <a:off x="8348472" y="5678424"/>
            <a:ext cx="3246120" cy="329184"/>
          </a:xfrm>
          <a:prstGeom prst="rect">
            <a:avLst/>
          </a:prstGeom>
          <a:noFill/>
          <a:ln/>
        </p:spPr>
        <p:txBody>
          <a:bodyPr wrap="square" lIns="0" tIns="0" rIns="0" bIns="0" rtlCol="0" anchor="ctr"/>
          <a:lstStyle/>
          <a:p>
            <a:pPr indent="0" marL="0">
              <a:buNone/>
            </a:pPr>
            <a:r>
              <a:rPr lang="en-US" sz="1050" dirty="0">
                <a:solidFill>
                  <a:srgbClr val="7B8794"/>
                </a:solidFill>
                <a:latin typeface="Calibri" pitchFamily="34" charset="0"/>
                <a:ea typeface="Calibri" pitchFamily="34" charset="-122"/>
                <a:cs typeface="Calibri" pitchFamily="34" charset="-120"/>
              </a:rPr>
              <a:t>79 mechanisms · keys never leave</a:t>
            </a:r>
            <a:endParaRPr lang="en-US" sz="1050" dirty="0"/>
          </a:p>
        </p:txBody>
      </p:sp>
      <p:sp>
        <p:nvSpPr>
          <p:cNvPr id="31" name="Shape 29"/>
          <p:cNvSpPr/>
          <p:nvPr/>
        </p:nvSpPr>
        <p:spPr>
          <a:xfrm>
            <a:off x="566928" y="1517904"/>
            <a:ext cx="3200400" cy="2148840"/>
          </a:xfrm>
          <a:prstGeom prst="roundRect">
            <a:avLst>
              <a:gd name="adj" fmla="val 2553"/>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32" name="Text 30"/>
          <p:cNvSpPr txBox="1"/>
          <p:nvPr/>
        </p:nvSpPr>
        <p:spPr>
          <a:xfrm>
            <a:off x="804672" y="1719072"/>
            <a:ext cx="2724912" cy="201168"/>
          </a:xfrm>
          <a:prstGeom prst="rect">
            <a:avLst/>
          </a:prstGeom>
          <a:noFill/>
          <a:ln/>
        </p:spPr>
        <p:txBody>
          <a:bodyPr wrap="square" lIns="0" tIns="0" rIns="0" bIns="0" rtlCol="0" anchor="ctr"/>
          <a:lstStyle/>
          <a:p>
            <a:pPr indent="0" marL="0">
              <a:buNone/>
            </a:pPr>
            <a:r>
              <a:rPr lang="en-US" sz="1000" b="1" spc="160" kern="0" dirty="0">
                <a:solidFill>
                  <a:srgbClr val="2E6DA4"/>
                </a:solidFill>
                <a:latin typeface="Calibri" pitchFamily="34" charset="0"/>
                <a:ea typeface="Calibri" pitchFamily="34" charset="-122"/>
                <a:cs typeface="Calibri" pitchFamily="34" charset="-120"/>
              </a:rPr>
              <a:t>ALONGSIDE</a:t>
            </a:r>
            <a:endParaRPr lang="en-US" sz="1000" dirty="0"/>
          </a:p>
        </p:txBody>
      </p:sp>
      <p:sp>
        <p:nvSpPr>
          <p:cNvPr id="33" name="Text 31"/>
          <p:cNvSpPr txBox="1"/>
          <p:nvPr/>
        </p:nvSpPr>
        <p:spPr>
          <a:xfrm>
            <a:off x="804672" y="1993392"/>
            <a:ext cx="2724912" cy="310896"/>
          </a:xfrm>
          <a:prstGeom prst="rect">
            <a:avLst/>
          </a:prstGeom>
          <a:noFill/>
          <a:ln/>
        </p:spPr>
        <p:txBody>
          <a:bodyPr wrap="square" lIns="0" tIns="0" rIns="0" bIns="0" rtlCol="0" anchor="ctr"/>
          <a:lstStyle/>
          <a:p>
            <a:pPr indent="0" marL="0">
              <a:buNone/>
            </a:pPr>
            <a:r>
              <a:rPr lang="en-US" sz="1600" b="1" dirty="0">
                <a:solidFill>
                  <a:srgbClr val="1A3A5C"/>
                </a:solidFill>
                <a:latin typeface="Cambria" pitchFamily="34" charset="0"/>
                <a:ea typeface="Cambria" pitchFamily="34" charset="-122"/>
                <a:cs typeface="Cambria" pitchFamily="34" charset="-120"/>
              </a:rPr>
              <a:t>Metadata store</a:t>
            </a:r>
            <a:endParaRPr lang="en-US" sz="1600" dirty="0"/>
          </a:p>
        </p:txBody>
      </p:sp>
      <p:sp>
        <p:nvSpPr>
          <p:cNvPr id="34" name="Text 32"/>
          <p:cNvSpPr txBox="1"/>
          <p:nvPr/>
        </p:nvSpPr>
        <p:spPr>
          <a:xfrm>
            <a:off x="804672" y="2359152"/>
            <a:ext cx="2724912" cy="1143000"/>
          </a:xfrm>
          <a:prstGeom prst="rect">
            <a:avLst/>
          </a:prstGeom>
          <a:noFill/>
          <a:ln/>
        </p:spPr>
        <p:txBody>
          <a:bodyPr wrap="square" lIns="0" tIns="0" rIns="0" bIns="0" rtlCol="0" anchor="t"/>
          <a:lstStyle/>
          <a:p>
            <a:pPr marL="342900" indent="-342900">
              <a:lnSpc>
                <a:spcPts val="1700"/>
              </a:lnSpc>
              <a:spcAft>
                <a:spcPts val="600"/>
              </a:spcAft>
              <a:buSzPct val="100000"/>
              <a:buChar char="•"/>
            </a:pPr>
            <a:r>
              <a:rPr lang="en-US" sz="1200" dirty="0">
                <a:solidFill>
                  <a:srgbClr val="4D5A68"/>
                </a:solidFill>
                <a:latin typeface="Calibri" pitchFamily="34" charset="0"/>
                <a:ea typeface="Calibri" pitchFamily="34" charset="-122"/>
                <a:cs typeface="Calibri" pitchFamily="34" charset="-120"/>
              </a:rPr>
              <a:t>SQLite, WAL mode</a:t>
            </a:r>
            <a:endParaRPr lang="en-US" sz="1200" dirty="0"/>
          </a:p>
          <a:p>
            <a:pPr marL="342900" indent="-342900">
              <a:lnSpc>
                <a:spcPts val="1700"/>
              </a:lnSpc>
              <a:spcAft>
                <a:spcPts val="600"/>
              </a:spcAft>
              <a:buSzPct val="100000"/>
              <a:buChar char="•"/>
            </a:pPr>
            <a:r>
              <a:rPr lang="en-US" sz="1200" dirty="0">
                <a:solidFill>
                  <a:srgbClr val="4D5A68"/>
                </a:solidFill>
                <a:latin typeface="Calibri" pitchFamily="34" charset="0"/>
                <a:ea typeface="Calibri" pitchFamily="34" charset="-122"/>
                <a:cs typeface="Calibri" pitchFamily="34" charset="-120"/>
              </a:rPr>
              <a:t>KMIP attributes and state</a:t>
            </a:r>
            <a:endParaRPr lang="en-US" sz="1200" dirty="0"/>
          </a:p>
          <a:p>
            <a:pPr marL="342900" indent="-342900">
              <a:lnSpc>
                <a:spcPts val="1700"/>
              </a:lnSpc>
              <a:spcAft>
                <a:spcPts val="600"/>
              </a:spcAft>
              <a:buSzPct val="100000"/>
              <a:buChar char="•"/>
            </a:pPr>
            <a:r>
              <a:rPr lang="en-US" sz="1200" dirty="0">
                <a:solidFill>
                  <a:srgbClr val="4D5A68"/>
                </a:solidFill>
                <a:latin typeface="Calibri" pitchFamily="34" charset="0"/>
                <a:ea typeface="Calibri" pitchFamily="34" charset="-122"/>
                <a:cs typeface="Calibri" pitchFamily="34" charset="-120"/>
              </a:rPr>
              <a:t>Identities, roles, grants</a:t>
            </a:r>
            <a:endParaRPr lang="en-US" sz="1200" dirty="0"/>
          </a:p>
          <a:p>
            <a:pPr marL="342900" indent="-342900">
              <a:lnSpc>
                <a:spcPts val="1700"/>
              </a:lnSpc>
              <a:spcAft>
                <a:spcPts val="600"/>
              </a:spcAft>
              <a:buSzPct val="100000"/>
              <a:buChar char="•"/>
            </a:pPr>
            <a:r>
              <a:rPr lang="en-US" sz="1200" dirty="0">
                <a:solidFill>
                  <a:srgbClr val="4D5A68"/>
                </a:solidFill>
                <a:latin typeface="Calibri" pitchFamily="34" charset="0"/>
                <a:ea typeface="Calibri" pitchFamily="34" charset="-122"/>
                <a:cs typeface="Calibri" pitchFamily="34" charset="-120"/>
              </a:rPr>
              <a:t>Hash-chained audit log</a:t>
            </a:r>
            <a:endParaRPr lang="en-US" sz="1200" dirty="0"/>
          </a:p>
        </p:txBody>
      </p:sp>
      <p:sp>
        <p:nvSpPr>
          <p:cNvPr id="35" name="Shape 33"/>
          <p:cNvSpPr/>
          <p:nvPr/>
        </p:nvSpPr>
        <p:spPr>
          <a:xfrm>
            <a:off x="566928" y="3840480"/>
            <a:ext cx="3200400" cy="2048256"/>
          </a:xfrm>
          <a:prstGeom prst="roundRect">
            <a:avLst>
              <a:gd name="adj" fmla="val 2679"/>
            </a:avLst>
          </a:prstGeom>
          <a:solidFill>
            <a:srgbClr val="FBF3E3"/>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36" name="Text 34"/>
          <p:cNvSpPr txBox="1"/>
          <p:nvPr/>
        </p:nvSpPr>
        <p:spPr>
          <a:xfrm>
            <a:off x="804672" y="4041648"/>
            <a:ext cx="2724912" cy="201168"/>
          </a:xfrm>
          <a:prstGeom prst="rect">
            <a:avLst/>
          </a:prstGeom>
          <a:noFill/>
          <a:ln/>
        </p:spPr>
        <p:txBody>
          <a:bodyPr wrap="square" lIns="0" tIns="0" rIns="0" bIns="0" rtlCol="0" anchor="ctr"/>
          <a:lstStyle/>
          <a:p>
            <a:pPr indent="0" marL="0">
              <a:buNone/>
            </a:pPr>
            <a:r>
              <a:rPr lang="en-US" sz="1000" b="1" spc="160" kern="0" dirty="0">
                <a:solidFill>
                  <a:srgbClr val="9A6410"/>
                </a:solidFill>
                <a:latin typeface="Calibri" pitchFamily="34" charset="0"/>
                <a:ea typeface="Calibri" pitchFamily="34" charset="-122"/>
                <a:cs typeface="Calibri" pitchFamily="34" charset="-120"/>
              </a:rPr>
              <a:t>SWAP POINT</a:t>
            </a:r>
            <a:endParaRPr lang="en-US" sz="1000" dirty="0"/>
          </a:p>
        </p:txBody>
      </p:sp>
      <p:sp>
        <p:nvSpPr>
          <p:cNvPr id="37" name="Text 35"/>
          <p:cNvSpPr txBox="1"/>
          <p:nvPr/>
        </p:nvSpPr>
        <p:spPr>
          <a:xfrm>
            <a:off x="804672" y="4315968"/>
            <a:ext cx="2724912" cy="310896"/>
          </a:xfrm>
          <a:prstGeom prst="rect">
            <a:avLst/>
          </a:prstGeom>
          <a:noFill/>
          <a:ln/>
        </p:spPr>
        <p:txBody>
          <a:bodyPr wrap="square" lIns="0" tIns="0" rIns="0" bIns="0" rtlCol="0" anchor="ctr"/>
          <a:lstStyle/>
          <a:p>
            <a:pPr indent="0" marL="0">
              <a:buNone/>
            </a:pPr>
            <a:r>
              <a:rPr lang="en-US" sz="1600" b="1" dirty="0">
                <a:solidFill>
                  <a:srgbClr val="1A3A5C"/>
                </a:solidFill>
                <a:latin typeface="Cambria" pitchFamily="34" charset="0"/>
                <a:ea typeface="Cambria" pitchFamily="34" charset="-122"/>
                <a:cs typeface="Cambria" pitchFamily="34" charset="-120"/>
              </a:rPr>
              <a:t>Any PKCS#11 HSM</a:t>
            </a:r>
            <a:endParaRPr lang="en-US" sz="1600" dirty="0"/>
          </a:p>
        </p:txBody>
      </p:sp>
      <p:sp>
        <p:nvSpPr>
          <p:cNvPr id="38" name="Text 36"/>
          <p:cNvSpPr txBox="1"/>
          <p:nvPr/>
        </p:nvSpPr>
        <p:spPr>
          <a:xfrm>
            <a:off x="804672" y="4681728"/>
            <a:ext cx="2724912" cy="1042416"/>
          </a:xfrm>
          <a:prstGeom prst="rect">
            <a:avLst/>
          </a:prstGeom>
          <a:noFill/>
          <a:ln/>
        </p:spPr>
        <p:txBody>
          <a:bodyPr wrap="square" lIns="0" tIns="0" rIns="0" bIns="0" rtlCol="0" anchor="t"/>
          <a:lstStyle/>
          <a:p>
            <a:pPr indent="0" marL="0">
              <a:lnSpc>
                <a:spcPts val="1700"/>
              </a:lnSpc>
              <a:buNone/>
            </a:pPr>
            <a:r>
              <a:rPr lang="en-US" sz="1200" dirty="0">
                <a:solidFill>
                  <a:srgbClr val="4D5A68"/>
                </a:solidFill>
                <a:latin typeface="Calibri" pitchFamily="34" charset="0"/>
                <a:ea typeface="Calibri" pitchFamily="34" charset="-122"/>
                <a:cs typeface="Calibri" pitchFamily="34" charset="-120"/>
              </a:rPr>
              <a:t>One file imports the binding. Pointing it at validated hardware needs no change above the shim — the capability probe reports whatever that token supports.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27664" cy="237744"/>
          </a:xfrm>
          <a:prstGeom prst="rect">
            <a:avLst/>
          </a:prstGeom>
          <a:noFill/>
          <a:ln/>
        </p:spPr>
        <p:txBody>
          <a:bodyPr wrap="square" lIns="0" tIns="0" rIns="0" bIns="0" rtlCol="0" anchor="ctr"/>
          <a:lstStyle/>
          <a:p>
            <a:pPr indent="0" marL="0">
              <a:buNone/>
            </a:pPr>
            <a:r>
              <a:rPr lang="en-US" sz="1150" b="1" spc="220" kern="0" dirty="0">
                <a:solidFill>
                  <a:srgbClr val="C8952B"/>
                </a:solidFill>
                <a:latin typeface="Calibri" pitchFamily="34" charset="0"/>
                <a:ea typeface="Calibri" pitchFamily="34" charset="-122"/>
                <a:cs typeface="Calibri" pitchFamily="34" charset="-120"/>
              </a:rPr>
              <a:t>THE DESIGN · 2 OF 3</a:t>
            </a:r>
            <a:endParaRPr lang="en-US" sz="1150" dirty="0"/>
          </a:p>
        </p:txBody>
      </p:sp>
      <p:sp>
        <p:nvSpPr>
          <p:cNvPr id="3" name="Text 1"/>
          <p:cNvSpPr txBox="1"/>
          <p:nvPr/>
        </p:nvSpPr>
        <p:spPr>
          <a:xfrm>
            <a:off x="566928" y="621792"/>
            <a:ext cx="11027664" cy="658368"/>
          </a:xfrm>
          <a:prstGeom prst="rect">
            <a:avLst/>
          </a:prstGeom>
          <a:noFill/>
          <a:ln/>
        </p:spPr>
        <p:txBody>
          <a:bodyPr wrap="square" lIns="0" tIns="0" rIns="0" bIns="0" rtlCol="0" anchor="ctr"/>
          <a:lstStyle/>
          <a:p>
            <a:pPr indent="0" marL="0">
              <a:buNone/>
            </a:pPr>
            <a:r>
              <a:rPr lang="en-US" sz="3400" b="1" dirty="0">
                <a:solidFill>
                  <a:srgbClr val="1A3A5C"/>
                </a:solidFill>
                <a:latin typeface="Cambria" pitchFamily="34" charset="0"/>
                <a:ea typeface="Cambria" pitchFamily="34" charset="-122"/>
                <a:cs typeface="Cambria" pitchFamily="34" charset="-120"/>
              </a:rPr>
              <a:t>Two stores, one matched pair</a:t>
            </a:r>
            <a:endParaRPr lang="en-US" sz="3400" dirty="0"/>
          </a:p>
        </p:txBody>
      </p:sp>
      <p:sp>
        <p:nvSpPr>
          <p:cNvPr id="4" name="Shape 2"/>
          <p:cNvSpPr/>
          <p:nvPr/>
        </p:nvSpPr>
        <p:spPr>
          <a:xfrm>
            <a:off x="566928" y="1572768"/>
            <a:ext cx="5394960" cy="2286000"/>
          </a:xfrm>
          <a:prstGeom prst="roundRect">
            <a:avLst>
              <a:gd name="adj" fmla="val 2400"/>
            </a:avLst>
          </a:prstGeom>
          <a:solidFill>
            <a:srgbClr val="102437"/>
          </a:solidFill>
          <a:ln w="12700">
            <a:solidFill>
              <a:srgbClr val="E8EFF6"/>
            </a:solidFill>
            <a:prstDash val="solid"/>
          </a:ln>
        </p:spPr>
      </p:sp>
      <p:sp>
        <p:nvSpPr>
          <p:cNvPr id="5" name="Text 3"/>
          <p:cNvSpPr txBox="1"/>
          <p:nvPr/>
        </p:nvSpPr>
        <p:spPr>
          <a:xfrm>
            <a:off x="804672" y="1773936"/>
            <a:ext cx="4919472" cy="201168"/>
          </a:xfrm>
          <a:prstGeom prst="rect">
            <a:avLst/>
          </a:prstGeom>
          <a:noFill/>
          <a:ln/>
        </p:spPr>
        <p:txBody>
          <a:bodyPr wrap="square" lIns="0" tIns="0" rIns="0" bIns="0" rtlCol="0" anchor="ctr"/>
          <a:lstStyle/>
          <a:p>
            <a:pPr indent="0" marL="0">
              <a:buNone/>
            </a:pPr>
            <a:r>
              <a:rPr lang="en-US" sz="1000" b="1" spc="160" kern="0" dirty="0">
                <a:solidFill>
                  <a:srgbClr val="C8952B"/>
                </a:solidFill>
                <a:latin typeface="Calibri" pitchFamily="34" charset="0"/>
                <a:ea typeface="Calibri" pitchFamily="34" charset="-122"/>
                <a:cs typeface="Calibri" pitchFamily="34" charset="-120"/>
              </a:rPr>
              <a:t>IN THE TOKEN</a:t>
            </a:r>
            <a:endParaRPr lang="en-US" sz="1000" dirty="0"/>
          </a:p>
        </p:txBody>
      </p:sp>
      <p:sp>
        <p:nvSpPr>
          <p:cNvPr id="6" name="Text 4"/>
          <p:cNvSpPr txBox="1"/>
          <p:nvPr/>
        </p:nvSpPr>
        <p:spPr>
          <a:xfrm>
            <a:off x="804672" y="2048256"/>
            <a:ext cx="4919472"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Key material</a:t>
            </a:r>
            <a:endParaRPr lang="en-US" sz="1600" dirty="0"/>
          </a:p>
        </p:txBody>
      </p:sp>
      <p:sp>
        <p:nvSpPr>
          <p:cNvPr id="7" name="Text 5"/>
          <p:cNvSpPr txBox="1"/>
          <p:nvPr/>
        </p:nvSpPr>
        <p:spPr>
          <a:xfrm>
            <a:off x="804672" y="2414016"/>
            <a:ext cx="4919472" cy="1280160"/>
          </a:xfrm>
          <a:prstGeom prst="rect">
            <a:avLst/>
          </a:prstGeom>
          <a:noFill/>
          <a:ln/>
        </p:spPr>
        <p:txBody>
          <a:bodyPr wrap="square" lIns="0" tIns="0" rIns="0" bIns="0" rtlCol="0" anchor="t"/>
          <a:lstStyle/>
          <a:p>
            <a:pPr marL="342900" indent="-342900">
              <a:lnSpc>
                <a:spcPts val="1700"/>
              </a:lnSpc>
              <a:spcAft>
                <a:spcPts val="600"/>
              </a:spcAft>
              <a:buSzPct val="100000"/>
              <a:buChar char="•"/>
            </a:pPr>
            <a:r>
              <a:rPr lang="en-US" sz="1300" dirty="0">
                <a:solidFill>
                  <a:srgbClr val="AFC4D8"/>
                </a:solidFill>
                <a:latin typeface="Calibri" pitchFamily="34" charset="0"/>
                <a:ea typeface="Calibri" pitchFamily="34" charset="-122"/>
                <a:cs typeface="Calibri" pitchFamily="34" charset="-120"/>
              </a:rPr>
              <a:t>Generated inside the HSM, never leaves it</a:t>
            </a:r>
            <a:endParaRPr lang="en-US" sz="1300" dirty="0"/>
          </a:p>
          <a:p>
            <a:pPr marL="342900" indent="-342900">
              <a:lnSpc>
                <a:spcPts val="1700"/>
              </a:lnSpc>
              <a:spcAft>
                <a:spcPts val="600"/>
              </a:spcAft>
              <a:buSzPct val="100000"/>
              <a:buChar char="•"/>
            </a:pPr>
            <a:r>
              <a:rPr lang="en-US" sz="1300" dirty="0">
                <a:solidFill>
                  <a:srgbClr val="AFC4D8"/>
                </a:solidFill>
                <a:latin typeface="Calibri" pitchFamily="34" charset="0"/>
                <a:ea typeface="Calibri" pitchFamily="34" charset="-122"/>
                <a:cs typeface="Calibri" pitchFamily="34" charset="-120"/>
              </a:rPr>
              <a:t>Non-extractable; the usage mask is enforced by the token</a:t>
            </a:r>
            <a:endParaRPr lang="en-US" sz="1300" dirty="0"/>
          </a:p>
          <a:p>
            <a:pPr marL="342900" indent="-342900">
              <a:lnSpc>
                <a:spcPts val="1700"/>
              </a:lnSpc>
              <a:spcAft>
                <a:spcPts val="600"/>
              </a:spcAft>
              <a:buSzPct val="100000"/>
              <a:buChar char="•"/>
            </a:pPr>
            <a:r>
              <a:rPr lang="en-US" sz="1300" dirty="0">
                <a:solidFill>
                  <a:srgbClr val="AFC4D8"/>
                </a:solidFill>
                <a:latin typeface="Calibri" pitchFamily="34" charset="0"/>
                <a:ea typeface="Calibri" pitchFamily="34" charset="-122"/>
                <a:cs typeface="Calibri" pitchFamily="34" charset="-120"/>
              </a:rPr>
              <a:t>Referenced from the database only by CKA_ID</a:t>
            </a:r>
            <a:endParaRPr lang="en-US" sz="1300" dirty="0"/>
          </a:p>
        </p:txBody>
      </p:sp>
      <p:sp>
        <p:nvSpPr>
          <p:cNvPr id="8" name="Shape 6"/>
          <p:cNvSpPr/>
          <p:nvPr/>
        </p:nvSpPr>
        <p:spPr>
          <a:xfrm>
            <a:off x="6236208" y="1572768"/>
            <a:ext cx="5394960" cy="2286000"/>
          </a:xfrm>
          <a:prstGeom prst="roundRect">
            <a:avLst>
              <a:gd name="adj" fmla="val 2400"/>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9" name="Text 7"/>
          <p:cNvSpPr txBox="1"/>
          <p:nvPr/>
        </p:nvSpPr>
        <p:spPr>
          <a:xfrm>
            <a:off x="6473952" y="1773936"/>
            <a:ext cx="4919472" cy="201168"/>
          </a:xfrm>
          <a:prstGeom prst="rect">
            <a:avLst/>
          </a:prstGeom>
          <a:noFill/>
          <a:ln/>
        </p:spPr>
        <p:txBody>
          <a:bodyPr wrap="square" lIns="0" tIns="0" rIns="0" bIns="0" rtlCol="0" anchor="ctr"/>
          <a:lstStyle/>
          <a:p>
            <a:pPr indent="0" marL="0">
              <a:buNone/>
            </a:pPr>
            <a:r>
              <a:rPr lang="en-US" sz="1000" b="1" spc="160" kern="0" dirty="0">
                <a:solidFill>
                  <a:srgbClr val="2E6DA4"/>
                </a:solidFill>
                <a:latin typeface="Calibri" pitchFamily="34" charset="0"/>
                <a:ea typeface="Calibri" pitchFamily="34" charset="-122"/>
                <a:cs typeface="Calibri" pitchFamily="34" charset="-120"/>
              </a:rPr>
              <a:t>IN THE DATABASE</a:t>
            </a:r>
            <a:endParaRPr lang="en-US" sz="1000" dirty="0"/>
          </a:p>
        </p:txBody>
      </p:sp>
      <p:sp>
        <p:nvSpPr>
          <p:cNvPr id="10" name="Text 8"/>
          <p:cNvSpPr txBox="1"/>
          <p:nvPr/>
        </p:nvSpPr>
        <p:spPr>
          <a:xfrm>
            <a:off x="6473952" y="2048256"/>
            <a:ext cx="4919472" cy="457200"/>
          </a:xfrm>
          <a:prstGeom prst="rect">
            <a:avLst/>
          </a:prstGeom>
          <a:noFill/>
          <a:ln/>
        </p:spPr>
        <p:txBody>
          <a:bodyPr wrap="square" lIns="0" tIns="0" rIns="0" bIns="0" rtlCol="0" anchor="ctr"/>
          <a:lstStyle/>
          <a:p>
            <a:pPr indent="0" marL="0">
              <a:buNone/>
            </a:pPr>
            <a:r>
              <a:rPr lang="en-US" sz="1500" b="1" dirty="0">
                <a:solidFill>
                  <a:srgbClr val="1A3A5C"/>
                </a:solidFill>
                <a:latin typeface="Cambria" pitchFamily="34" charset="0"/>
                <a:ea typeface="Cambria" pitchFamily="34" charset="-122"/>
                <a:cs typeface="Cambria" pitchFamily="34" charset="-120"/>
              </a:rPr>
              <a:t>Everything KMIP needs that PKCS#11 has no room for</a:t>
            </a:r>
            <a:endParaRPr lang="en-US" sz="1500" dirty="0"/>
          </a:p>
        </p:txBody>
      </p:sp>
      <p:sp>
        <p:nvSpPr>
          <p:cNvPr id="11" name="Text 9"/>
          <p:cNvSpPr txBox="1"/>
          <p:nvPr/>
        </p:nvSpPr>
        <p:spPr>
          <a:xfrm>
            <a:off x="6473952" y="2560320"/>
            <a:ext cx="4919472" cy="1133856"/>
          </a:xfrm>
          <a:prstGeom prst="rect">
            <a:avLst/>
          </a:prstGeom>
          <a:noFill/>
          <a:ln/>
        </p:spPr>
        <p:txBody>
          <a:bodyPr wrap="square" lIns="0" tIns="0" rIns="0" bIns="0" rtlCol="0" anchor="t"/>
          <a:lstStyle/>
          <a:p>
            <a:pPr marL="342900" indent="-342900">
              <a:lnSpc>
                <a:spcPts val="1700"/>
              </a:lnSpc>
              <a:spcAft>
                <a:spcPts val="600"/>
              </a:spcAft>
              <a:buSzPct val="100000"/>
              <a:buChar char="•"/>
            </a:pPr>
            <a:r>
              <a:rPr lang="en-US" sz="1300" dirty="0">
                <a:solidFill>
                  <a:srgbClr val="4D5A68"/>
                </a:solidFill>
                <a:latin typeface="Calibri" pitchFamily="34" charset="0"/>
                <a:ea typeface="Calibri" pitchFamily="34" charset="-122"/>
                <a:cs typeface="Calibri" pitchFamily="34" charset="-120"/>
              </a:rPr>
              <a:t>Attributes, state, dates, names, links</a:t>
            </a:r>
            <a:endParaRPr lang="en-US" sz="1300" dirty="0"/>
          </a:p>
          <a:p>
            <a:pPr marL="342900" indent="-342900">
              <a:lnSpc>
                <a:spcPts val="1700"/>
              </a:lnSpc>
              <a:spcAft>
                <a:spcPts val="600"/>
              </a:spcAft>
              <a:buSzPct val="100000"/>
              <a:buChar char="•"/>
            </a:pPr>
            <a:r>
              <a:rPr lang="en-US" sz="1300" dirty="0">
                <a:solidFill>
                  <a:srgbClr val="4D5A68"/>
                </a:solidFill>
                <a:latin typeface="Calibri" pitchFamily="34" charset="0"/>
                <a:ea typeface="Calibri" pitchFamily="34" charset="-122"/>
                <a:cs typeface="Calibri" pitchFamily="34" charset="-120"/>
              </a:rPr>
              <a:t>Owner, grants, groups, role allowlists, approvals</a:t>
            </a:r>
            <a:endParaRPr lang="en-US" sz="1300" dirty="0"/>
          </a:p>
          <a:p>
            <a:pPr marL="342900" indent="-342900">
              <a:lnSpc>
                <a:spcPts val="1700"/>
              </a:lnSpc>
              <a:spcAft>
                <a:spcPts val="600"/>
              </a:spcAft>
              <a:buSzPct val="100000"/>
              <a:buChar char="•"/>
            </a:pPr>
            <a:r>
              <a:rPr lang="en-US" sz="1300" dirty="0">
                <a:solidFill>
                  <a:srgbClr val="4D5A68"/>
                </a:solidFill>
                <a:latin typeface="Calibri" pitchFamily="34" charset="0"/>
                <a:ea typeface="Calibri" pitchFamily="34" charset="-122"/>
                <a:cs typeface="Calibri" pitchFamily="34" charset="-120"/>
              </a:rPr>
              <a:t>The tamper-evident audit chain</a:t>
            </a:r>
            <a:endParaRPr lang="en-US" sz="1300" dirty="0"/>
          </a:p>
        </p:txBody>
      </p:sp>
      <p:sp>
        <p:nvSpPr>
          <p:cNvPr id="12" name="Shape 10"/>
          <p:cNvSpPr/>
          <p:nvPr/>
        </p:nvSpPr>
        <p:spPr>
          <a:xfrm>
            <a:off x="566928" y="4059936"/>
            <a:ext cx="6858000" cy="1993392"/>
          </a:xfrm>
          <a:prstGeom prst="roundRect">
            <a:avLst>
              <a:gd name="adj" fmla="val 2752"/>
            </a:avLst>
          </a:prstGeom>
          <a:solidFill>
            <a:srgbClr val="FBF3E3"/>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13" name="Text 11"/>
          <p:cNvSpPr txBox="1"/>
          <p:nvPr/>
        </p:nvSpPr>
        <p:spPr>
          <a:xfrm>
            <a:off x="804672" y="4261104"/>
            <a:ext cx="6382512" cy="201168"/>
          </a:xfrm>
          <a:prstGeom prst="rect">
            <a:avLst/>
          </a:prstGeom>
          <a:noFill/>
          <a:ln/>
        </p:spPr>
        <p:txBody>
          <a:bodyPr wrap="square" lIns="0" tIns="0" rIns="0" bIns="0" rtlCol="0" anchor="ctr"/>
          <a:lstStyle/>
          <a:p>
            <a:pPr indent="0" marL="0">
              <a:buNone/>
            </a:pPr>
            <a:r>
              <a:rPr lang="en-US" sz="1000" b="1" spc="160" kern="0" dirty="0">
                <a:solidFill>
                  <a:srgbClr val="9A6410"/>
                </a:solidFill>
                <a:latin typeface="Calibri" pitchFamily="34" charset="0"/>
                <a:ea typeface="Calibri" pitchFamily="34" charset="-122"/>
                <a:cs typeface="Calibri" pitchFamily="34" charset="-120"/>
              </a:rPr>
              <a:t>THE EXCEPTION</a:t>
            </a:r>
            <a:endParaRPr lang="en-US" sz="1000" dirty="0"/>
          </a:p>
        </p:txBody>
      </p:sp>
      <p:sp>
        <p:nvSpPr>
          <p:cNvPr id="14" name="Text 12"/>
          <p:cNvSpPr txBox="1"/>
          <p:nvPr/>
        </p:nvSpPr>
        <p:spPr>
          <a:xfrm>
            <a:off x="804672" y="4535424"/>
            <a:ext cx="6382512" cy="310896"/>
          </a:xfrm>
          <a:prstGeom prst="rect">
            <a:avLst/>
          </a:prstGeom>
          <a:noFill/>
          <a:ln/>
        </p:spPr>
        <p:txBody>
          <a:bodyPr wrap="square" lIns="0" tIns="0" rIns="0" bIns="0" rtlCol="0" anchor="ctr"/>
          <a:lstStyle/>
          <a:p>
            <a:pPr indent="0" marL="0">
              <a:buNone/>
            </a:pPr>
            <a:r>
              <a:rPr lang="en-US" sz="1600" b="1" dirty="0">
                <a:solidFill>
                  <a:srgbClr val="1A3A5C"/>
                </a:solidFill>
                <a:latin typeface="Cambria" pitchFamily="34" charset="0"/>
                <a:ea typeface="Cambria" pitchFamily="34" charset="-122"/>
                <a:cs typeface="Cambria" pitchFamily="34" charset="-120"/>
              </a:rPr>
              <a:t>Objects with no PKCS#11 representation</a:t>
            </a:r>
            <a:endParaRPr lang="en-US" sz="1600" dirty="0"/>
          </a:p>
        </p:txBody>
      </p:sp>
      <p:sp>
        <p:nvSpPr>
          <p:cNvPr id="15" name="Text 13"/>
          <p:cNvSpPr txBox="1"/>
          <p:nvPr/>
        </p:nvSpPr>
        <p:spPr>
          <a:xfrm>
            <a:off x="804672" y="4901184"/>
            <a:ext cx="6382512" cy="987552"/>
          </a:xfrm>
          <a:prstGeom prst="rect">
            <a:avLst/>
          </a:prstGeom>
          <a:noFill/>
          <a:ln/>
        </p:spPr>
        <p:txBody>
          <a:bodyPr wrap="square" lIns="0" tIns="0" rIns="0" bIns="0" rtlCol="0" anchor="t"/>
          <a:lstStyle/>
          <a:p>
            <a:pPr indent="0" marL="0">
              <a:lnSpc>
                <a:spcPts val="1700"/>
              </a:lnSpc>
              <a:buNone/>
            </a:pPr>
            <a:r>
              <a:rPr lang="en-US" sz="1300" dirty="0">
                <a:solidFill>
                  <a:srgbClr val="4D5A68"/>
                </a:solidFill>
                <a:latin typeface="Calibri" pitchFamily="34" charset="0"/>
                <a:ea typeface="Calibri" pitchFamily="34" charset="-122"/>
                <a:cs typeface="Calibri" pitchFamily="34" charset="-120"/>
              </a:rPr>
              <a:t>SecretData, OpaqueObject and SplitKey shares have no token object behind them, so their bytes would sit in the database in the clear. They are sealed with AES-256-GCM under a master key that is generated on, and never leaves, the HSM.</a:t>
            </a:r>
            <a:endParaRPr lang="en-US" sz="1300" dirty="0"/>
          </a:p>
        </p:txBody>
      </p:sp>
      <p:sp>
        <p:nvSpPr>
          <p:cNvPr id="16" name="Shape 14"/>
          <p:cNvSpPr/>
          <p:nvPr/>
        </p:nvSpPr>
        <p:spPr>
          <a:xfrm>
            <a:off x="7699248" y="4059936"/>
            <a:ext cx="3931920" cy="1993392"/>
          </a:xfrm>
          <a:prstGeom prst="roundRect">
            <a:avLst>
              <a:gd name="adj" fmla="val 2752"/>
            </a:avLst>
          </a:prstGeom>
          <a:solidFill>
            <a:srgbClr val="1A3A5C"/>
          </a:solidFill>
          <a:ln w="12700">
            <a:solidFill>
              <a:srgbClr val="E8EFF6"/>
            </a:solidFill>
            <a:prstDash val="solid"/>
          </a:ln>
        </p:spPr>
      </p:sp>
      <p:sp>
        <p:nvSpPr>
          <p:cNvPr id="17" name="Text 15"/>
          <p:cNvSpPr txBox="1"/>
          <p:nvPr/>
        </p:nvSpPr>
        <p:spPr>
          <a:xfrm>
            <a:off x="7936992" y="4261104"/>
            <a:ext cx="3456432"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Back them up together</a:t>
            </a:r>
            <a:endParaRPr lang="en-US" sz="1600" dirty="0"/>
          </a:p>
        </p:txBody>
      </p:sp>
      <p:sp>
        <p:nvSpPr>
          <p:cNvPr id="18" name="Text 16"/>
          <p:cNvSpPr txBox="1"/>
          <p:nvPr/>
        </p:nvSpPr>
        <p:spPr>
          <a:xfrm>
            <a:off x="7936992" y="4626864"/>
            <a:ext cx="3456432" cy="1261872"/>
          </a:xfrm>
          <a:prstGeom prst="rect">
            <a:avLst/>
          </a:prstGeom>
          <a:noFill/>
          <a:ln/>
        </p:spPr>
        <p:txBody>
          <a:bodyPr wrap="square" lIns="0" tIns="0" rIns="0" bIns="0" rtlCol="0" anchor="t"/>
          <a:lstStyle/>
          <a:p>
            <a:pPr indent="0" marL="0">
              <a:lnSpc>
                <a:spcPts val="1700"/>
              </a:lnSpc>
              <a:buNone/>
            </a:pPr>
            <a:r>
              <a:rPr lang="en-US" sz="1300" dirty="0">
                <a:solidFill>
                  <a:srgbClr val="C9DAEA"/>
                </a:solidFill>
                <a:latin typeface="Calibri" pitchFamily="34" charset="0"/>
                <a:ea typeface="Calibri" pitchFamily="34" charset="-122"/>
                <a:cs typeface="Calibri" pitchFamily="34" charset="-120"/>
              </a:rPr>
              <a:t>A database restored beside a different token is not a degraded backup. It is unreadable.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27664" cy="237744"/>
          </a:xfrm>
          <a:prstGeom prst="rect">
            <a:avLst/>
          </a:prstGeom>
          <a:noFill/>
          <a:ln/>
        </p:spPr>
        <p:txBody>
          <a:bodyPr wrap="square" lIns="0" tIns="0" rIns="0" bIns="0" rtlCol="0" anchor="ctr"/>
          <a:lstStyle/>
          <a:p>
            <a:pPr indent="0" marL="0">
              <a:buNone/>
            </a:pPr>
            <a:r>
              <a:rPr lang="en-US" sz="1150" b="1" spc="220" kern="0" dirty="0">
                <a:solidFill>
                  <a:srgbClr val="C8952B"/>
                </a:solidFill>
                <a:latin typeface="Calibri" pitchFamily="34" charset="0"/>
                <a:ea typeface="Calibri" pitchFamily="34" charset="-122"/>
                <a:cs typeface="Calibri" pitchFamily="34" charset="-120"/>
              </a:rPr>
              <a:t>THE DESIGN · 3 OF 3</a:t>
            </a:r>
            <a:endParaRPr lang="en-US" sz="1150" dirty="0"/>
          </a:p>
        </p:txBody>
      </p:sp>
      <p:sp>
        <p:nvSpPr>
          <p:cNvPr id="3" name="Text 1"/>
          <p:cNvSpPr txBox="1"/>
          <p:nvPr/>
        </p:nvSpPr>
        <p:spPr>
          <a:xfrm>
            <a:off x="566928" y="621792"/>
            <a:ext cx="11027664" cy="658368"/>
          </a:xfrm>
          <a:prstGeom prst="rect">
            <a:avLst/>
          </a:prstGeom>
          <a:noFill/>
          <a:ln/>
        </p:spPr>
        <p:txBody>
          <a:bodyPr wrap="square" lIns="0" tIns="0" rIns="0" bIns="0" rtlCol="0" anchor="ctr"/>
          <a:lstStyle/>
          <a:p>
            <a:pPr indent="0" marL="0">
              <a:buNone/>
            </a:pPr>
            <a:r>
              <a:rPr lang="en-US" sz="3400" b="1" dirty="0">
                <a:solidFill>
                  <a:srgbClr val="1A3A5C"/>
                </a:solidFill>
                <a:latin typeface="Cambria" pitchFamily="34" charset="0"/>
                <a:ea typeface="Cambria" pitchFamily="34" charset="-122"/>
                <a:cs typeface="Cambria" pitchFamily="34" charset="-120"/>
              </a:rPr>
              <a:t>Where authorization, approval and audit live</a:t>
            </a:r>
            <a:endParaRPr lang="en-US" sz="3400" dirty="0"/>
          </a:p>
        </p:txBody>
      </p:sp>
      <p:sp>
        <p:nvSpPr>
          <p:cNvPr id="4" name="Shape 2"/>
          <p:cNvSpPr/>
          <p:nvPr/>
        </p:nvSpPr>
        <p:spPr>
          <a:xfrm>
            <a:off x="566928" y="1591056"/>
            <a:ext cx="1975104" cy="603504"/>
          </a:xfrm>
          <a:prstGeom prst="roundRect">
            <a:avLst>
              <a:gd name="adj" fmla="val 9091"/>
            </a:avLst>
          </a:prstGeom>
          <a:solidFill>
            <a:srgbClr val="6B8299"/>
          </a:solidFill>
          <a:ln w="12700">
            <a:solidFill>
              <a:srgbClr val="6B8299"/>
            </a:solidFill>
            <a:prstDash val="solid"/>
          </a:ln>
        </p:spPr>
      </p:sp>
      <p:sp>
        <p:nvSpPr>
          <p:cNvPr id="5" name="Text 3"/>
          <p:cNvSpPr txBox="1"/>
          <p:nvPr/>
        </p:nvSpPr>
        <p:spPr>
          <a:xfrm>
            <a:off x="566928" y="1591056"/>
            <a:ext cx="1975104"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Request</a:t>
            </a:r>
            <a:endParaRPr lang="en-US" sz="1200" dirty="0"/>
          </a:p>
        </p:txBody>
      </p:sp>
      <p:sp>
        <p:nvSpPr>
          <p:cNvPr id="6" name="Shape 4"/>
          <p:cNvSpPr/>
          <p:nvPr/>
        </p:nvSpPr>
        <p:spPr>
          <a:xfrm>
            <a:off x="2560320" y="1892808"/>
            <a:ext cx="246888" cy="0"/>
          </a:xfrm>
          <a:prstGeom prst="line">
            <a:avLst/>
          </a:prstGeom>
          <a:noFill/>
          <a:ln w="19050">
            <a:solidFill>
              <a:srgbClr val="2E6DA4"/>
            </a:solidFill>
            <a:prstDash val="solid"/>
            <a:tailEnd type="triangle"/>
          </a:ln>
        </p:spPr>
      </p:sp>
      <p:sp>
        <p:nvSpPr>
          <p:cNvPr id="7" name="Shape 5"/>
          <p:cNvSpPr/>
          <p:nvPr/>
        </p:nvSpPr>
        <p:spPr>
          <a:xfrm>
            <a:off x="2825496" y="1591056"/>
            <a:ext cx="1975104" cy="603504"/>
          </a:xfrm>
          <a:prstGeom prst="roundRect">
            <a:avLst>
              <a:gd name="adj" fmla="val 9091"/>
            </a:avLst>
          </a:prstGeom>
          <a:solidFill>
            <a:srgbClr val="2E6DA4"/>
          </a:solidFill>
          <a:ln w="12700">
            <a:solidFill>
              <a:srgbClr val="2E6DA4"/>
            </a:solidFill>
            <a:prstDash val="solid"/>
          </a:ln>
        </p:spPr>
      </p:sp>
      <p:sp>
        <p:nvSpPr>
          <p:cNvPr id="8" name="Text 6"/>
          <p:cNvSpPr txBox="1"/>
          <p:nvPr/>
        </p:nvSpPr>
        <p:spPr>
          <a:xfrm>
            <a:off x="2825496" y="1591056"/>
            <a:ext cx="1975104"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Role allowlist</a:t>
            </a:r>
            <a:endParaRPr lang="en-US" sz="1200" dirty="0"/>
          </a:p>
        </p:txBody>
      </p:sp>
      <p:sp>
        <p:nvSpPr>
          <p:cNvPr id="9" name="Shape 7"/>
          <p:cNvSpPr/>
          <p:nvPr/>
        </p:nvSpPr>
        <p:spPr>
          <a:xfrm>
            <a:off x="4818888" y="1892808"/>
            <a:ext cx="246888" cy="0"/>
          </a:xfrm>
          <a:prstGeom prst="line">
            <a:avLst/>
          </a:prstGeom>
          <a:noFill/>
          <a:ln w="19050">
            <a:solidFill>
              <a:srgbClr val="2E6DA4"/>
            </a:solidFill>
            <a:prstDash val="solid"/>
            <a:tailEnd type="triangle"/>
          </a:ln>
        </p:spPr>
      </p:sp>
      <p:sp>
        <p:nvSpPr>
          <p:cNvPr id="10" name="Shape 8"/>
          <p:cNvSpPr/>
          <p:nvPr/>
        </p:nvSpPr>
        <p:spPr>
          <a:xfrm>
            <a:off x="5084064" y="1591056"/>
            <a:ext cx="1975104" cy="603504"/>
          </a:xfrm>
          <a:prstGeom prst="roundRect">
            <a:avLst>
              <a:gd name="adj" fmla="val 9091"/>
            </a:avLst>
          </a:prstGeom>
          <a:solidFill>
            <a:srgbClr val="C8952B"/>
          </a:solidFill>
          <a:ln w="12700">
            <a:solidFill>
              <a:srgbClr val="C8952B"/>
            </a:solidFill>
            <a:prstDash val="solid"/>
          </a:ln>
        </p:spPr>
      </p:sp>
      <p:sp>
        <p:nvSpPr>
          <p:cNvPr id="11" name="Text 9"/>
          <p:cNvSpPr txBox="1"/>
          <p:nvPr/>
        </p:nvSpPr>
        <p:spPr>
          <a:xfrm>
            <a:off x="5084064" y="1591056"/>
            <a:ext cx="1975104" cy="603504"/>
          </a:xfrm>
          <a:prstGeom prst="rect">
            <a:avLst/>
          </a:prstGeom>
          <a:noFill/>
          <a:ln/>
        </p:spPr>
        <p:txBody>
          <a:bodyPr wrap="square" lIns="0" tIns="0" rIns="0" bIns="0" rtlCol="0" anchor="ctr"/>
          <a:lstStyle/>
          <a:p>
            <a:pPr algn="ctr" indent="0" marL="0">
              <a:buNone/>
            </a:pPr>
            <a:r>
              <a:rPr lang="en-US" sz="1200" b="1" dirty="0">
                <a:solidFill>
                  <a:srgbClr val="102437"/>
                </a:solidFill>
                <a:latin typeface="Calibri" pitchFamily="34" charset="0"/>
                <a:ea typeface="Calibri" pitchFamily="34" charset="-122"/>
                <a:cs typeface="Calibri" pitchFamily="34" charset="-120"/>
              </a:rPr>
              <a:t>Dual control</a:t>
            </a:r>
            <a:endParaRPr lang="en-US" sz="1200" dirty="0"/>
          </a:p>
        </p:txBody>
      </p:sp>
      <p:sp>
        <p:nvSpPr>
          <p:cNvPr id="12" name="Shape 10"/>
          <p:cNvSpPr/>
          <p:nvPr/>
        </p:nvSpPr>
        <p:spPr>
          <a:xfrm>
            <a:off x="7077456" y="1892808"/>
            <a:ext cx="246888" cy="0"/>
          </a:xfrm>
          <a:prstGeom prst="line">
            <a:avLst/>
          </a:prstGeom>
          <a:noFill/>
          <a:ln w="19050">
            <a:solidFill>
              <a:srgbClr val="2E6DA4"/>
            </a:solidFill>
            <a:prstDash val="solid"/>
            <a:tailEnd type="triangle"/>
          </a:ln>
        </p:spPr>
      </p:sp>
      <p:sp>
        <p:nvSpPr>
          <p:cNvPr id="13" name="Shape 11"/>
          <p:cNvSpPr/>
          <p:nvPr/>
        </p:nvSpPr>
        <p:spPr>
          <a:xfrm>
            <a:off x="7342632" y="1591056"/>
            <a:ext cx="1975104" cy="603504"/>
          </a:xfrm>
          <a:prstGeom prst="roundRect">
            <a:avLst>
              <a:gd name="adj" fmla="val 9091"/>
            </a:avLst>
          </a:prstGeom>
          <a:solidFill>
            <a:srgbClr val="1A3A5C"/>
          </a:solidFill>
          <a:ln w="12700">
            <a:solidFill>
              <a:srgbClr val="1A3A5C"/>
            </a:solidFill>
            <a:prstDash val="solid"/>
          </a:ln>
        </p:spPr>
      </p:sp>
      <p:sp>
        <p:nvSpPr>
          <p:cNvPr id="14" name="Text 12"/>
          <p:cNvSpPr txBox="1"/>
          <p:nvPr/>
        </p:nvSpPr>
        <p:spPr>
          <a:xfrm>
            <a:off x="7342632" y="1591056"/>
            <a:ext cx="1975104"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Handler</a:t>
            </a:r>
            <a:endParaRPr lang="en-US" sz="1200" dirty="0"/>
          </a:p>
        </p:txBody>
      </p:sp>
      <p:sp>
        <p:nvSpPr>
          <p:cNvPr id="15" name="Shape 13"/>
          <p:cNvSpPr/>
          <p:nvPr/>
        </p:nvSpPr>
        <p:spPr>
          <a:xfrm>
            <a:off x="9336024" y="1892808"/>
            <a:ext cx="246888" cy="0"/>
          </a:xfrm>
          <a:prstGeom prst="line">
            <a:avLst/>
          </a:prstGeom>
          <a:noFill/>
          <a:ln w="19050">
            <a:solidFill>
              <a:srgbClr val="2E6DA4"/>
            </a:solidFill>
            <a:prstDash val="solid"/>
            <a:tailEnd type="triangle"/>
          </a:ln>
        </p:spPr>
      </p:sp>
      <p:sp>
        <p:nvSpPr>
          <p:cNvPr id="16" name="Shape 14"/>
          <p:cNvSpPr/>
          <p:nvPr/>
        </p:nvSpPr>
        <p:spPr>
          <a:xfrm>
            <a:off x="9601200" y="1591056"/>
            <a:ext cx="1975104" cy="603504"/>
          </a:xfrm>
          <a:prstGeom prst="roundRect">
            <a:avLst>
              <a:gd name="adj" fmla="val 9091"/>
            </a:avLst>
          </a:prstGeom>
          <a:solidFill>
            <a:srgbClr val="3B4A58"/>
          </a:solidFill>
          <a:ln w="12700">
            <a:solidFill>
              <a:srgbClr val="3B4A58"/>
            </a:solidFill>
            <a:prstDash val="solid"/>
          </a:ln>
        </p:spPr>
      </p:sp>
      <p:sp>
        <p:nvSpPr>
          <p:cNvPr id="17" name="Text 15"/>
          <p:cNvSpPr txBox="1"/>
          <p:nvPr/>
        </p:nvSpPr>
        <p:spPr>
          <a:xfrm>
            <a:off x="9601200" y="1591056"/>
            <a:ext cx="1975104"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Audit + metrics</a:t>
            </a:r>
            <a:endParaRPr lang="en-US" sz="1200" dirty="0"/>
          </a:p>
        </p:txBody>
      </p:sp>
      <p:sp>
        <p:nvSpPr>
          <p:cNvPr id="18" name="Text 16"/>
          <p:cNvSpPr txBox="1"/>
          <p:nvPr/>
        </p:nvSpPr>
        <p:spPr>
          <a:xfrm>
            <a:off x="566928" y="2304288"/>
            <a:ext cx="11027664" cy="292608"/>
          </a:xfrm>
          <a:prstGeom prst="rect">
            <a:avLst/>
          </a:prstGeom>
          <a:noFill/>
          <a:ln/>
        </p:spPr>
        <p:txBody>
          <a:bodyPr wrap="square" lIns="0" tIns="0" rIns="0" bIns="0" rtlCol="0" anchor="ctr"/>
          <a:lstStyle/>
          <a:p>
            <a:pPr indent="0" marL="0">
              <a:buNone/>
            </a:pPr>
            <a:r>
              <a:rPr lang="en-US" sz="1300" i="1" dirty="0">
                <a:solidFill>
                  <a:srgbClr val="1A3A5C"/>
                </a:solidFill>
                <a:latin typeface="Calibri" pitchFamily="34" charset="0"/>
                <a:ea typeface="Calibri" pitchFamily="34" charset="-122"/>
                <a:cs typeface="Calibri" pitchFamily="34" charset="-120"/>
              </a:rPr>
              <a:t>The dispatcher wraps every one of the 41 operations in this pipeline.</a:t>
            </a:r>
            <a:endParaRPr lang="en-US" sz="1300" dirty="0"/>
          </a:p>
        </p:txBody>
      </p:sp>
      <p:sp>
        <p:nvSpPr>
          <p:cNvPr id="19" name="Shape 17"/>
          <p:cNvSpPr/>
          <p:nvPr/>
        </p:nvSpPr>
        <p:spPr>
          <a:xfrm>
            <a:off x="566928" y="2761488"/>
            <a:ext cx="3520440" cy="3017520"/>
          </a:xfrm>
          <a:prstGeom prst="roundRect">
            <a:avLst>
              <a:gd name="adj" fmla="val 1818"/>
            </a:avLst>
          </a:prstGeom>
          <a:solidFill>
            <a:srgbClr val="F7E9E8"/>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20" name="Text 18"/>
          <p:cNvSpPr txBox="1"/>
          <p:nvPr/>
        </p:nvSpPr>
        <p:spPr>
          <a:xfrm>
            <a:off x="804672" y="2962656"/>
            <a:ext cx="3044952" cy="201168"/>
          </a:xfrm>
          <a:prstGeom prst="rect">
            <a:avLst/>
          </a:prstGeom>
          <a:noFill/>
          <a:ln/>
        </p:spPr>
        <p:txBody>
          <a:bodyPr wrap="square" lIns="0" tIns="0" rIns="0" bIns="0" rtlCol="0" anchor="ctr"/>
          <a:lstStyle/>
          <a:p>
            <a:pPr indent="0" marL="0">
              <a:buNone/>
            </a:pPr>
            <a:r>
              <a:rPr lang="en-US" sz="1000" b="1" spc="160" kern="0" dirty="0">
                <a:solidFill>
                  <a:srgbClr val="B3261E"/>
                </a:solidFill>
                <a:latin typeface="Calibri" pitchFamily="34" charset="0"/>
                <a:ea typeface="Calibri" pitchFamily="34" charset="-122"/>
                <a:cs typeface="Calibri" pitchFamily="34" charset="-120"/>
              </a:rPr>
              <a:t>THE HAZARD</a:t>
            </a:r>
            <a:endParaRPr lang="en-US" sz="1000" dirty="0"/>
          </a:p>
        </p:txBody>
      </p:sp>
      <p:sp>
        <p:nvSpPr>
          <p:cNvPr id="21" name="Text 19"/>
          <p:cNvSpPr txBox="1"/>
          <p:nvPr/>
        </p:nvSpPr>
        <p:spPr>
          <a:xfrm>
            <a:off x="804672" y="3236976"/>
            <a:ext cx="3044952" cy="310896"/>
          </a:xfrm>
          <a:prstGeom prst="rect">
            <a:avLst/>
          </a:prstGeom>
          <a:noFill/>
          <a:ln/>
        </p:spPr>
        <p:txBody>
          <a:bodyPr wrap="square" lIns="0" tIns="0" rIns="0" bIns="0" rtlCol="0" anchor="ctr"/>
          <a:lstStyle/>
          <a:p>
            <a:pPr indent="0" marL="0">
              <a:buNone/>
            </a:pPr>
            <a:r>
              <a:rPr lang="en-US" sz="1600" b="1" dirty="0">
                <a:solidFill>
                  <a:srgbClr val="1A3A5C"/>
                </a:solidFill>
                <a:latin typeface="Cambria" pitchFamily="34" charset="0"/>
                <a:ea typeface="Cambria" pitchFamily="34" charset="-122"/>
                <a:cs typeface="Cambria" pitchFamily="34" charset="-120"/>
              </a:rPr>
              <a:t>Bypass</a:t>
            </a:r>
            <a:endParaRPr lang="en-US" sz="1600" dirty="0"/>
          </a:p>
        </p:txBody>
      </p:sp>
      <p:sp>
        <p:nvSpPr>
          <p:cNvPr id="22" name="Text 20"/>
          <p:cNvSpPr txBox="1"/>
          <p:nvPr/>
        </p:nvSpPr>
        <p:spPr>
          <a:xfrm>
            <a:off x="804672" y="3602736"/>
            <a:ext cx="3044952" cy="2011680"/>
          </a:xfrm>
          <a:prstGeom prst="rect">
            <a:avLst/>
          </a:prstGeom>
          <a:noFill/>
          <a:ln/>
        </p:spPr>
        <p:txBody>
          <a:bodyPr wrap="square" lIns="0" tIns="0" rIns="0" bIns="0" rtlCol="0" anchor="t"/>
          <a:lstStyle/>
          <a:p>
            <a:pPr indent="0" marL="0">
              <a:lnSpc>
                <a:spcPts val="1700"/>
              </a:lnSpc>
              <a:buNone/>
            </a:pPr>
            <a:r>
              <a:rPr lang="en-US" sz="1250" dirty="0">
                <a:solidFill>
                  <a:srgbClr val="4D5A68"/>
                </a:solidFill>
                <a:latin typeface="Calibri" pitchFamily="34" charset="0"/>
                <a:ea typeface="Calibri" pitchFamily="34" charset="-122"/>
                <a:cs typeface="Calibri" pitchFamily="34" charset="-120"/>
              </a:rPr>
              <a:t>Anything that calls the store directly skips all four checks. Add a second transport carelessly and dual control silently stops applying to it — which is why a shared service layer must come before a REST API.</a:t>
            </a:r>
            <a:endParaRPr lang="en-US" sz="1250" dirty="0"/>
          </a:p>
        </p:txBody>
      </p:sp>
      <p:sp>
        <p:nvSpPr>
          <p:cNvPr id="23" name="Shape 21"/>
          <p:cNvSpPr/>
          <p:nvPr/>
        </p:nvSpPr>
        <p:spPr>
          <a:xfrm>
            <a:off x="4334256" y="2761488"/>
            <a:ext cx="3520440" cy="3017520"/>
          </a:xfrm>
          <a:prstGeom prst="roundRect">
            <a:avLst>
              <a:gd name="adj" fmla="val 1818"/>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24" name="Text 22"/>
          <p:cNvSpPr txBox="1"/>
          <p:nvPr/>
        </p:nvSpPr>
        <p:spPr>
          <a:xfrm>
            <a:off x="4572000" y="2962656"/>
            <a:ext cx="3044952" cy="201168"/>
          </a:xfrm>
          <a:prstGeom prst="rect">
            <a:avLst/>
          </a:prstGeom>
          <a:noFill/>
          <a:ln/>
        </p:spPr>
        <p:txBody>
          <a:bodyPr wrap="square" lIns="0" tIns="0" rIns="0" bIns="0" rtlCol="0" anchor="ctr"/>
          <a:lstStyle/>
          <a:p>
            <a:pPr indent="0" marL="0">
              <a:buNone/>
            </a:pPr>
            <a:r>
              <a:rPr lang="en-US" sz="1000" b="1" spc="160" kern="0" dirty="0">
                <a:solidFill>
                  <a:srgbClr val="2E6DA4"/>
                </a:solidFill>
                <a:latin typeface="Calibri" pitchFamily="34" charset="0"/>
                <a:ea typeface="Calibri" pitchFamily="34" charset="-122"/>
                <a:cs typeface="Calibri" pitchFamily="34" charset="-120"/>
              </a:rPr>
              <a:t>CONCURRENCY</a:t>
            </a:r>
            <a:endParaRPr lang="en-US" sz="1000" dirty="0"/>
          </a:p>
        </p:txBody>
      </p:sp>
      <p:sp>
        <p:nvSpPr>
          <p:cNvPr id="25" name="Text 23"/>
          <p:cNvSpPr txBox="1"/>
          <p:nvPr/>
        </p:nvSpPr>
        <p:spPr>
          <a:xfrm>
            <a:off x="4572000" y="3236976"/>
            <a:ext cx="3044952" cy="310896"/>
          </a:xfrm>
          <a:prstGeom prst="rect">
            <a:avLst/>
          </a:prstGeom>
          <a:noFill/>
          <a:ln/>
        </p:spPr>
        <p:txBody>
          <a:bodyPr wrap="square" lIns="0" tIns="0" rIns="0" bIns="0" rtlCol="0" anchor="ctr"/>
          <a:lstStyle/>
          <a:p>
            <a:pPr indent="0" marL="0">
              <a:buNone/>
            </a:pPr>
            <a:r>
              <a:rPr lang="en-US" sz="1600" b="1" dirty="0">
                <a:solidFill>
                  <a:srgbClr val="1A3A5C"/>
                </a:solidFill>
                <a:latin typeface="Cambria" pitchFamily="34" charset="0"/>
                <a:ea typeface="Cambria" pitchFamily="34" charset="-122"/>
                <a:cs typeface="Cambria" pitchFamily="34" charset="-120"/>
              </a:rPr>
              <a:t>One session per process</a:t>
            </a:r>
            <a:endParaRPr lang="en-US" sz="1600" dirty="0"/>
          </a:p>
        </p:txBody>
      </p:sp>
      <p:sp>
        <p:nvSpPr>
          <p:cNvPr id="26" name="Text 24"/>
          <p:cNvSpPr txBox="1"/>
          <p:nvPr/>
        </p:nvSpPr>
        <p:spPr>
          <a:xfrm>
            <a:off x="4572000" y="3602736"/>
            <a:ext cx="3044952" cy="2011680"/>
          </a:xfrm>
          <a:prstGeom prst="rect">
            <a:avLst/>
          </a:prstGeom>
          <a:noFill/>
          <a:ln/>
        </p:spPr>
        <p:txBody>
          <a:bodyPr wrap="square" lIns="0" tIns="0" rIns="0" bIns="0" rtlCol="0" anchor="t"/>
          <a:lstStyle/>
          <a:p>
            <a:pPr indent="0" marL="0">
              <a:lnSpc>
                <a:spcPts val="1700"/>
              </a:lnSpc>
              <a:buNone/>
            </a:pPr>
            <a:r>
              <a:rPr lang="en-US" sz="1250" dirty="0">
                <a:solidFill>
                  <a:srgbClr val="4D5A68"/>
                </a:solidFill>
                <a:latin typeface="Calibri" pitchFamily="34" charset="0"/>
                <a:ea typeface="Calibri" pitchFamily="34" charset="-122"/>
                <a:cs typeface="Calibri" pitchFamily="34" charset="-120"/>
              </a:rPr>
              <a:t>A PKCS#11 session pool was built, tested, and reproducibly segfaulted: python-pkcs11 calls C_Initialize(NULL), so the library's own thread safety is never enabled. Scale with pre-fork workers, never with threads. This is permanent design, not a stopgap.</a:t>
            </a:r>
            <a:endParaRPr lang="en-US" sz="1250" dirty="0"/>
          </a:p>
        </p:txBody>
      </p:sp>
      <p:sp>
        <p:nvSpPr>
          <p:cNvPr id="27" name="Shape 25"/>
          <p:cNvSpPr/>
          <p:nvPr/>
        </p:nvSpPr>
        <p:spPr>
          <a:xfrm>
            <a:off x="8101584" y="2761488"/>
            <a:ext cx="3529584" cy="3017520"/>
          </a:xfrm>
          <a:prstGeom prst="roundRect">
            <a:avLst>
              <a:gd name="adj" fmla="val 1818"/>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28" name="Text 26"/>
          <p:cNvSpPr txBox="1"/>
          <p:nvPr/>
        </p:nvSpPr>
        <p:spPr>
          <a:xfrm>
            <a:off x="8339328" y="2962656"/>
            <a:ext cx="3054096" cy="201168"/>
          </a:xfrm>
          <a:prstGeom prst="rect">
            <a:avLst/>
          </a:prstGeom>
          <a:noFill/>
          <a:ln/>
        </p:spPr>
        <p:txBody>
          <a:bodyPr wrap="square" lIns="0" tIns="0" rIns="0" bIns="0" rtlCol="0" anchor="ctr"/>
          <a:lstStyle/>
          <a:p>
            <a:pPr indent="0" marL="0">
              <a:buNone/>
            </a:pPr>
            <a:r>
              <a:rPr lang="en-US" sz="1000" b="1" spc="160" kern="0" dirty="0">
                <a:solidFill>
                  <a:srgbClr val="2E6DA4"/>
                </a:solidFill>
                <a:latin typeface="Calibri" pitchFamily="34" charset="0"/>
                <a:ea typeface="Calibri" pitchFamily="34" charset="-122"/>
                <a:cs typeface="Calibri" pitchFamily="34" charset="-120"/>
              </a:rPr>
              <a:t>CAPABILITY PROBE</a:t>
            </a:r>
            <a:endParaRPr lang="en-US" sz="1000" dirty="0"/>
          </a:p>
        </p:txBody>
      </p:sp>
      <p:sp>
        <p:nvSpPr>
          <p:cNvPr id="29" name="Text 27"/>
          <p:cNvSpPr txBox="1"/>
          <p:nvPr/>
        </p:nvSpPr>
        <p:spPr>
          <a:xfrm>
            <a:off x="8339328" y="3236976"/>
            <a:ext cx="3054096" cy="310896"/>
          </a:xfrm>
          <a:prstGeom prst="rect">
            <a:avLst/>
          </a:prstGeom>
          <a:noFill/>
          <a:ln/>
        </p:spPr>
        <p:txBody>
          <a:bodyPr wrap="square" lIns="0" tIns="0" rIns="0" bIns="0" rtlCol="0" anchor="ctr"/>
          <a:lstStyle/>
          <a:p>
            <a:pPr indent="0" marL="0">
              <a:buNone/>
            </a:pPr>
            <a:r>
              <a:rPr lang="en-US" sz="1600" b="1" dirty="0">
                <a:solidFill>
                  <a:srgbClr val="1A3A5C"/>
                </a:solidFill>
                <a:latin typeface="Cambria" pitchFamily="34" charset="0"/>
                <a:ea typeface="Cambria" pitchFamily="34" charset="-122"/>
                <a:cs typeface="Cambria" pitchFamily="34" charset="-120"/>
              </a:rPr>
              <a:t>Ask the token, don't assume</a:t>
            </a:r>
            <a:endParaRPr lang="en-US" sz="1600" dirty="0"/>
          </a:p>
        </p:txBody>
      </p:sp>
      <p:sp>
        <p:nvSpPr>
          <p:cNvPr id="30" name="Text 28"/>
          <p:cNvSpPr txBox="1"/>
          <p:nvPr/>
        </p:nvSpPr>
        <p:spPr>
          <a:xfrm>
            <a:off x="8339328" y="3602736"/>
            <a:ext cx="3054096" cy="2011680"/>
          </a:xfrm>
          <a:prstGeom prst="rect">
            <a:avLst/>
          </a:prstGeom>
          <a:noFill/>
          <a:ln/>
        </p:spPr>
        <p:txBody>
          <a:bodyPr wrap="square" lIns="0" tIns="0" rIns="0" bIns="0" rtlCol="0" anchor="t"/>
          <a:lstStyle/>
          <a:p>
            <a:pPr indent="0" marL="0">
              <a:lnSpc>
                <a:spcPts val="1700"/>
              </a:lnSpc>
              <a:buNone/>
            </a:pPr>
            <a:r>
              <a:rPr lang="en-US" sz="1250" dirty="0">
                <a:solidFill>
                  <a:srgbClr val="4D5A68"/>
                </a:solidFill>
                <a:latin typeface="Calibri" pitchFamily="34" charset="0"/>
                <a:ea typeface="Calibri" pitchFamily="34" charset="-122"/>
                <a:cs typeface="Calibri" pitchFamily="34" charset="-120"/>
              </a:rPr>
              <a:t>The shim reads the token's real mechanism list at startup and gates every dispatch on it. An unsupported algorithm fails cleanly and by name, instead of surfacing a raw PKCS#11 error from deep inside an operation.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27664" cy="237744"/>
          </a:xfrm>
          <a:prstGeom prst="rect">
            <a:avLst/>
          </a:prstGeom>
          <a:noFill/>
          <a:ln/>
        </p:spPr>
        <p:txBody>
          <a:bodyPr wrap="square" lIns="0" tIns="0" rIns="0" bIns="0" rtlCol="0" anchor="ctr"/>
          <a:lstStyle/>
          <a:p>
            <a:pPr indent="0" marL="0">
              <a:buNone/>
            </a:pPr>
            <a:r>
              <a:rPr lang="en-US" sz="1150" b="1" spc="220" kern="0" dirty="0">
                <a:solidFill>
                  <a:srgbClr val="C8952B"/>
                </a:solidFill>
                <a:latin typeface="Calibri" pitchFamily="34" charset="0"/>
                <a:ea typeface="Calibri" pitchFamily="34" charset="-122"/>
                <a:cs typeface="Calibri" pitchFamily="34" charset="-120"/>
              </a:rPr>
              <a:t>A FULL KMS · 1 OF 2</a:t>
            </a:r>
            <a:endParaRPr lang="en-US" sz="1150" dirty="0"/>
          </a:p>
        </p:txBody>
      </p:sp>
      <p:sp>
        <p:nvSpPr>
          <p:cNvPr id="3" name="Text 1"/>
          <p:cNvSpPr txBox="1"/>
          <p:nvPr/>
        </p:nvSpPr>
        <p:spPr>
          <a:xfrm>
            <a:off x="566928" y="621792"/>
            <a:ext cx="11027664" cy="658368"/>
          </a:xfrm>
          <a:prstGeom prst="rect">
            <a:avLst/>
          </a:prstGeom>
          <a:noFill/>
          <a:ln/>
        </p:spPr>
        <p:txBody>
          <a:bodyPr wrap="square" lIns="0" tIns="0" rIns="0" bIns="0" rtlCol="0" anchor="ctr"/>
          <a:lstStyle/>
          <a:p>
            <a:pPr indent="0" marL="0">
              <a:buNone/>
            </a:pPr>
            <a:r>
              <a:rPr lang="en-US" sz="3400" b="1" dirty="0">
                <a:solidFill>
                  <a:srgbClr val="1A3A5C"/>
                </a:solidFill>
                <a:latin typeface="Cambria" pitchFamily="34" charset="0"/>
                <a:ea typeface="Cambria" pitchFamily="34" charset="-122"/>
                <a:cs typeface="Cambria" pitchFamily="34" charset="-120"/>
              </a:rPr>
              <a:t>Why a REST layer is not optional</a:t>
            </a:r>
            <a:endParaRPr lang="en-US" sz="3400" dirty="0"/>
          </a:p>
        </p:txBody>
      </p:sp>
      <p:sp>
        <p:nvSpPr>
          <p:cNvPr id="4" name="Shape 2"/>
          <p:cNvSpPr/>
          <p:nvPr/>
        </p:nvSpPr>
        <p:spPr>
          <a:xfrm>
            <a:off x="566928" y="1572768"/>
            <a:ext cx="1956816" cy="2487168"/>
          </a:xfrm>
          <a:prstGeom prst="roundRect">
            <a:avLst>
              <a:gd name="adj" fmla="val 2804"/>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5" name="Text 3"/>
          <p:cNvSpPr txBox="1"/>
          <p:nvPr/>
        </p:nvSpPr>
        <p:spPr>
          <a:xfrm>
            <a:off x="804672" y="1773936"/>
            <a:ext cx="1481328" cy="201168"/>
          </a:xfrm>
          <a:prstGeom prst="rect">
            <a:avLst/>
          </a:prstGeom>
          <a:noFill/>
          <a:ln/>
        </p:spPr>
        <p:txBody>
          <a:bodyPr wrap="square" lIns="0" tIns="0" rIns="0" bIns="0" rtlCol="0" anchor="ctr"/>
          <a:lstStyle/>
          <a:p>
            <a:pPr indent="0" marL="0">
              <a:buNone/>
            </a:pPr>
            <a:r>
              <a:rPr lang="en-US" sz="1000" b="1" spc="160" kern="0" dirty="0">
                <a:solidFill>
                  <a:srgbClr val="2E6DA4"/>
                </a:solidFill>
                <a:latin typeface="Calibri" pitchFamily="34" charset="0"/>
                <a:ea typeface="Calibri" pitchFamily="34" charset="-122"/>
                <a:cs typeface="Calibri" pitchFamily="34" charset="-120"/>
              </a:rPr>
              <a:t>01</a:t>
            </a:r>
            <a:endParaRPr lang="en-US" sz="1000" dirty="0"/>
          </a:p>
        </p:txBody>
      </p:sp>
      <p:sp>
        <p:nvSpPr>
          <p:cNvPr id="6" name="Text 4"/>
          <p:cNvSpPr txBox="1"/>
          <p:nvPr/>
        </p:nvSpPr>
        <p:spPr>
          <a:xfrm>
            <a:off x="804672" y="2048256"/>
            <a:ext cx="1481328" cy="566928"/>
          </a:xfrm>
          <a:prstGeom prst="rect">
            <a:avLst/>
          </a:prstGeom>
          <a:noFill/>
          <a:ln/>
        </p:spPr>
        <p:txBody>
          <a:bodyPr wrap="square" lIns="0" tIns="0" rIns="0" bIns="0" rtlCol="0" anchor="ctr"/>
          <a:lstStyle/>
          <a:p>
            <a:pPr indent="0" marL="0">
              <a:buNone/>
            </a:pPr>
            <a:r>
              <a:rPr lang="en-US" sz="1300" b="1" dirty="0">
                <a:solidFill>
                  <a:srgbClr val="1A3A5C"/>
                </a:solidFill>
                <a:latin typeface="Cambria" pitchFamily="34" charset="0"/>
                <a:ea typeface="Cambria" pitchFamily="34" charset="-122"/>
                <a:cs typeface="Cambria" pitchFamily="34" charset="-120"/>
              </a:rPr>
              <a:t>The operations do not exist</a:t>
            </a:r>
            <a:endParaRPr lang="en-US" sz="1300" dirty="0"/>
          </a:p>
        </p:txBody>
      </p:sp>
      <p:sp>
        <p:nvSpPr>
          <p:cNvPr id="7" name="Text 5"/>
          <p:cNvSpPr txBox="1"/>
          <p:nvPr/>
        </p:nvSpPr>
        <p:spPr>
          <a:xfrm>
            <a:off x="804672" y="2670048"/>
            <a:ext cx="1481328" cy="1225296"/>
          </a:xfrm>
          <a:prstGeom prst="rect">
            <a:avLst/>
          </a:prstGeom>
          <a:noFill/>
          <a:ln/>
        </p:spPr>
        <p:txBody>
          <a:bodyPr wrap="square" lIns="0" tIns="0" rIns="0" bIns="0" rtlCol="0" anchor="t"/>
          <a:lstStyle/>
          <a:p>
            <a:pPr indent="0" marL="0">
              <a:lnSpc>
                <a:spcPts val="1700"/>
              </a:lnSpc>
              <a:buNone/>
            </a:pPr>
            <a:r>
              <a:rPr lang="en-US" sz="1100" dirty="0">
                <a:solidFill>
                  <a:srgbClr val="4D5A68"/>
                </a:solidFill>
                <a:latin typeface="Calibri" pitchFamily="34" charset="0"/>
                <a:ea typeface="Calibri" pitchFamily="34" charset="-122"/>
                <a:cs typeface="Calibri" pitchFamily="34" charset="-120"/>
              </a:rPr>
              <a:t>Identities, roles, grants, approvals, cryptoperiods, audit search, backups — KMIP defines none of them.</a:t>
            </a:r>
            <a:endParaRPr lang="en-US" sz="1100" dirty="0"/>
          </a:p>
        </p:txBody>
      </p:sp>
      <p:sp>
        <p:nvSpPr>
          <p:cNvPr id="8" name="Shape 6"/>
          <p:cNvSpPr/>
          <p:nvPr/>
        </p:nvSpPr>
        <p:spPr>
          <a:xfrm>
            <a:off x="2834640" y="1572768"/>
            <a:ext cx="1956816" cy="2487168"/>
          </a:xfrm>
          <a:prstGeom prst="roundRect">
            <a:avLst>
              <a:gd name="adj" fmla="val 2804"/>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9" name="Text 7"/>
          <p:cNvSpPr txBox="1"/>
          <p:nvPr/>
        </p:nvSpPr>
        <p:spPr>
          <a:xfrm>
            <a:off x="3072384" y="1773936"/>
            <a:ext cx="1481328" cy="201168"/>
          </a:xfrm>
          <a:prstGeom prst="rect">
            <a:avLst/>
          </a:prstGeom>
          <a:noFill/>
          <a:ln/>
        </p:spPr>
        <p:txBody>
          <a:bodyPr wrap="square" lIns="0" tIns="0" rIns="0" bIns="0" rtlCol="0" anchor="ctr"/>
          <a:lstStyle/>
          <a:p>
            <a:pPr indent="0" marL="0">
              <a:buNone/>
            </a:pPr>
            <a:r>
              <a:rPr lang="en-US" sz="1000" b="1" spc="160" kern="0" dirty="0">
                <a:solidFill>
                  <a:srgbClr val="2E6DA4"/>
                </a:solidFill>
                <a:latin typeface="Calibri" pitchFamily="34" charset="0"/>
                <a:ea typeface="Calibri" pitchFamily="34" charset="-122"/>
                <a:cs typeface="Calibri" pitchFamily="34" charset="-120"/>
              </a:rPr>
              <a:t>02</a:t>
            </a:r>
            <a:endParaRPr lang="en-US" sz="1000" dirty="0"/>
          </a:p>
        </p:txBody>
      </p:sp>
      <p:sp>
        <p:nvSpPr>
          <p:cNvPr id="10" name="Text 8"/>
          <p:cNvSpPr txBox="1"/>
          <p:nvPr/>
        </p:nvSpPr>
        <p:spPr>
          <a:xfrm>
            <a:off x="3072384" y="2048256"/>
            <a:ext cx="1481328" cy="566928"/>
          </a:xfrm>
          <a:prstGeom prst="rect">
            <a:avLst/>
          </a:prstGeom>
          <a:noFill/>
          <a:ln/>
        </p:spPr>
        <p:txBody>
          <a:bodyPr wrap="square" lIns="0" tIns="0" rIns="0" bIns="0" rtlCol="0" anchor="ctr"/>
          <a:lstStyle/>
          <a:p>
            <a:pPr indent="0" marL="0">
              <a:buNone/>
            </a:pPr>
            <a:r>
              <a:rPr lang="en-US" sz="1300" b="1" dirty="0">
                <a:solidFill>
                  <a:srgbClr val="1A3A5C"/>
                </a:solidFill>
                <a:latin typeface="Cambria" pitchFamily="34" charset="0"/>
                <a:ea typeface="Cambria" pitchFamily="34" charset="-122"/>
                <a:cs typeface="Cambria" pitchFamily="34" charset="-120"/>
              </a:rPr>
              <a:t>A browser cannot speak TTLV</a:t>
            </a:r>
            <a:endParaRPr lang="en-US" sz="1300" dirty="0"/>
          </a:p>
        </p:txBody>
      </p:sp>
      <p:sp>
        <p:nvSpPr>
          <p:cNvPr id="11" name="Text 9"/>
          <p:cNvSpPr txBox="1"/>
          <p:nvPr/>
        </p:nvSpPr>
        <p:spPr>
          <a:xfrm>
            <a:off x="3072384" y="2670048"/>
            <a:ext cx="1481328" cy="1225296"/>
          </a:xfrm>
          <a:prstGeom prst="rect">
            <a:avLst/>
          </a:prstGeom>
          <a:noFill/>
          <a:ln/>
        </p:spPr>
        <p:txBody>
          <a:bodyPr wrap="square" lIns="0" tIns="0" rIns="0" bIns="0" rtlCol="0" anchor="t"/>
          <a:lstStyle/>
          <a:p>
            <a:pPr indent="0" marL="0">
              <a:lnSpc>
                <a:spcPts val="1700"/>
              </a:lnSpc>
              <a:buNone/>
            </a:pPr>
            <a:r>
              <a:rPr lang="en-US" sz="1100" dirty="0">
                <a:solidFill>
                  <a:srgbClr val="4D5A68"/>
                </a:solidFill>
                <a:latin typeface="Calibri" pitchFamily="34" charset="0"/>
                <a:ea typeface="Calibri" pitchFamily="34" charset="-122"/>
                <a:cs typeface="Calibri" pitchFamily="34" charset="-120"/>
              </a:rPr>
              <a:t>Binary over raw TCP. A browser has fetch and WebSocket. Something must translate — and that translator is the API.</a:t>
            </a:r>
            <a:endParaRPr lang="en-US" sz="1100" dirty="0"/>
          </a:p>
        </p:txBody>
      </p:sp>
      <p:sp>
        <p:nvSpPr>
          <p:cNvPr id="12" name="Shape 10"/>
          <p:cNvSpPr/>
          <p:nvPr/>
        </p:nvSpPr>
        <p:spPr>
          <a:xfrm>
            <a:off x="5102352" y="1572768"/>
            <a:ext cx="1956816" cy="2487168"/>
          </a:xfrm>
          <a:prstGeom prst="roundRect">
            <a:avLst>
              <a:gd name="adj" fmla="val 2804"/>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13" name="Text 11"/>
          <p:cNvSpPr txBox="1"/>
          <p:nvPr/>
        </p:nvSpPr>
        <p:spPr>
          <a:xfrm>
            <a:off x="5340096" y="1773936"/>
            <a:ext cx="1481328" cy="201168"/>
          </a:xfrm>
          <a:prstGeom prst="rect">
            <a:avLst/>
          </a:prstGeom>
          <a:noFill/>
          <a:ln/>
        </p:spPr>
        <p:txBody>
          <a:bodyPr wrap="square" lIns="0" tIns="0" rIns="0" bIns="0" rtlCol="0" anchor="ctr"/>
          <a:lstStyle/>
          <a:p>
            <a:pPr indent="0" marL="0">
              <a:buNone/>
            </a:pPr>
            <a:r>
              <a:rPr lang="en-US" sz="1000" b="1" spc="160" kern="0" dirty="0">
                <a:solidFill>
                  <a:srgbClr val="2E6DA4"/>
                </a:solidFill>
                <a:latin typeface="Calibri" pitchFamily="34" charset="0"/>
                <a:ea typeface="Calibri" pitchFamily="34" charset="-122"/>
                <a:cs typeface="Calibri" pitchFamily="34" charset="-120"/>
              </a:rPr>
              <a:t>03</a:t>
            </a:r>
            <a:endParaRPr lang="en-US" sz="1000" dirty="0"/>
          </a:p>
        </p:txBody>
      </p:sp>
      <p:sp>
        <p:nvSpPr>
          <p:cNvPr id="14" name="Text 12"/>
          <p:cNvSpPr txBox="1"/>
          <p:nvPr/>
        </p:nvSpPr>
        <p:spPr>
          <a:xfrm>
            <a:off x="5340096" y="2048256"/>
            <a:ext cx="1481328" cy="566928"/>
          </a:xfrm>
          <a:prstGeom prst="rect">
            <a:avLst/>
          </a:prstGeom>
          <a:noFill/>
          <a:ln/>
        </p:spPr>
        <p:txBody>
          <a:bodyPr wrap="square" lIns="0" tIns="0" rIns="0" bIns="0" rtlCol="0" anchor="ctr"/>
          <a:lstStyle/>
          <a:p>
            <a:pPr indent="0" marL="0">
              <a:buNone/>
            </a:pPr>
            <a:r>
              <a:rPr lang="en-US" sz="1300" b="1" dirty="0">
                <a:solidFill>
                  <a:srgbClr val="1A3A5C"/>
                </a:solidFill>
                <a:latin typeface="Cambria" pitchFamily="34" charset="0"/>
                <a:ea typeface="Cambria" pitchFamily="34" charset="-122"/>
                <a:cs typeface="Cambria" pitchFamily="34" charset="-120"/>
              </a:rPr>
              <a:t>The auth models differ</a:t>
            </a:r>
            <a:endParaRPr lang="en-US" sz="1300" dirty="0"/>
          </a:p>
        </p:txBody>
      </p:sp>
      <p:sp>
        <p:nvSpPr>
          <p:cNvPr id="15" name="Text 13"/>
          <p:cNvSpPr txBox="1"/>
          <p:nvPr/>
        </p:nvSpPr>
        <p:spPr>
          <a:xfrm>
            <a:off x="5340096" y="2670048"/>
            <a:ext cx="1481328" cy="1225296"/>
          </a:xfrm>
          <a:prstGeom prst="rect">
            <a:avLst/>
          </a:prstGeom>
          <a:noFill/>
          <a:ln/>
        </p:spPr>
        <p:txBody>
          <a:bodyPr wrap="square" lIns="0" tIns="0" rIns="0" bIns="0" rtlCol="0" anchor="t"/>
          <a:lstStyle/>
          <a:p>
            <a:pPr indent="0" marL="0">
              <a:lnSpc>
                <a:spcPts val="1700"/>
              </a:lnSpc>
              <a:buNone/>
            </a:pPr>
            <a:r>
              <a:rPr lang="en-US" sz="1100" dirty="0">
                <a:solidFill>
                  <a:srgbClr val="4D5A68"/>
                </a:solidFill>
                <a:latin typeface="Calibri" pitchFamily="34" charset="0"/>
                <a:ea typeface="Calibri" pitchFamily="34" charset="-122"/>
                <a:cs typeface="Calibri" pitchFamily="34" charset="-120"/>
              </a:rPr>
              <a:t>KMIP re-authenticates every request from a header credential. A console needs login, session, idle timeout, CSRF, revocation.</a:t>
            </a:r>
            <a:endParaRPr lang="en-US" sz="1100" dirty="0"/>
          </a:p>
        </p:txBody>
      </p:sp>
      <p:sp>
        <p:nvSpPr>
          <p:cNvPr id="16" name="Shape 14"/>
          <p:cNvSpPr/>
          <p:nvPr/>
        </p:nvSpPr>
        <p:spPr>
          <a:xfrm>
            <a:off x="7370064" y="1572768"/>
            <a:ext cx="1956816" cy="2487168"/>
          </a:xfrm>
          <a:prstGeom prst="roundRect">
            <a:avLst>
              <a:gd name="adj" fmla="val 2804"/>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17" name="Text 15"/>
          <p:cNvSpPr txBox="1"/>
          <p:nvPr/>
        </p:nvSpPr>
        <p:spPr>
          <a:xfrm>
            <a:off x="7607808" y="1773936"/>
            <a:ext cx="1481328" cy="201168"/>
          </a:xfrm>
          <a:prstGeom prst="rect">
            <a:avLst/>
          </a:prstGeom>
          <a:noFill/>
          <a:ln/>
        </p:spPr>
        <p:txBody>
          <a:bodyPr wrap="square" lIns="0" tIns="0" rIns="0" bIns="0" rtlCol="0" anchor="ctr"/>
          <a:lstStyle/>
          <a:p>
            <a:pPr indent="0" marL="0">
              <a:buNone/>
            </a:pPr>
            <a:r>
              <a:rPr lang="en-US" sz="1000" b="1" spc="160" kern="0" dirty="0">
                <a:solidFill>
                  <a:srgbClr val="2E6DA4"/>
                </a:solidFill>
                <a:latin typeface="Calibri" pitchFamily="34" charset="0"/>
                <a:ea typeface="Calibri" pitchFamily="34" charset="-122"/>
                <a:cs typeface="Calibri" pitchFamily="34" charset="-120"/>
              </a:rPr>
              <a:t>04</a:t>
            </a:r>
            <a:endParaRPr lang="en-US" sz="1000" dirty="0"/>
          </a:p>
        </p:txBody>
      </p:sp>
      <p:sp>
        <p:nvSpPr>
          <p:cNvPr id="18" name="Text 16"/>
          <p:cNvSpPr txBox="1"/>
          <p:nvPr/>
        </p:nvSpPr>
        <p:spPr>
          <a:xfrm>
            <a:off x="7607808" y="2048256"/>
            <a:ext cx="1481328" cy="566928"/>
          </a:xfrm>
          <a:prstGeom prst="rect">
            <a:avLst/>
          </a:prstGeom>
          <a:noFill/>
          <a:ln/>
        </p:spPr>
        <p:txBody>
          <a:bodyPr wrap="square" lIns="0" tIns="0" rIns="0" bIns="0" rtlCol="0" anchor="ctr"/>
          <a:lstStyle/>
          <a:p>
            <a:pPr indent="0" marL="0">
              <a:buNone/>
            </a:pPr>
            <a:r>
              <a:rPr lang="en-US" sz="1300" b="1" dirty="0">
                <a:solidFill>
                  <a:srgbClr val="1A3A5C"/>
                </a:solidFill>
                <a:latin typeface="Cambria" pitchFamily="34" charset="0"/>
                <a:ea typeface="Cambria" pitchFamily="34" charset="-122"/>
                <a:cs typeface="Cambria" pitchFamily="34" charset="-120"/>
              </a:rPr>
              <a:t>The read shapes are wrong</a:t>
            </a:r>
            <a:endParaRPr lang="en-US" sz="1300" dirty="0"/>
          </a:p>
        </p:txBody>
      </p:sp>
      <p:sp>
        <p:nvSpPr>
          <p:cNvPr id="19" name="Text 17"/>
          <p:cNvSpPr txBox="1"/>
          <p:nvPr/>
        </p:nvSpPr>
        <p:spPr>
          <a:xfrm>
            <a:off x="7607808" y="2670048"/>
            <a:ext cx="1481328" cy="1225296"/>
          </a:xfrm>
          <a:prstGeom prst="rect">
            <a:avLst/>
          </a:prstGeom>
          <a:noFill/>
          <a:ln/>
        </p:spPr>
        <p:txBody>
          <a:bodyPr wrap="square" lIns="0" tIns="0" rIns="0" bIns="0" rtlCol="0" anchor="t"/>
          <a:lstStyle/>
          <a:p>
            <a:pPr indent="0" marL="0">
              <a:lnSpc>
                <a:spcPts val="1700"/>
              </a:lnSpc>
              <a:buNone/>
            </a:pPr>
            <a:r>
              <a:rPr lang="en-US" sz="1100" dirty="0">
                <a:solidFill>
                  <a:srgbClr val="4D5A68"/>
                </a:solidFill>
                <a:latin typeface="Calibri" pitchFamily="34" charset="0"/>
                <a:ea typeface="Calibri" pitchFamily="34" charset="-122"/>
                <a:cs typeface="Calibri" pitchFamily="34" charset="-120"/>
              </a:rPr>
              <a:t>Locate returns bare identifiers with no paging, sort or count. A console table becomes N+1 round trips.</a:t>
            </a:r>
            <a:endParaRPr lang="en-US" sz="1100" dirty="0"/>
          </a:p>
        </p:txBody>
      </p:sp>
      <p:sp>
        <p:nvSpPr>
          <p:cNvPr id="20" name="Shape 18"/>
          <p:cNvSpPr/>
          <p:nvPr/>
        </p:nvSpPr>
        <p:spPr>
          <a:xfrm>
            <a:off x="9637776" y="1572768"/>
            <a:ext cx="1956816" cy="2487168"/>
          </a:xfrm>
          <a:prstGeom prst="roundRect">
            <a:avLst>
              <a:gd name="adj" fmla="val 2804"/>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21" name="Text 19"/>
          <p:cNvSpPr txBox="1"/>
          <p:nvPr/>
        </p:nvSpPr>
        <p:spPr>
          <a:xfrm>
            <a:off x="9875520" y="1773936"/>
            <a:ext cx="1481328" cy="201168"/>
          </a:xfrm>
          <a:prstGeom prst="rect">
            <a:avLst/>
          </a:prstGeom>
          <a:noFill/>
          <a:ln/>
        </p:spPr>
        <p:txBody>
          <a:bodyPr wrap="square" lIns="0" tIns="0" rIns="0" bIns="0" rtlCol="0" anchor="ctr"/>
          <a:lstStyle/>
          <a:p>
            <a:pPr indent="0" marL="0">
              <a:buNone/>
            </a:pPr>
            <a:r>
              <a:rPr lang="en-US" sz="1000" b="1" spc="160" kern="0" dirty="0">
                <a:solidFill>
                  <a:srgbClr val="2E6DA4"/>
                </a:solidFill>
                <a:latin typeface="Calibri" pitchFamily="34" charset="0"/>
                <a:ea typeface="Calibri" pitchFamily="34" charset="-122"/>
                <a:cs typeface="Calibri" pitchFamily="34" charset="-120"/>
              </a:rPr>
              <a:t>05</a:t>
            </a:r>
            <a:endParaRPr lang="en-US" sz="1000" dirty="0"/>
          </a:p>
        </p:txBody>
      </p:sp>
      <p:sp>
        <p:nvSpPr>
          <p:cNvPr id="22" name="Text 20"/>
          <p:cNvSpPr txBox="1"/>
          <p:nvPr/>
        </p:nvSpPr>
        <p:spPr>
          <a:xfrm>
            <a:off x="9875520" y="2048256"/>
            <a:ext cx="1481328" cy="566928"/>
          </a:xfrm>
          <a:prstGeom prst="rect">
            <a:avLst/>
          </a:prstGeom>
          <a:noFill/>
          <a:ln/>
        </p:spPr>
        <p:txBody>
          <a:bodyPr wrap="square" lIns="0" tIns="0" rIns="0" bIns="0" rtlCol="0" anchor="ctr"/>
          <a:lstStyle/>
          <a:p>
            <a:pPr indent="0" marL="0">
              <a:buNone/>
            </a:pPr>
            <a:r>
              <a:rPr lang="en-US" sz="1300" b="1" dirty="0">
                <a:solidFill>
                  <a:srgbClr val="1A3A5C"/>
                </a:solidFill>
                <a:latin typeface="Cambria" pitchFamily="34" charset="0"/>
                <a:ea typeface="Cambria" pitchFamily="34" charset="-122"/>
                <a:cs typeface="Cambria" pitchFamily="34" charset="-120"/>
              </a:rPr>
              <a:t>Not everything is object-centric</a:t>
            </a:r>
            <a:endParaRPr lang="en-US" sz="1300" dirty="0"/>
          </a:p>
        </p:txBody>
      </p:sp>
      <p:sp>
        <p:nvSpPr>
          <p:cNvPr id="23" name="Text 21"/>
          <p:cNvSpPr txBox="1"/>
          <p:nvPr/>
        </p:nvSpPr>
        <p:spPr>
          <a:xfrm>
            <a:off x="9875520" y="2670048"/>
            <a:ext cx="1481328" cy="1225296"/>
          </a:xfrm>
          <a:prstGeom prst="rect">
            <a:avLst/>
          </a:prstGeom>
          <a:noFill/>
          <a:ln/>
        </p:spPr>
        <p:txBody>
          <a:bodyPr wrap="square" lIns="0" tIns="0" rIns="0" bIns="0" rtlCol="0" anchor="t"/>
          <a:lstStyle/>
          <a:p>
            <a:pPr indent="0" marL="0">
              <a:lnSpc>
                <a:spcPts val="1700"/>
              </a:lnSpc>
              <a:buNone/>
            </a:pPr>
            <a:r>
              <a:rPr lang="en-US" sz="1100" dirty="0">
                <a:solidFill>
                  <a:srgbClr val="4D5A68"/>
                </a:solidFill>
                <a:latin typeface="Calibri" pitchFamily="34" charset="0"/>
                <a:ea typeface="Calibri" pitchFamily="34" charset="-122"/>
                <a:cs typeface="Calibri" pitchFamily="34" charset="-120"/>
              </a:rPr>
              <a:t>Approval queues, audit search, expiry reports, chain verification, health. None is an operation on a managed object.</a:t>
            </a:r>
            <a:endParaRPr lang="en-US" sz="1100" dirty="0"/>
          </a:p>
        </p:txBody>
      </p:sp>
      <p:sp>
        <p:nvSpPr>
          <p:cNvPr id="24" name="Shape 22"/>
          <p:cNvSpPr/>
          <p:nvPr/>
        </p:nvSpPr>
        <p:spPr>
          <a:xfrm>
            <a:off x="566928" y="4279392"/>
            <a:ext cx="11027664" cy="1572768"/>
          </a:xfrm>
          <a:prstGeom prst="roundRect">
            <a:avLst>
              <a:gd name="adj" fmla="val 3488"/>
            </a:avLst>
          </a:prstGeom>
          <a:solidFill>
            <a:srgbClr val="1A3A5C"/>
          </a:solidFill>
          <a:ln w="12700">
            <a:solidFill>
              <a:srgbClr val="E8EFF6"/>
            </a:solidFill>
            <a:prstDash val="solid"/>
          </a:ln>
        </p:spPr>
      </p:sp>
      <p:sp>
        <p:nvSpPr>
          <p:cNvPr id="25" name="Text 23"/>
          <p:cNvSpPr txBox="1"/>
          <p:nvPr/>
        </p:nvSpPr>
        <p:spPr>
          <a:xfrm>
            <a:off x="804672" y="4480560"/>
            <a:ext cx="10552176"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division of labour</a:t>
            </a:r>
            <a:endParaRPr lang="en-US" sz="1600" dirty="0"/>
          </a:p>
        </p:txBody>
      </p:sp>
      <p:sp>
        <p:nvSpPr>
          <p:cNvPr id="26" name="Text 24"/>
          <p:cNvSpPr txBox="1"/>
          <p:nvPr/>
        </p:nvSpPr>
        <p:spPr>
          <a:xfrm>
            <a:off x="804672" y="4846320"/>
            <a:ext cx="10552176" cy="841248"/>
          </a:xfrm>
          <a:prstGeom prst="rect">
            <a:avLst/>
          </a:prstGeom>
          <a:noFill/>
          <a:ln/>
        </p:spPr>
        <p:txBody>
          <a:bodyPr wrap="square" lIns="0" tIns="0" rIns="0" bIns="0" rtlCol="0" anchor="t"/>
          <a:lstStyle/>
          <a:p>
            <a:pPr indent="0" marL="0">
              <a:lnSpc>
                <a:spcPts val="1700"/>
              </a:lnSpc>
              <a:buNone/>
            </a:pPr>
            <a:r>
              <a:rPr lang="en-US" sz="1350" dirty="0">
                <a:solidFill>
                  <a:srgbClr val="C9DAEA"/>
                </a:solidFill>
                <a:latin typeface="Calibri" pitchFamily="34" charset="0"/>
                <a:ea typeface="Calibri" pitchFamily="34" charset="-122"/>
                <a:cs typeface="Calibri" pitchFamily="34" charset="-120"/>
              </a:rPr>
              <a:t>KMIP stays the data plane — creating and using keys, spoken by databases and storage. REST becomes the control plane — administering the service, spoken by people and by CI. Do not duplicate crypto operations across both, or you get two paths to Destroy with two authorization implementations.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27664" cy="237744"/>
          </a:xfrm>
          <a:prstGeom prst="rect">
            <a:avLst/>
          </a:prstGeom>
          <a:noFill/>
          <a:ln/>
        </p:spPr>
        <p:txBody>
          <a:bodyPr wrap="square" lIns="0" tIns="0" rIns="0" bIns="0" rtlCol="0" anchor="ctr"/>
          <a:lstStyle/>
          <a:p>
            <a:pPr indent="0" marL="0">
              <a:buNone/>
            </a:pPr>
            <a:r>
              <a:rPr lang="en-US" sz="1150" b="1" spc="220" kern="0" dirty="0">
                <a:solidFill>
                  <a:srgbClr val="C8952B"/>
                </a:solidFill>
                <a:latin typeface="Calibri" pitchFamily="34" charset="0"/>
                <a:ea typeface="Calibri" pitchFamily="34" charset="-122"/>
                <a:cs typeface="Calibri" pitchFamily="34" charset="-120"/>
              </a:rPr>
              <a:t>A FULL KMS · 2 OF 2</a:t>
            </a:r>
            <a:endParaRPr lang="en-US" sz="1150" dirty="0"/>
          </a:p>
        </p:txBody>
      </p:sp>
      <p:sp>
        <p:nvSpPr>
          <p:cNvPr id="3" name="Text 1"/>
          <p:cNvSpPr txBox="1"/>
          <p:nvPr/>
        </p:nvSpPr>
        <p:spPr>
          <a:xfrm>
            <a:off x="566928" y="621792"/>
            <a:ext cx="11027664" cy="658368"/>
          </a:xfrm>
          <a:prstGeom prst="rect">
            <a:avLst/>
          </a:prstGeom>
          <a:noFill/>
          <a:ln/>
        </p:spPr>
        <p:txBody>
          <a:bodyPr wrap="square" lIns="0" tIns="0" rIns="0" bIns="0" rtlCol="0" anchor="ctr"/>
          <a:lstStyle/>
          <a:p>
            <a:pPr indent="0" marL="0">
              <a:buNone/>
            </a:pPr>
            <a:r>
              <a:rPr lang="en-US" sz="3400" b="1" dirty="0">
                <a:solidFill>
                  <a:srgbClr val="1A3A5C"/>
                </a:solidFill>
                <a:latin typeface="Cambria" pitchFamily="34" charset="0"/>
                <a:ea typeface="Cambria" pitchFamily="34" charset="-122"/>
                <a:cs typeface="Cambria" pitchFamily="34" charset="-120"/>
              </a:rPr>
              <a:t>One service layer, two transports</a:t>
            </a:r>
            <a:endParaRPr lang="en-US" sz="3400" dirty="0"/>
          </a:p>
        </p:txBody>
      </p:sp>
      <p:sp>
        <p:nvSpPr>
          <p:cNvPr id="4" name="Shape 2"/>
          <p:cNvSpPr/>
          <p:nvPr/>
        </p:nvSpPr>
        <p:spPr>
          <a:xfrm>
            <a:off x="566928" y="1554480"/>
            <a:ext cx="5074920" cy="530352"/>
          </a:xfrm>
          <a:prstGeom prst="roundRect">
            <a:avLst>
              <a:gd name="adj" fmla="val 10345"/>
            </a:avLst>
          </a:prstGeom>
          <a:solidFill>
            <a:srgbClr val="6B8299"/>
          </a:solidFill>
          <a:ln w="12700">
            <a:solidFill>
              <a:srgbClr val="6B8299"/>
            </a:solidFill>
            <a:prstDash val="solid"/>
          </a:ln>
        </p:spPr>
      </p:sp>
      <p:sp>
        <p:nvSpPr>
          <p:cNvPr id="5" name="Text 3"/>
          <p:cNvSpPr txBox="1"/>
          <p:nvPr/>
        </p:nvSpPr>
        <p:spPr>
          <a:xfrm>
            <a:off x="566928" y="1554480"/>
            <a:ext cx="5074920" cy="53035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Web console  ·  CLI  ·  CI and scripts</a:t>
            </a:r>
            <a:endParaRPr lang="en-US" sz="1250" dirty="0"/>
          </a:p>
        </p:txBody>
      </p:sp>
      <p:sp>
        <p:nvSpPr>
          <p:cNvPr id="6" name="Shape 4"/>
          <p:cNvSpPr/>
          <p:nvPr/>
        </p:nvSpPr>
        <p:spPr>
          <a:xfrm>
            <a:off x="6556248" y="1554480"/>
            <a:ext cx="5074920" cy="530352"/>
          </a:xfrm>
          <a:prstGeom prst="roundRect">
            <a:avLst>
              <a:gd name="adj" fmla="val 10345"/>
            </a:avLst>
          </a:prstGeom>
          <a:solidFill>
            <a:srgbClr val="6B8299"/>
          </a:solidFill>
          <a:ln w="12700">
            <a:solidFill>
              <a:srgbClr val="6B8299"/>
            </a:solidFill>
            <a:prstDash val="solid"/>
          </a:ln>
        </p:spPr>
      </p:sp>
      <p:sp>
        <p:nvSpPr>
          <p:cNvPr id="7" name="Text 5"/>
          <p:cNvSpPr txBox="1"/>
          <p:nvPr/>
        </p:nvSpPr>
        <p:spPr>
          <a:xfrm>
            <a:off x="6556248" y="1554480"/>
            <a:ext cx="5074920" cy="53035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KMIP clients  ·  databases, storage, backup</a:t>
            </a:r>
            <a:endParaRPr lang="en-US" sz="1250" dirty="0"/>
          </a:p>
        </p:txBody>
      </p:sp>
      <p:sp>
        <p:nvSpPr>
          <p:cNvPr id="8" name="Shape 6"/>
          <p:cNvSpPr/>
          <p:nvPr/>
        </p:nvSpPr>
        <p:spPr>
          <a:xfrm>
            <a:off x="3099816" y="2103120"/>
            <a:ext cx="0" cy="237744"/>
          </a:xfrm>
          <a:prstGeom prst="line">
            <a:avLst/>
          </a:prstGeom>
          <a:noFill/>
          <a:ln w="19050">
            <a:solidFill>
              <a:srgbClr val="2E6DA4"/>
            </a:solidFill>
            <a:prstDash val="solid"/>
            <a:tailEnd type="triangle"/>
          </a:ln>
        </p:spPr>
      </p:sp>
      <p:sp>
        <p:nvSpPr>
          <p:cNvPr id="9" name="Shape 7"/>
          <p:cNvSpPr/>
          <p:nvPr/>
        </p:nvSpPr>
        <p:spPr>
          <a:xfrm>
            <a:off x="9089136" y="2103120"/>
            <a:ext cx="0" cy="237744"/>
          </a:xfrm>
          <a:prstGeom prst="line">
            <a:avLst/>
          </a:prstGeom>
          <a:noFill/>
          <a:ln w="19050">
            <a:solidFill>
              <a:srgbClr val="2E6DA4"/>
            </a:solidFill>
            <a:prstDash val="solid"/>
            <a:tailEnd type="triangle"/>
          </a:ln>
        </p:spPr>
      </p:sp>
      <p:sp>
        <p:nvSpPr>
          <p:cNvPr id="10" name="Shape 8"/>
          <p:cNvSpPr/>
          <p:nvPr/>
        </p:nvSpPr>
        <p:spPr>
          <a:xfrm>
            <a:off x="566928" y="2377440"/>
            <a:ext cx="5074920" cy="658368"/>
          </a:xfrm>
          <a:prstGeom prst="roundRect">
            <a:avLst>
              <a:gd name="adj" fmla="val 8333"/>
            </a:avLst>
          </a:prstGeom>
          <a:solidFill>
            <a:srgbClr val="C8952B"/>
          </a:solidFill>
          <a:ln w="12700">
            <a:solidFill>
              <a:srgbClr val="C8952B"/>
            </a:solidFill>
            <a:prstDash val="solid"/>
          </a:ln>
        </p:spPr>
      </p:sp>
      <p:sp>
        <p:nvSpPr>
          <p:cNvPr id="11" name="Text 9"/>
          <p:cNvSpPr txBox="1"/>
          <p:nvPr/>
        </p:nvSpPr>
        <p:spPr>
          <a:xfrm>
            <a:off x="566928" y="2377440"/>
            <a:ext cx="5074920" cy="658368"/>
          </a:xfrm>
          <a:prstGeom prst="rect">
            <a:avLst/>
          </a:prstGeom>
          <a:noFill/>
          <a:ln/>
        </p:spPr>
        <p:txBody>
          <a:bodyPr wrap="square" lIns="0" tIns="0" rIns="0" bIns="0" rtlCol="0" anchor="ctr"/>
          <a:lstStyle/>
          <a:p>
            <a:pPr algn="ctr" indent="0" marL="0">
              <a:buNone/>
            </a:pPr>
            <a:r>
              <a:rPr lang="en-US" sz="1250" b="1" dirty="0">
                <a:solidFill>
                  <a:srgbClr val="102437"/>
                </a:solidFill>
                <a:latin typeface="Calibri" pitchFamily="34" charset="0"/>
                <a:ea typeface="Calibri" pitchFamily="34" charset="-122"/>
                <a:cs typeface="Calibri" pitchFamily="34" charset="-120"/>
              </a:rPr>
              <a:t>REST admin API  ·  TLS, sessions, tokens</a:t>
            </a:r>
            <a:endParaRPr lang="en-US" sz="1250" dirty="0"/>
          </a:p>
        </p:txBody>
      </p:sp>
      <p:sp>
        <p:nvSpPr>
          <p:cNvPr id="12" name="Shape 10"/>
          <p:cNvSpPr/>
          <p:nvPr/>
        </p:nvSpPr>
        <p:spPr>
          <a:xfrm>
            <a:off x="6556248" y="2377440"/>
            <a:ext cx="5074920" cy="658368"/>
          </a:xfrm>
          <a:prstGeom prst="roundRect">
            <a:avLst>
              <a:gd name="adj" fmla="val 8333"/>
            </a:avLst>
          </a:prstGeom>
          <a:solidFill>
            <a:srgbClr val="2E6DA4"/>
          </a:solidFill>
          <a:ln w="12700">
            <a:solidFill>
              <a:srgbClr val="2E6DA4"/>
            </a:solidFill>
            <a:prstDash val="solid"/>
          </a:ln>
        </p:spPr>
      </p:sp>
      <p:sp>
        <p:nvSpPr>
          <p:cNvPr id="13" name="Text 11"/>
          <p:cNvSpPr txBox="1"/>
          <p:nvPr/>
        </p:nvSpPr>
        <p:spPr>
          <a:xfrm>
            <a:off x="6556248" y="2377440"/>
            <a:ext cx="5074920" cy="65836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KMIP server  ·  TTLV over TLS</a:t>
            </a:r>
            <a:endParaRPr lang="en-US" sz="1250" dirty="0"/>
          </a:p>
        </p:txBody>
      </p:sp>
      <p:sp>
        <p:nvSpPr>
          <p:cNvPr id="14" name="Shape 12"/>
          <p:cNvSpPr/>
          <p:nvPr/>
        </p:nvSpPr>
        <p:spPr>
          <a:xfrm>
            <a:off x="3099816" y="3054096"/>
            <a:ext cx="0" cy="274320"/>
          </a:xfrm>
          <a:prstGeom prst="line">
            <a:avLst/>
          </a:prstGeom>
          <a:noFill/>
          <a:ln w="19050">
            <a:solidFill>
              <a:srgbClr val="2E6DA4"/>
            </a:solidFill>
            <a:prstDash val="solid"/>
            <a:tailEnd type="triangle"/>
          </a:ln>
        </p:spPr>
      </p:sp>
      <p:sp>
        <p:nvSpPr>
          <p:cNvPr id="15" name="Shape 13"/>
          <p:cNvSpPr/>
          <p:nvPr/>
        </p:nvSpPr>
        <p:spPr>
          <a:xfrm>
            <a:off x="9089136" y="3054096"/>
            <a:ext cx="0" cy="274320"/>
          </a:xfrm>
          <a:prstGeom prst="line">
            <a:avLst/>
          </a:prstGeom>
          <a:noFill/>
          <a:ln w="19050">
            <a:solidFill>
              <a:srgbClr val="2E6DA4"/>
            </a:solidFill>
            <a:prstDash val="solid"/>
            <a:tailEnd type="triangle"/>
          </a:ln>
        </p:spPr>
      </p:sp>
      <p:sp>
        <p:nvSpPr>
          <p:cNvPr id="16" name="Shape 14"/>
          <p:cNvSpPr/>
          <p:nvPr/>
        </p:nvSpPr>
        <p:spPr>
          <a:xfrm>
            <a:off x="566928" y="3383280"/>
            <a:ext cx="11027664" cy="786384"/>
          </a:xfrm>
          <a:prstGeom prst="roundRect">
            <a:avLst>
              <a:gd name="adj" fmla="val 6977"/>
            </a:avLst>
          </a:prstGeom>
          <a:solidFill>
            <a:srgbClr val="1A3A5C"/>
          </a:solidFill>
          <a:ln w="12700">
            <a:solidFill>
              <a:srgbClr val="1A3A5C"/>
            </a:solidFill>
            <a:prstDash val="solid"/>
          </a:ln>
        </p:spPr>
      </p:sp>
      <p:sp>
        <p:nvSpPr>
          <p:cNvPr id="17" name="Text 15"/>
          <p:cNvSpPr txBox="1"/>
          <p:nvPr/>
        </p:nvSpPr>
        <p:spPr>
          <a:xfrm>
            <a:off x="566928" y="3383280"/>
            <a:ext cx="11027664" cy="7863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Service layer  —  role allowlist · dual control · audit · metrics</a:t>
            </a:r>
            <a:endParaRPr lang="en-US" sz="1400" dirty="0"/>
          </a:p>
        </p:txBody>
      </p:sp>
      <p:sp>
        <p:nvSpPr>
          <p:cNvPr id="18" name="Text 16"/>
          <p:cNvSpPr txBox="1"/>
          <p:nvPr/>
        </p:nvSpPr>
        <p:spPr>
          <a:xfrm>
            <a:off x="566928" y="4187952"/>
            <a:ext cx="11027664" cy="256032"/>
          </a:xfrm>
          <a:prstGeom prst="rect">
            <a:avLst/>
          </a:prstGeom>
          <a:noFill/>
          <a:ln/>
        </p:spPr>
        <p:txBody>
          <a:bodyPr wrap="square" lIns="0" tIns="0" rIns="0" bIns="0" rtlCol="0" anchor="ctr"/>
          <a:lstStyle/>
          <a:p>
            <a:pPr algn="ctr" indent="0" marL="0">
              <a:buNone/>
            </a:pPr>
            <a:r>
              <a:rPr lang="en-US" sz="1100" i="1" dirty="0">
                <a:solidFill>
                  <a:srgbClr val="7B8794"/>
                </a:solidFill>
                <a:latin typeface="Calibri" pitchFamily="34" charset="0"/>
                <a:ea typeface="Calibri" pitchFamily="34" charset="-122"/>
                <a:cs typeface="Calibri" pitchFamily="34" charset="-120"/>
              </a:rPr>
              <a:t>every call, both transports, one implementation</a:t>
            </a:r>
            <a:endParaRPr lang="en-US" sz="1100" dirty="0"/>
          </a:p>
        </p:txBody>
      </p:sp>
      <p:sp>
        <p:nvSpPr>
          <p:cNvPr id="19" name="Shape 17"/>
          <p:cNvSpPr/>
          <p:nvPr/>
        </p:nvSpPr>
        <p:spPr>
          <a:xfrm>
            <a:off x="6080760" y="4462272"/>
            <a:ext cx="0" cy="237744"/>
          </a:xfrm>
          <a:prstGeom prst="line">
            <a:avLst/>
          </a:prstGeom>
          <a:noFill/>
          <a:ln w="19050">
            <a:solidFill>
              <a:srgbClr val="2E6DA4"/>
            </a:solidFill>
            <a:prstDash val="solid"/>
            <a:tailEnd type="triangle"/>
          </a:ln>
        </p:spPr>
      </p:sp>
      <p:sp>
        <p:nvSpPr>
          <p:cNvPr id="20" name="Shape 18"/>
          <p:cNvSpPr/>
          <p:nvPr/>
        </p:nvSpPr>
        <p:spPr>
          <a:xfrm>
            <a:off x="566928" y="4736592"/>
            <a:ext cx="5074920" cy="530352"/>
          </a:xfrm>
          <a:prstGeom prst="roundRect">
            <a:avLst>
              <a:gd name="adj" fmla="val 10345"/>
            </a:avLst>
          </a:prstGeom>
          <a:solidFill>
            <a:srgbClr val="102437"/>
          </a:solidFill>
          <a:ln w="12700">
            <a:solidFill>
              <a:srgbClr val="102437"/>
            </a:solidFill>
            <a:prstDash val="solid"/>
          </a:ln>
        </p:spPr>
      </p:sp>
      <p:sp>
        <p:nvSpPr>
          <p:cNvPr id="21" name="Text 19"/>
          <p:cNvSpPr txBox="1"/>
          <p:nvPr/>
        </p:nvSpPr>
        <p:spPr>
          <a:xfrm>
            <a:off x="566928" y="4736592"/>
            <a:ext cx="5074920" cy="53035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Operation handlers  →  PKCS#11 token</a:t>
            </a:r>
            <a:endParaRPr lang="en-US" sz="1250" dirty="0"/>
          </a:p>
        </p:txBody>
      </p:sp>
      <p:sp>
        <p:nvSpPr>
          <p:cNvPr id="22" name="Shape 20"/>
          <p:cNvSpPr/>
          <p:nvPr/>
        </p:nvSpPr>
        <p:spPr>
          <a:xfrm>
            <a:off x="6556248" y="4736592"/>
            <a:ext cx="5074920" cy="530352"/>
          </a:xfrm>
          <a:prstGeom prst="roundRect">
            <a:avLst>
              <a:gd name="adj" fmla="val 10345"/>
            </a:avLst>
          </a:prstGeom>
          <a:solidFill>
            <a:srgbClr val="102437"/>
          </a:solidFill>
          <a:ln w="12700">
            <a:solidFill>
              <a:srgbClr val="102437"/>
            </a:solidFill>
            <a:prstDash val="solid"/>
          </a:ln>
        </p:spPr>
      </p:sp>
      <p:sp>
        <p:nvSpPr>
          <p:cNvPr id="23" name="Text 21"/>
          <p:cNvSpPr txBox="1"/>
          <p:nvPr/>
        </p:nvSpPr>
        <p:spPr>
          <a:xfrm>
            <a:off x="6556248" y="4736592"/>
            <a:ext cx="5074920" cy="53035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Metadata store  ·  audit chain</a:t>
            </a:r>
            <a:endParaRPr lang="en-US" sz="1250" dirty="0"/>
          </a:p>
        </p:txBody>
      </p:sp>
      <p:sp>
        <p:nvSpPr>
          <p:cNvPr id="24" name="Shape 22"/>
          <p:cNvSpPr/>
          <p:nvPr/>
        </p:nvSpPr>
        <p:spPr>
          <a:xfrm>
            <a:off x="566928" y="5486400"/>
            <a:ext cx="11027664" cy="749808"/>
          </a:xfrm>
          <a:prstGeom prst="roundRect">
            <a:avLst>
              <a:gd name="adj" fmla="val 7317"/>
            </a:avLst>
          </a:prstGeom>
          <a:solidFill>
            <a:srgbClr val="E8EFF6"/>
          </a:solidFill>
          <a:ln w="12700">
            <a:solidFill>
              <a:srgbClr val="E8EFF6"/>
            </a:solidFill>
            <a:prstDash val="solid"/>
          </a:ln>
        </p:spPr>
      </p:sp>
      <p:sp>
        <p:nvSpPr>
          <p:cNvPr id="25" name="Text 23"/>
          <p:cNvSpPr txBox="1"/>
          <p:nvPr/>
        </p:nvSpPr>
        <p:spPr>
          <a:xfrm>
            <a:off x="804672" y="5687568"/>
            <a:ext cx="10552176" cy="384048"/>
          </a:xfrm>
          <a:prstGeom prst="rect">
            <a:avLst/>
          </a:prstGeom>
          <a:noFill/>
          <a:ln/>
        </p:spPr>
        <p:txBody>
          <a:bodyPr wrap="square" lIns="0" tIns="0" rIns="0" bIns="0" rtlCol="0" anchor="t"/>
          <a:lstStyle/>
          <a:p>
            <a:pPr indent="0" marL="0">
              <a:lnSpc>
                <a:spcPts val="1700"/>
              </a:lnSpc>
              <a:buNone/>
            </a:pPr>
            <a:r>
              <a:rPr lang="en-US" sz="1250" dirty="0">
                <a:solidFill>
                  <a:srgbClr val="1A3A5C"/>
                </a:solidFill>
                <a:latin typeface="Calibri" pitchFamily="34" charset="0"/>
                <a:ea typeface="Calibri" pitchFamily="34" charset="-122"/>
                <a:cs typeface="Calibri" pitchFamily="34" charset="-120"/>
              </a:rPr>
              <a:t>Endpoints:  sessions and identity  ·  keys and lifecycle  ·  grants, groups, roles  ·  approval queue  ·  audit search  ·  cryptoperiod and expiry reports  ·  backups.        No encrypt, decrypt or sign over REST in v1 — deliberately.</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27664" cy="237744"/>
          </a:xfrm>
          <a:prstGeom prst="rect">
            <a:avLst/>
          </a:prstGeom>
          <a:noFill/>
          <a:ln/>
        </p:spPr>
        <p:txBody>
          <a:bodyPr wrap="square" lIns="0" tIns="0" rIns="0" bIns="0" rtlCol="0" anchor="ctr"/>
          <a:lstStyle/>
          <a:p>
            <a:pPr indent="0" marL="0">
              <a:buNone/>
            </a:pPr>
            <a:r>
              <a:rPr lang="en-US" sz="1150" b="1" spc="220" kern="0" dirty="0">
                <a:solidFill>
                  <a:srgbClr val="C8952B"/>
                </a:solidFill>
                <a:latin typeface="Calibri" pitchFamily="34" charset="0"/>
                <a:ea typeface="Calibri" pitchFamily="34" charset="-122"/>
                <a:cs typeface="Calibri" pitchFamily="34" charset="-120"/>
              </a:rPr>
              <a:t>GAP ANALYSIS · 1 OF 3</a:t>
            </a:r>
            <a:endParaRPr lang="en-US" sz="1150" dirty="0"/>
          </a:p>
        </p:txBody>
      </p:sp>
      <p:sp>
        <p:nvSpPr>
          <p:cNvPr id="3" name="Text 1"/>
          <p:cNvSpPr txBox="1"/>
          <p:nvPr/>
        </p:nvSpPr>
        <p:spPr>
          <a:xfrm>
            <a:off x="566928" y="621792"/>
            <a:ext cx="11027664" cy="658368"/>
          </a:xfrm>
          <a:prstGeom prst="rect">
            <a:avLst/>
          </a:prstGeom>
          <a:noFill/>
          <a:ln/>
        </p:spPr>
        <p:txBody>
          <a:bodyPr wrap="square" lIns="0" tIns="0" rIns="0" bIns="0" rtlCol="0" anchor="ctr"/>
          <a:lstStyle/>
          <a:p>
            <a:pPr indent="0" marL="0">
              <a:buNone/>
            </a:pPr>
            <a:r>
              <a:rPr lang="en-US" sz="3400" b="1" dirty="0">
                <a:solidFill>
                  <a:srgbClr val="1A3A5C"/>
                </a:solidFill>
                <a:latin typeface="Cambria" pitchFamily="34" charset="0"/>
                <a:ea typeface="Cambria" pitchFamily="34" charset="-122"/>
                <a:cs typeface="Cambria" pitchFamily="34" charset="-120"/>
              </a:rPr>
              <a:t>74 features the market expects</a:t>
            </a:r>
            <a:endParaRPr lang="en-US" sz="3400" dirty="0"/>
          </a:p>
        </p:txBody>
      </p:sp>
      <p:sp>
        <p:nvSpPr>
          <p:cNvPr id="4" name="Text 2"/>
          <p:cNvSpPr txBox="1"/>
          <p:nvPr/>
        </p:nvSpPr>
        <p:spPr>
          <a:xfrm>
            <a:off x="566928" y="1517904"/>
            <a:ext cx="2651760" cy="603504"/>
          </a:xfrm>
          <a:prstGeom prst="rect">
            <a:avLst/>
          </a:prstGeom>
          <a:noFill/>
          <a:ln/>
        </p:spPr>
        <p:txBody>
          <a:bodyPr wrap="square" lIns="0" tIns="0" rIns="0" bIns="0" rtlCol="0" anchor="ctr"/>
          <a:lstStyle/>
          <a:p>
            <a:pPr indent="0" marL="0">
              <a:buNone/>
            </a:pPr>
            <a:r>
              <a:rPr lang="en-US" sz="4000" b="1" dirty="0">
                <a:solidFill>
                  <a:srgbClr val="1F7A43"/>
                </a:solidFill>
                <a:latin typeface="Cambria" pitchFamily="34" charset="0"/>
                <a:ea typeface="Cambria" pitchFamily="34" charset="-122"/>
                <a:cs typeface="Cambria" pitchFamily="34" charset="-120"/>
              </a:rPr>
              <a:t>32</a:t>
            </a:r>
            <a:endParaRPr lang="en-US" sz="4000" dirty="0"/>
          </a:p>
        </p:txBody>
      </p:sp>
      <p:sp>
        <p:nvSpPr>
          <p:cNvPr id="5" name="Text 3"/>
          <p:cNvSpPr txBox="1"/>
          <p:nvPr/>
        </p:nvSpPr>
        <p:spPr>
          <a:xfrm>
            <a:off x="566928" y="2121408"/>
            <a:ext cx="2651760" cy="402336"/>
          </a:xfrm>
          <a:prstGeom prst="rect">
            <a:avLst/>
          </a:prstGeom>
          <a:noFill/>
          <a:ln/>
        </p:spPr>
        <p:txBody>
          <a:bodyPr wrap="square" lIns="0" tIns="0" rIns="0" bIns="0" rtlCol="0" anchor="ctr"/>
          <a:lstStyle/>
          <a:p>
            <a:pPr indent="0" marL="0">
              <a:buNone/>
            </a:pPr>
            <a:r>
              <a:rPr lang="en-US" sz="1150" dirty="0">
                <a:solidFill>
                  <a:srgbClr val="7B8794"/>
                </a:solidFill>
                <a:latin typeface="Calibri" pitchFamily="34" charset="0"/>
                <a:ea typeface="Calibri" pitchFamily="34" charset="-122"/>
                <a:cs typeface="Calibri" pitchFamily="34" charset="-120"/>
              </a:rPr>
              <a:t>covered</a:t>
            </a:r>
            <a:endParaRPr lang="en-US" sz="1150" dirty="0"/>
          </a:p>
        </p:txBody>
      </p:sp>
      <p:sp>
        <p:nvSpPr>
          <p:cNvPr id="6" name="Text 4"/>
          <p:cNvSpPr txBox="1"/>
          <p:nvPr/>
        </p:nvSpPr>
        <p:spPr>
          <a:xfrm>
            <a:off x="3328416" y="1517904"/>
            <a:ext cx="2651760" cy="603504"/>
          </a:xfrm>
          <a:prstGeom prst="rect">
            <a:avLst/>
          </a:prstGeom>
          <a:noFill/>
          <a:ln/>
        </p:spPr>
        <p:txBody>
          <a:bodyPr wrap="square" lIns="0" tIns="0" rIns="0" bIns="0" rtlCol="0" anchor="ctr"/>
          <a:lstStyle/>
          <a:p>
            <a:pPr indent="0" marL="0">
              <a:buNone/>
            </a:pPr>
            <a:r>
              <a:rPr lang="en-US" sz="4000" b="1" dirty="0">
                <a:solidFill>
                  <a:srgbClr val="9A6410"/>
                </a:solidFill>
                <a:latin typeface="Cambria" pitchFamily="34" charset="0"/>
                <a:ea typeface="Cambria" pitchFamily="34" charset="-122"/>
                <a:cs typeface="Cambria" pitchFamily="34" charset="-120"/>
              </a:rPr>
              <a:t>16</a:t>
            </a:r>
            <a:endParaRPr lang="en-US" sz="4000" dirty="0"/>
          </a:p>
        </p:txBody>
      </p:sp>
      <p:sp>
        <p:nvSpPr>
          <p:cNvPr id="7" name="Text 5"/>
          <p:cNvSpPr txBox="1"/>
          <p:nvPr/>
        </p:nvSpPr>
        <p:spPr>
          <a:xfrm>
            <a:off x="3328416" y="2121408"/>
            <a:ext cx="2651760" cy="402336"/>
          </a:xfrm>
          <a:prstGeom prst="rect">
            <a:avLst/>
          </a:prstGeom>
          <a:noFill/>
          <a:ln/>
        </p:spPr>
        <p:txBody>
          <a:bodyPr wrap="square" lIns="0" tIns="0" rIns="0" bIns="0" rtlCol="0" anchor="ctr"/>
          <a:lstStyle/>
          <a:p>
            <a:pPr indent="0" marL="0">
              <a:buNone/>
            </a:pPr>
            <a:r>
              <a:rPr lang="en-US" sz="1150" dirty="0">
                <a:solidFill>
                  <a:srgbClr val="7B8794"/>
                </a:solidFill>
                <a:latin typeface="Calibri" pitchFamily="34" charset="0"/>
                <a:ea typeface="Calibri" pitchFamily="34" charset="-122"/>
                <a:cs typeface="Calibri" pitchFamily="34" charset="-120"/>
              </a:rPr>
              <a:t>partial</a:t>
            </a:r>
            <a:endParaRPr lang="en-US" sz="1150" dirty="0"/>
          </a:p>
        </p:txBody>
      </p:sp>
      <p:sp>
        <p:nvSpPr>
          <p:cNvPr id="8" name="Text 6"/>
          <p:cNvSpPr txBox="1"/>
          <p:nvPr/>
        </p:nvSpPr>
        <p:spPr>
          <a:xfrm>
            <a:off x="6089904" y="1517904"/>
            <a:ext cx="2651760" cy="603504"/>
          </a:xfrm>
          <a:prstGeom prst="rect">
            <a:avLst/>
          </a:prstGeom>
          <a:noFill/>
          <a:ln/>
        </p:spPr>
        <p:txBody>
          <a:bodyPr wrap="square" lIns="0" tIns="0" rIns="0" bIns="0" rtlCol="0" anchor="ctr"/>
          <a:lstStyle/>
          <a:p>
            <a:pPr indent="0" marL="0">
              <a:buNone/>
            </a:pPr>
            <a:r>
              <a:rPr lang="en-US" sz="4000" b="1" dirty="0">
                <a:solidFill>
                  <a:srgbClr val="B3261E"/>
                </a:solidFill>
                <a:latin typeface="Cambria" pitchFamily="34" charset="0"/>
                <a:ea typeface="Cambria" pitchFamily="34" charset="-122"/>
                <a:cs typeface="Cambria" pitchFamily="34" charset="-120"/>
              </a:rPr>
              <a:t>26</a:t>
            </a:r>
            <a:endParaRPr lang="en-US" sz="4000" dirty="0"/>
          </a:p>
        </p:txBody>
      </p:sp>
      <p:sp>
        <p:nvSpPr>
          <p:cNvPr id="9" name="Text 7"/>
          <p:cNvSpPr txBox="1"/>
          <p:nvPr/>
        </p:nvSpPr>
        <p:spPr>
          <a:xfrm>
            <a:off x="6089904" y="2121408"/>
            <a:ext cx="2651760" cy="402336"/>
          </a:xfrm>
          <a:prstGeom prst="rect">
            <a:avLst/>
          </a:prstGeom>
          <a:noFill/>
          <a:ln/>
        </p:spPr>
        <p:txBody>
          <a:bodyPr wrap="square" lIns="0" tIns="0" rIns="0" bIns="0" rtlCol="0" anchor="ctr"/>
          <a:lstStyle/>
          <a:p>
            <a:pPr indent="0" marL="0">
              <a:buNone/>
            </a:pPr>
            <a:r>
              <a:rPr lang="en-US" sz="1150" dirty="0">
                <a:solidFill>
                  <a:srgbClr val="7B8794"/>
                </a:solidFill>
                <a:latin typeface="Calibri" pitchFamily="34" charset="0"/>
                <a:ea typeface="Calibri" pitchFamily="34" charset="-122"/>
                <a:cs typeface="Calibri" pitchFamily="34" charset="-120"/>
              </a:rPr>
              <a:t>not covered</a:t>
            </a:r>
            <a:endParaRPr lang="en-US" sz="1150" dirty="0"/>
          </a:p>
        </p:txBody>
      </p:sp>
      <p:sp>
        <p:nvSpPr>
          <p:cNvPr id="10" name="Text 8"/>
          <p:cNvSpPr txBox="1"/>
          <p:nvPr/>
        </p:nvSpPr>
        <p:spPr>
          <a:xfrm>
            <a:off x="8851392" y="1517904"/>
            <a:ext cx="2743200" cy="603504"/>
          </a:xfrm>
          <a:prstGeom prst="rect">
            <a:avLst/>
          </a:prstGeom>
          <a:noFill/>
          <a:ln/>
        </p:spPr>
        <p:txBody>
          <a:bodyPr wrap="square" lIns="0" tIns="0" rIns="0" bIns="0" rtlCol="0" anchor="ctr"/>
          <a:lstStyle/>
          <a:p>
            <a:pPr indent="0" marL="0">
              <a:buNone/>
            </a:pPr>
            <a:r>
              <a:rPr lang="en-US" sz="4000" b="1" dirty="0">
                <a:solidFill>
                  <a:srgbClr val="2E6DA4"/>
                </a:solidFill>
                <a:latin typeface="Cambria" pitchFamily="34" charset="0"/>
                <a:ea typeface="Cambria" pitchFamily="34" charset="-122"/>
                <a:cs typeface="Cambria" pitchFamily="34" charset="-120"/>
              </a:rPr>
              <a:t>19</a:t>
            </a:r>
            <a:endParaRPr lang="en-US" sz="4000" dirty="0"/>
          </a:p>
        </p:txBody>
      </p:sp>
      <p:sp>
        <p:nvSpPr>
          <p:cNvPr id="11" name="Text 9"/>
          <p:cNvSpPr txBox="1"/>
          <p:nvPr/>
        </p:nvSpPr>
        <p:spPr>
          <a:xfrm>
            <a:off x="8851392" y="2121408"/>
            <a:ext cx="2743200" cy="402336"/>
          </a:xfrm>
          <a:prstGeom prst="rect">
            <a:avLst/>
          </a:prstGeom>
          <a:noFill/>
          <a:ln/>
        </p:spPr>
        <p:txBody>
          <a:bodyPr wrap="square" lIns="0" tIns="0" rIns="0" bIns="0" rtlCol="0" anchor="ctr"/>
          <a:lstStyle/>
          <a:p>
            <a:pPr indent="0" marL="0">
              <a:buNone/>
            </a:pPr>
            <a:r>
              <a:rPr lang="en-US" sz="1150" dirty="0">
                <a:solidFill>
                  <a:srgbClr val="7B8794"/>
                </a:solidFill>
                <a:latin typeface="Calibri" pitchFamily="34" charset="0"/>
                <a:ea typeface="Calibri" pitchFamily="34" charset="-122"/>
                <a:cs typeface="Calibri" pitchFamily="34" charset="-120"/>
              </a:rPr>
              <a:t>cannot be closed in KMIP</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3017520"/>
          <a:ext cx="11027664" cy="914400"/>
        </p:xfrm>
        <a:graphic>
          <a:graphicData uri="http://schemas.openxmlformats.org/drawingml/2006/table">
            <a:tbl>
              <a:tblPr/>
              <a:tblGrid>
                <a:gridCol w="4809744"/>
                <a:gridCol w="1554480"/>
                <a:gridCol w="1554480"/>
                <a:gridCol w="1554480"/>
                <a:gridCol w="15544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Domain</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1A3A5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Features</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1A3A5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Covered</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1A3A5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1A3A5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1A3A5C"/>
                    </a:solidFill>
                  </a:tcPr>
                </a:tc>
              </a:tr>
              <a:tr h="310896">
                <a:tc>
                  <a:txBody>
                    <a:bodyPr/>
                    <a:lstStyle/>
                    <a:p>
                      <a:pPr indent="0" marL="0">
                        <a:buNone/>
                      </a:pPr>
                      <a:r>
                        <a:rPr lang="en-US" sz="1200" dirty="0">
                          <a:solidFill>
                            <a:srgbClr val="16202B"/>
                          </a:solidFill>
                          <a:latin typeface="Calibri" pitchFamily="34" charset="0"/>
                          <a:ea typeface="Calibri" pitchFamily="34" charset="-122"/>
                          <a:cs typeface="Calibri" pitchFamily="34" charset="-120"/>
                        </a:rPr>
                        <a:t>Key lifecycle and cryptography</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c>
                  <a:txBody>
                    <a:bodyPr/>
                    <a:lstStyle/>
                    <a:p>
                      <a:pPr algn="ctr" indent="0" marL="0">
                        <a:buNone/>
                      </a:pPr>
                      <a:r>
                        <a:rPr lang="en-US" sz="1200" dirty="0">
                          <a:solidFill>
                            <a:srgbClr val="4D5A68"/>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c>
                  <a:txBody>
                    <a:bodyPr/>
                    <a:lstStyle/>
                    <a:p>
                      <a:pPr algn="ctr" indent="0" marL="0">
                        <a:buNone/>
                      </a:pPr>
                      <a:r>
                        <a:rPr lang="en-US" sz="1200" b="1" dirty="0">
                          <a:solidFill>
                            <a:srgbClr val="1F7A43"/>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c>
                  <a:txBody>
                    <a:bodyPr/>
                    <a:lstStyle/>
                    <a:p>
                      <a:pPr algn="ctr" indent="0" marL="0">
                        <a:buNone/>
                      </a:pPr>
                      <a:r>
                        <a:rPr lang="en-US" sz="1200" dirty="0">
                          <a:solidFill>
                            <a:srgbClr val="9A641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c>
                  <a:txBody>
                    <a:bodyPr/>
                    <a:lstStyle/>
                    <a:p>
                      <a:pPr algn="ctr" indent="0" marL="0">
                        <a:buNone/>
                      </a:pPr>
                      <a:r>
                        <a:rPr lang="en-US" sz="1200" b="1" dirty="0">
                          <a:solidFill>
                            <a:srgbClr val="B3261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r>
              <a:tr h="310896">
                <a:tc>
                  <a:txBody>
                    <a:bodyPr/>
                    <a:lstStyle/>
                    <a:p>
                      <a:pPr indent="0" marL="0">
                        <a:buNone/>
                      </a:pPr>
                      <a:r>
                        <a:rPr lang="en-US" sz="1200" dirty="0">
                          <a:solidFill>
                            <a:srgbClr val="16202B"/>
                          </a:solidFill>
                          <a:latin typeface="Calibri" pitchFamily="34" charset="0"/>
                          <a:ea typeface="Calibri" pitchFamily="34" charset="-122"/>
                          <a:cs typeface="Calibri" pitchFamily="34" charset="-120"/>
                        </a:rPr>
                        <a:t>Protocol and ecosystem integration</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D5A68"/>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7A4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9A641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3261E"/>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6202B"/>
                          </a:solidFill>
                          <a:latin typeface="Calibri" pitchFamily="34" charset="0"/>
                          <a:ea typeface="Calibri" pitchFamily="34" charset="-122"/>
                          <a:cs typeface="Calibri" pitchFamily="34" charset="-120"/>
                        </a:rPr>
                        <a:t>Identity and access control</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c>
                  <a:txBody>
                    <a:bodyPr/>
                    <a:lstStyle/>
                    <a:p>
                      <a:pPr algn="ctr" indent="0" marL="0">
                        <a:buNone/>
                      </a:pPr>
                      <a:r>
                        <a:rPr lang="en-US" sz="1200" dirty="0">
                          <a:solidFill>
                            <a:srgbClr val="4D5A68"/>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c>
                  <a:txBody>
                    <a:bodyPr/>
                    <a:lstStyle/>
                    <a:p>
                      <a:pPr algn="ctr" indent="0" marL="0">
                        <a:buNone/>
                      </a:pPr>
                      <a:r>
                        <a:rPr lang="en-US" sz="1200" b="1" dirty="0">
                          <a:solidFill>
                            <a:srgbClr val="1F7A43"/>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c>
                  <a:txBody>
                    <a:bodyPr/>
                    <a:lstStyle/>
                    <a:p>
                      <a:pPr algn="ctr" indent="0" marL="0">
                        <a:buNone/>
                      </a:pPr>
                      <a:r>
                        <a:rPr lang="en-US" sz="1200" dirty="0">
                          <a:solidFill>
                            <a:srgbClr val="9A641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c>
                  <a:txBody>
                    <a:bodyPr/>
                    <a:lstStyle/>
                    <a:p>
                      <a:pPr algn="ctr" indent="0" marL="0">
                        <a:buNone/>
                      </a:pPr>
                      <a:r>
                        <a:rPr lang="en-US" sz="1200" b="1" dirty="0">
                          <a:solidFill>
                            <a:srgbClr val="B3261E"/>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r>
              <a:tr h="310896">
                <a:tc>
                  <a:txBody>
                    <a:bodyPr/>
                    <a:lstStyle/>
                    <a:p>
                      <a:pPr indent="0" marL="0">
                        <a:buNone/>
                      </a:pPr>
                      <a:r>
                        <a:rPr lang="en-US" sz="1200" dirty="0">
                          <a:solidFill>
                            <a:srgbClr val="16202B"/>
                          </a:solidFill>
                          <a:latin typeface="Calibri" pitchFamily="34" charset="0"/>
                          <a:ea typeface="Calibri" pitchFamily="34" charset="-122"/>
                          <a:cs typeface="Calibri" pitchFamily="34" charset="-120"/>
                        </a:rPr>
                        <a:t>Audit, compliance and assurance</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D5A68"/>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7A43"/>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9A641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3261E"/>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6202B"/>
                          </a:solidFill>
                          <a:latin typeface="Calibri" pitchFamily="34" charset="0"/>
                          <a:ea typeface="Calibri" pitchFamily="34" charset="-122"/>
                          <a:cs typeface="Calibri" pitchFamily="34" charset="-120"/>
                        </a:rPr>
                        <a:t>Availability, scale and recovery</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c>
                  <a:txBody>
                    <a:bodyPr/>
                    <a:lstStyle/>
                    <a:p>
                      <a:pPr algn="ctr" indent="0" marL="0">
                        <a:buNone/>
                      </a:pPr>
                      <a:r>
                        <a:rPr lang="en-US" sz="1200" dirty="0">
                          <a:solidFill>
                            <a:srgbClr val="4D5A68"/>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c>
                  <a:txBody>
                    <a:bodyPr/>
                    <a:lstStyle/>
                    <a:p>
                      <a:pPr algn="ctr" indent="0" marL="0">
                        <a:buNone/>
                      </a:pPr>
                      <a:r>
                        <a:rPr lang="en-US" sz="1200" b="1" dirty="0">
                          <a:solidFill>
                            <a:srgbClr val="1F7A43"/>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c>
                  <a:txBody>
                    <a:bodyPr/>
                    <a:lstStyle/>
                    <a:p>
                      <a:pPr algn="ctr" indent="0" marL="0">
                        <a:buNone/>
                      </a:pPr>
                      <a:r>
                        <a:rPr lang="en-US" sz="1200" dirty="0">
                          <a:solidFill>
                            <a:srgbClr val="9A641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c>
                  <a:txBody>
                    <a:bodyPr/>
                    <a:lstStyle/>
                    <a:p>
                      <a:pPr algn="ctr" indent="0" marL="0">
                        <a:buNone/>
                      </a:pPr>
                      <a:r>
                        <a:rPr lang="en-US" sz="1200" b="1" dirty="0">
                          <a:solidFill>
                            <a:srgbClr val="B3261E"/>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r>
              <a:tr h="310896">
                <a:tc>
                  <a:txBody>
                    <a:bodyPr/>
                    <a:lstStyle/>
                    <a:p>
                      <a:pPr indent="0" marL="0">
                        <a:buNone/>
                      </a:pPr>
                      <a:r>
                        <a:rPr lang="en-US" sz="1200" dirty="0">
                          <a:solidFill>
                            <a:srgbClr val="16202B"/>
                          </a:solidFill>
                          <a:latin typeface="Calibri" pitchFamily="34" charset="0"/>
                          <a:ea typeface="Calibri" pitchFamily="34" charset="-122"/>
                          <a:cs typeface="Calibri" pitchFamily="34" charset="-120"/>
                        </a:rPr>
                        <a:t>Operations and observability</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D5A68"/>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7A43"/>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9A641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3261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6202B"/>
                          </a:solidFill>
                          <a:latin typeface="Calibri" pitchFamily="34" charset="0"/>
                          <a:ea typeface="Calibri" pitchFamily="34" charset="-122"/>
                          <a:cs typeface="Calibri" pitchFamily="34" charset="-120"/>
                        </a:rPr>
                        <a:t>Platform hardening</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c>
                  <a:txBody>
                    <a:bodyPr/>
                    <a:lstStyle/>
                    <a:p>
                      <a:pPr algn="ctr" indent="0" marL="0">
                        <a:buNone/>
                      </a:pPr>
                      <a:r>
                        <a:rPr lang="en-US" sz="1200" dirty="0">
                          <a:solidFill>
                            <a:srgbClr val="4D5A68"/>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c>
                  <a:txBody>
                    <a:bodyPr/>
                    <a:lstStyle/>
                    <a:p>
                      <a:pPr algn="ctr" indent="0" marL="0">
                        <a:buNone/>
                      </a:pPr>
                      <a:r>
                        <a:rPr lang="en-US" sz="1200" b="1" dirty="0">
                          <a:solidFill>
                            <a:srgbClr val="1F7A43"/>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c>
                  <a:txBody>
                    <a:bodyPr/>
                    <a:lstStyle/>
                    <a:p>
                      <a:pPr algn="ctr" indent="0" marL="0">
                        <a:buNone/>
                      </a:pPr>
                      <a:r>
                        <a:rPr lang="en-US" sz="1200" dirty="0">
                          <a:solidFill>
                            <a:srgbClr val="9A641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c>
                  <a:txBody>
                    <a:bodyPr/>
                    <a:lstStyle/>
                    <a:p>
                      <a:pPr algn="ctr" indent="0" marL="0">
                        <a:buNone/>
                      </a:pPr>
                      <a:r>
                        <a:rPr lang="en-US" sz="1200" b="1" dirty="0">
                          <a:solidFill>
                            <a:srgbClr val="B3261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E8EFF6"/>
                    </a:solidFill>
                  </a:tcPr>
                </a:tc>
              </a:tr>
              <a:tr h="310896">
                <a:tc>
                  <a:txBody>
                    <a:bodyPr/>
                    <a:lstStyle/>
                    <a:p>
                      <a:pPr indent="0" marL="0">
                        <a:buNone/>
                      </a:pPr>
                      <a:r>
                        <a:rPr lang="en-US" sz="1200" dirty="0">
                          <a:solidFill>
                            <a:srgbClr val="16202B"/>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D5A68"/>
                          </a:solidFill>
                          <a:latin typeface="Calibri" pitchFamily="34" charset="0"/>
                          <a:ea typeface="Calibri" pitchFamily="34" charset="-122"/>
                          <a:cs typeface="Calibri" pitchFamily="34" charset="-120"/>
                        </a:rPr>
                        <a:t>74</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7A43"/>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9A6410"/>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3261E"/>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91440" marR="91440" marT="45720" marB="45720" anchor="ctr">
                    <a:lnL w="6350" cap="flat" cmpd="sng" algn="ctr">
                      <a:solidFill>
                        <a:srgbClr val="D6DEE7"/>
                      </a:solidFill>
                      <a:prstDash val="solid"/>
                      <a:round/>
                      <a:headEnd type="none" w="med" len="med"/>
                      <a:tailEnd type="none" w="med" len="med"/>
                    </a:lnL>
                    <a:lnR w="6350" cap="flat" cmpd="sng" algn="ctr">
                      <a:solidFill>
                        <a:srgbClr val="D6DEE7"/>
                      </a:solidFill>
                      <a:prstDash val="solid"/>
                      <a:round/>
                      <a:headEnd type="none" w="med" len="med"/>
                      <a:tailEnd type="none" w="med" len="med"/>
                    </a:lnR>
                    <a:lnT w="6350" cap="flat" cmpd="sng" algn="ctr">
                      <a:solidFill>
                        <a:srgbClr val="D6DEE7"/>
                      </a:solidFill>
                      <a:prstDash val="solid"/>
                      <a:round/>
                      <a:headEnd type="none" w="med" len="med"/>
                      <a:tailEnd type="none" w="med" len="med"/>
                    </a:lnT>
                    <a:lnB w="6350" cap="flat" cmpd="sng" algn="ctr">
                      <a:solidFill>
                        <a:srgbClr val="D6DEE7"/>
                      </a:solidFill>
                      <a:prstDash val="solid"/>
                      <a:round/>
                      <a:headEnd type="none" w="med" len="med"/>
                      <a:tailEnd type="none" w="med" len="med"/>
                    </a:lnB>
                    <a:solidFill>
                      <a:srgbClr val="FFFFFF"/>
                    </a:solidFill>
                  </a:tcPr>
                </a:tc>
              </a:tr>
            </a:tbl>
          </a:graphicData>
        </a:graphic>
      </p:graphicFrame>
      <p:sp>
        <p:nvSpPr>
          <p:cNvPr id="13" name="Text 10"/>
          <p:cNvSpPr txBox="1"/>
          <p:nvPr/>
        </p:nvSpPr>
        <p:spPr>
          <a:xfrm>
            <a:off x="566928" y="6327648"/>
            <a:ext cx="11027664" cy="27432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Requirements drawn from Thales CipherTrust, Entrust KeyControl, Fortanix DSM, Utimaco ESKM and the cloud KMS services, plus NIST SP 800-57 and SP 800-152.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27664" cy="237744"/>
          </a:xfrm>
          <a:prstGeom prst="rect">
            <a:avLst/>
          </a:prstGeom>
          <a:noFill/>
          <a:ln/>
        </p:spPr>
        <p:txBody>
          <a:bodyPr wrap="square" lIns="0" tIns="0" rIns="0" bIns="0" rtlCol="0" anchor="ctr"/>
          <a:lstStyle/>
          <a:p>
            <a:pPr indent="0" marL="0">
              <a:buNone/>
            </a:pPr>
            <a:r>
              <a:rPr lang="en-US" sz="1150" b="1" spc="220" kern="0" dirty="0">
                <a:solidFill>
                  <a:srgbClr val="C8952B"/>
                </a:solidFill>
                <a:latin typeface="Calibri" pitchFamily="34" charset="0"/>
                <a:ea typeface="Calibri" pitchFamily="34" charset="-122"/>
                <a:cs typeface="Calibri" pitchFamily="34" charset="-120"/>
              </a:rPr>
              <a:t>GAP ANALYSIS · 2 OF 3</a:t>
            </a:r>
            <a:endParaRPr lang="en-US" sz="1150" dirty="0"/>
          </a:p>
        </p:txBody>
      </p:sp>
      <p:sp>
        <p:nvSpPr>
          <p:cNvPr id="3" name="Text 1"/>
          <p:cNvSpPr txBox="1"/>
          <p:nvPr/>
        </p:nvSpPr>
        <p:spPr>
          <a:xfrm>
            <a:off x="566928" y="621792"/>
            <a:ext cx="11027664" cy="658368"/>
          </a:xfrm>
          <a:prstGeom prst="rect">
            <a:avLst/>
          </a:prstGeom>
          <a:noFill/>
          <a:ln/>
        </p:spPr>
        <p:txBody>
          <a:bodyPr wrap="square" lIns="0" tIns="0" rIns="0" bIns="0" rtlCol="0" anchor="ctr"/>
          <a:lstStyle/>
          <a:p>
            <a:pPr indent="0" marL="0">
              <a:buNone/>
            </a:pPr>
            <a:r>
              <a:rPr lang="en-US" sz="3400" b="1" dirty="0">
                <a:solidFill>
                  <a:srgbClr val="1A3A5C"/>
                </a:solidFill>
                <a:latin typeface="Cambria" pitchFamily="34" charset="0"/>
                <a:ea typeface="Cambria" pitchFamily="34" charset="-122"/>
                <a:cs typeface="Cambria" pitchFamily="34" charset="-120"/>
              </a:rPr>
              <a:t>What holds up</a:t>
            </a:r>
            <a:endParaRPr lang="en-US" sz="3400" dirty="0"/>
          </a:p>
        </p:txBody>
      </p:sp>
      <p:sp>
        <p:nvSpPr>
          <p:cNvPr id="4" name="Shape 2"/>
          <p:cNvSpPr/>
          <p:nvPr/>
        </p:nvSpPr>
        <p:spPr>
          <a:xfrm>
            <a:off x="566928" y="1554480"/>
            <a:ext cx="3520440" cy="1920240"/>
          </a:xfrm>
          <a:prstGeom prst="roundRect">
            <a:avLst>
              <a:gd name="adj" fmla="val 2857"/>
            </a:avLst>
          </a:prstGeom>
          <a:solidFill>
            <a:srgbClr val="E2F0E7"/>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5" name="Text 3"/>
          <p:cNvSpPr txBox="1"/>
          <p:nvPr/>
        </p:nvSpPr>
        <p:spPr>
          <a:xfrm>
            <a:off x="804672" y="1755648"/>
            <a:ext cx="3044952" cy="310896"/>
          </a:xfrm>
          <a:prstGeom prst="rect">
            <a:avLst/>
          </a:prstGeom>
          <a:noFill/>
          <a:ln/>
        </p:spPr>
        <p:txBody>
          <a:bodyPr wrap="square" lIns="0" tIns="0" rIns="0" bIns="0" rtlCol="0" anchor="ctr"/>
          <a:lstStyle/>
          <a:p>
            <a:pPr indent="0" marL="0">
              <a:buNone/>
            </a:pPr>
            <a:r>
              <a:rPr lang="en-US" sz="1500" b="1" dirty="0">
                <a:solidFill>
                  <a:srgbClr val="1A3A5C"/>
                </a:solidFill>
                <a:latin typeface="Cambria" pitchFamily="34" charset="0"/>
                <a:ea typeface="Cambria" pitchFamily="34" charset="-122"/>
                <a:cs typeface="Cambria" pitchFamily="34" charset="-120"/>
              </a:rPr>
              <a:t>Cryptographic core</a:t>
            </a:r>
            <a:endParaRPr lang="en-US" sz="1500" dirty="0"/>
          </a:p>
        </p:txBody>
      </p:sp>
      <p:sp>
        <p:nvSpPr>
          <p:cNvPr id="6" name="Text 4"/>
          <p:cNvSpPr txBox="1"/>
          <p:nvPr/>
        </p:nvSpPr>
        <p:spPr>
          <a:xfrm>
            <a:off x="804672" y="2121408"/>
            <a:ext cx="3044952" cy="1188720"/>
          </a:xfrm>
          <a:prstGeom prst="rect">
            <a:avLst/>
          </a:prstGeom>
          <a:noFill/>
          <a:ln/>
        </p:spPr>
        <p:txBody>
          <a:bodyPr wrap="square" lIns="0" tIns="0" rIns="0" bIns="0" rtlCol="0" anchor="t"/>
          <a:lstStyle/>
          <a:p>
            <a:pPr indent="0" marL="0">
              <a:lnSpc>
                <a:spcPts val="1700"/>
              </a:lnSpc>
              <a:buNone/>
            </a:pPr>
            <a:r>
              <a:rPr lang="en-US" sz="1200" dirty="0">
                <a:solidFill>
                  <a:srgbClr val="4D5A68"/>
                </a:solidFill>
                <a:latin typeface="Calibri" pitchFamily="34" charset="0"/>
                <a:ea typeface="Calibri" pitchFamily="34" charset="-122"/>
                <a:cs typeface="Calibri" pitchFamily="34" charset="-120"/>
              </a:rPr>
              <a:t>41 of 53 operations, capability-probed against the token; keys never leave the HSM.</a:t>
            </a:r>
            <a:endParaRPr lang="en-US" sz="1200" dirty="0"/>
          </a:p>
        </p:txBody>
      </p:sp>
      <p:sp>
        <p:nvSpPr>
          <p:cNvPr id="7" name="Shape 5"/>
          <p:cNvSpPr/>
          <p:nvPr/>
        </p:nvSpPr>
        <p:spPr>
          <a:xfrm>
            <a:off x="4334256" y="1554480"/>
            <a:ext cx="3520440" cy="1920240"/>
          </a:xfrm>
          <a:prstGeom prst="roundRect">
            <a:avLst>
              <a:gd name="adj" fmla="val 2857"/>
            </a:avLst>
          </a:prstGeom>
          <a:solidFill>
            <a:srgbClr val="E2F0E7"/>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8" name="Text 6"/>
          <p:cNvSpPr txBox="1"/>
          <p:nvPr/>
        </p:nvSpPr>
        <p:spPr>
          <a:xfrm>
            <a:off x="4572000" y="1755648"/>
            <a:ext cx="3044952" cy="310896"/>
          </a:xfrm>
          <a:prstGeom prst="rect">
            <a:avLst/>
          </a:prstGeom>
          <a:noFill/>
          <a:ln/>
        </p:spPr>
        <p:txBody>
          <a:bodyPr wrap="square" lIns="0" tIns="0" rIns="0" bIns="0" rtlCol="0" anchor="ctr"/>
          <a:lstStyle/>
          <a:p>
            <a:pPr indent="0" marL="0">
              <a:buNone/>
            </a:pPr>
            <a:r>
              <a:rPr lang="en-US" sz="1500" b="1" dirty="0">
                <a:solidFill>
                  <a:srgbClr val="1A3A5C"/>
                </a:solidFill>
                <a:latin typeface="Cambria" pitchFamily="34" charset="0"/>
                <a:ea typeface="Cambria" pitchFamily="34" charset="-122"/>
                <a:cs typeface="Cambria" pitchFamily="34" charset="-120"/>
              </a:rPr>
              <a:t>Lifecycle and governance</a:t>
            </a:r>
            <a:endParaRPr lang="en-US" sz="1500" dirty="0"/>
          </a:p>
        </p:txBody>
      </p:sp>
      <p:sp>
        <p:nvSpPr>
          <p:cNvPr id="9" name="Text 7"/>
          <p:cNvSpPr txBox="1"/>
          <p:nvPr/>
        </p:nvSpPr>
        <p:spPr>
          <a:xfrm>
            <a:off x="4572000" y="2121408"/>
            <a:ext cx="3044952" cy="1188720"/>
          </a:xfrm>
          <a:prstGeom prst="rect">
            <a:avLst/>
          </a:prstGeom>
          <a:noFill/>
          <a:ln/>
        </p:spPr>
        <p:txBody>
          <a:bodyPr wrap="square" lIns="0" tIns="0" rIns="0" bIns="0" rtlCol="0" anchor="t"/>
          <a:lstStyle/>
          <a:p>
            <a:pPr indent="0" marL="0">
              <a:lnSpc>
                <a:spcPts val="1700"/>
              </a:lnSpc>
              <a:buNone/>
            </a:pPr>
            <a:r>
              <a:rPr lang="en-US" sz="1200" dirty="0">
                <a:solidFill>
                  <a:srgbClr val="4D5A68"/>
                </a:solidFill>
                <a:latin typeface="Calibri" pitchFamily="34" charset="0"/>
                <a:ea typeface="Calibri" pitchFamily="34" charset="-122"/>
                <a:cs typeface="Calibri" pitchFamily="34" charset="-120"/>
              </a:rPr>
              <a:t>State machine, cryptoperiod scheduler, scheduled rotation, dual control on Destroy and Export.</a:t>
            </a:r>
            <a:endParaRPr lang="en-US" sz="1200" dirty="0"/>
          </a:p>
        </p:txBody>
      </p:sp>
      <p:sp>
        <p:nvSpPr>
          <p:cNvPr id="10" name="Shape 8"/>
          <p:cNvSpPr/>
          <p:nvPr/>
        </p:nvSpPr>
        <p:spPr>
          <a:xfrm>
            <a:off x="8101584" y="1554480"/>
            <a:ext cx="3520440" cy="1920240"/>
          </a:xfrm>
          <a:prstGeom prst="roundRect">
            <a:avLst>
              <a:gd name="adj" fmla="val 2857"/>
            </a:avLst>
          </a:prstGeom>
          <a:solidFill>
            <a:srgbClr val="E2F0E7"/>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11" name="Text 9"/>
          <p:cNvSpPr txBox="1"/>
          <p:nvPr/>
        </p:nvSpPr>
        <p:spPr>
          <a:xfrm>
            <a:off x="8339328" y="1755648"/>
            <a:ext cx="3044952" cy="310896"/>
          </a:xfrm>
          <a:prstGeom prst="rect">
            <a:avLst/>
          </a:prstGeom>
          <a:noFill/>
          <a:ln/>
        </p:spPr>
        <p:txBody>
          <a:bodyPr wrap="square" lIns="0" tIns="0" rIns="0" bIns="0" rtlCol="0" anchor="ctr"/>
          <a:lstStyle/>
          <a:p>
            <a:pPr indent="0" marL="0">
              <a:buNone/>
            </a:pPr>
            <a:r>
              <a:rPr lang="en-US" sz="1500" b="1" dirty="0">
                <a:solidFill>
                  <a:srgbClr val="1A3A5C"/>
                </a:solidFill>
                <a:latin typeface="Cambria" pitchFamily="34" charset="0"/>
                <a:ea typeface="Cambria" pitchFamily="34" charset="-122"/>
                <a:cs typeface="Cambria" pitchFamily="34" charset="-120"/>
              </a:rPr>
              <a:t>Access control</a:t>
            </a:r>
            <a:endParaRPr lang="en-US" sz="1500" dirty="0"/>
          </a:p>
        </p:txBody>
      </p:sp>
      <p:sp>
        <p:nvSpPr>
          <p:cNvPr id="12" name="Text 10"/>
          <p:cNvSpPr txBox="1"/>
          <p:nvPr/>
        </p:nvSpPr>
        <p:spPr>
          <a:xfrm>
            <a:off x="8339328" y="2121408"/>
            <a:ext cx="3044952" cy="1188720"/>
          </a:xfrm>
          <a:prstGeom prst="rect">
            <a:avLst/>
          </a:prstGeom>
          <a:noFill/>
          <a:ln/>
        </p:spPr>
        <p:txBody>
          <a:bodyPr wrap="square" lIns="0" tIns="0" rIns="0" bIns="0" rtlCol="0" anchor="t"/>
          <a:lstStyle/>
          <a:p>
            <a:pPr indent="0" marL="0">
              <a:lnSpc>
                <a:spcPts val="1700"/>
              </a:lnSpc>
              <a:buNone/>
            </a:pPr>
            <a:r>
              <a:rPr lang="en-US" sz="1200" dirty="0">
                <a:solidFill>
                  <a:srgbClr val="4D5A68"/>
                </a:solidFill>
                <a:latin typeface="Calibri" pitchFamily="34" charset="0"/>
                <a:ea typeface="Calibri" pitchFamily="34" charset="-122"/>
                <a:cs typeface="Calibri" pitchFamily="34" charset="-120"/>
              </a:rPr>
              <a:t>Per-identity scrypt credentials, admin role, ownership, per-object grants, groups, per-role allowlists.</a:t>
            </a:r>
            <a:endParaRPr lang="en-US" sz="1200" dirty="0"/>
          </a:p>
        </p:txBody>
      </p:sp>
      <p:sp>
        <p:nvSpPr>
          <p:cNvPr id="13" name="Shape 11"/>
          <p:cNvSpPr/>
          <p:nvPr/>
        </p:nvSpPr>
        <p:spPr>
          <a:xfrm>
            <a:off x="566928" y="3694176"/>
            <a:ext cx="3520440" cy="1920240"/>
          </a:xfrm>
          <a:prstGeom prst="roundRect">
            <a:avLst>
              <a:gd name="adj" fmla="val 2857"/>
            </a:avLst>
          </a:prstGeom>
          <a:solidFill>
            <a:srgbClr val="E2F0E7"/>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14" name="Text 12"/>
          <p:cNvSpPr txBox="1"/>
          <p:nvPr/>
        </p:nvSpPr>
        <p:spPr>
          <a:xfrm>
            <a:off x="804672" y="3895344"/>
            <a:ext cx="3044952" cy="310896"/>
          </a:xfrm>
          <a:prstGeom prst="rect">
            <a:avLst/>
          </a:prstGeom>
          <a:noFill/>
          <a:ln/>
        </p:spPr>
        <p:txBody>
          <a:bodyPr wrap="square" lIns="0" tIns="0" rIns="0" bIns="0" rtlCol="0" anchor="ctr"/>
          <a:lstStyle/>
          <a:p>
            <a:pPr indent="0" marL="0">
              <a:buNone/>
            </a:pPr>
            <a:r>
              <a:rPr lang="en-US" sz="1500" b="1" dirty="0">
                <a:solidFill>
                  <a:srgbClr val="1A3A5C"/>
                </a:solidFill>
                <a:latin typeface="Cambria" pitchFamily="34" charset="0"/>
                <a:ea typeface="Cambria" pitchFamily="34" charset="-122"/>
                <a:cs typeface="Cambria" pitchFamily="34" charset="-120"/>
              </a:rPr>
              <a:t>Audit</a:t>
            </a:r>
            <a:endParaRPr lang="en-US" sz="1500" dirty="0"/>
          </a:p>
        </p:txBody>
      </p:sp>
      <p:sp>
        <p:nvSpPr>
          <p:cNvPr id="15" name="Text 13"/>
          <p:cNvSpPr txBox="1"/>
          <p:nvPr/>
        </p:nvSpPr>
        <p:spPr>
          <a:xfrm>
            <a:off x="804672" y="4261104"/>
            <a:ext cx="3044952" cy="1188720"/>
          </a:xfrm>
          <a:prstGeom prst="rect">
            <a:avLst/>
          </a:prstGeom>
          <a:noFill/>
          <a:ln/>
        </p:spPr>
        <p:txBody>
          <a:bodyPr wrap="square" lIns="0" tIns="0" rIns="0" bIns="0" rtlCol="0" anchor="t"/>
          <a:lstStyle/>
          <a:p>
            <a:pPr indent="0" marL="0">
              <a:lnSpc>
                <a:spcPts val="1700"/>
              </a:lnSpc>
              <a:buNone/>
            </a:pPr>
            <a:r>
              <a:rPr lang="en-US" sz="1200" dirty="0">
                <a:solidFill>
                  <a:srgbClr val="4D5A68"/>
                </a:solidFill>
                <a:latin typeface="Calibri" pitchFamily="34" charset="0"/>
                <a:ea typeface="Calibri" pitchFamily="34" charset="-122"/>
                <a:cs typeface="Calibri" pitchFamily="34" charset="-120"/>
              </a:rPr>
              <a:t>Append-only two ways — triggers and a SHA-256 chain — with retention and a verifier that names the broken row.</a:t>
            </a:r>
            <a:endParaRPr lang="en-US" sz="1200" dirty="0"/>
          </a:p>
        </p:txBody>
      </p:sp>
      <p:sp>
        <p:nvSpPr>
          <p:cNvPr id="16" name="Shape 14"/>
          <p:cNvSpPr/>
          <p:nvPr/>
        </p:nvSpPr>
        <p:spPr>
          <a:xfrm>
            <a:off x="4334256" y="3694176"/>
            <a:ext cx="3520440" cy="1920240"/>
          </a:xfrm>
          <a:prstGeom prst="roundRect">
            <a:avLst>
              <a:gd name="adj" fmla="val 2857"/>
            </a:avLst>
          </a:prstGeom>
          <a:solidFill>
            <a:srgbClr val="E2F0E7"/>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17" name="Text 15"/>
          <p:cNvSpPr txBox="1"/>
          <p:nvPr/>
        </p:nvSpPr>
        <p:spPr>
          <a:xfrm>
            <a:off x="4572000" y="3895344"/>
            <a:ext cx="3044952" cy="310896"/>
          </a:xfrm>
          <a:prstGeom prst="rect">
            <a:avLst/>
          </a:prstGeom>
          <a:noFill/>
          <a:ln/>
        </p:spPr>
        <p:txBody>
          <a:bodyPr wrap="square" lIns="0" tIns="0" rIns="0" bIns="0" rtlCol="0" anchor="ctr"/>
          <a:lstStyle/>
          <a:p>
            <a:pPr indent="0" marL="0">
              <a:buNone/>
            </a:pPr>
            <a:r>
              <a:rPr lang="en-US" sz="1500" b="1" dirty="0">
                <a:solidFill>
                  <a:srgbClr val="1A3A5C"/>
                </a:solidFill>
                <a:latin typeface="Cambria" pitchFamily="34" charset="0"/>
                <a:ea typeface="Cambria" pitchFamily="34" charset="-122"/>
                <a:cs typeface="Cambria" pitchFamily="34" charset="-120"/>
              </a:rPr>
              <a:t>Data at rest</a:t>
            </a:r>
            <a:endParaRPr lang="en-US" sz="1500" dirty="0"/>
          </a:p>
        </p:txBody>
      </p:sp>
      <p:sp>
        <p:nvSpPr>
          <p:cNvPr id="18" name="Text 16"/>
          <p:cNvSpPr txBox="1"/>
          <p:nvPr/>
        </p:nvSpPr>
        <p:spPr>
          <a:xfrm>
            <a:off x="4572000" y="4261104"/>
            <a:ext cx="3044952" cy="1188720"/>
          </a:xfrm>
          <a:prstGeom prst="rect">
            <a:avLst/>
          </a:prstGeom>
          <a:noFill/>
          <a:ln/>
        </p:spPr>
        <p:txBody>
          <a:bodyPr wrap="square" lIns="0" tIns="0" rIns="0" bIns="0" rtlCol="0" anchor="t"/>
          <a:lstStyle/>
          <a:p>
            <a:pPr indent="0" marL="0">
              <a:lnSpc>
                <a:spcPts val="1700"/>
              </a:lnSpc>
              <a:buNone/>
            </a:pPr>
            <a:r>
              <a:rPr lang="en-US" sz="1200" dirty="0">
                <a:solidFill>
                  <a:srgbClr val="4D5A68"/>
                </a:solidFill>
                <a:latin typeface="Calibri" pitchFamily="34" charset="0"/>
                <a:ea typeface="Calibri" pitchFamily="34" charset="-122"/>
                <a:cs typeface="Calibri" pitchFamily="34" charset="-120"/>
              </a:rPr>
              <a:t>AES-256-GCM envelopes under a non-extractable HSM master key, with rotation.</a:t>
            </a:r>
            <a:endParaRPr lang="en-US" sz="1200" dirty="0"/>
          </a:p>
        </p:txBody>
      </p:sp>
      <p:sp>
        <p:nvSpPr>
          <p:cNvPr id="19" name="Shape 17"/>
          <p:cNvSpPr/>
          <p:nvPr/>
        </p:nvSpPr>
        <p:spPr>
          <a:xfrm>
            <a:off x="8101584" y="3694176"/>
            <a:ext cx="3520440" cy="1920240"/>
          </a:xfrm>
          <a:prstGeom prst="roundRect">
            <a:avLst>
              <a:gd name="adj" fmla="val 2857"/>
            </a:avLst>
          </a:prstGeom>
          <a:solidFill>
            <a:srgbClr val="E2F0E7"/>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20" name="Text 18"/>
          <p:cNvSpPr txBox="1"/>
          <p:nvPr/>
        </p:nvSpPr>
        <p:spPr>
          <a:xfrm>
            <a:off x="8339328" y="3895344"/>
            <a:ext cx="3044952" cy="310896"/>
          </a:xfrm>
          <a:prstGeom prst="rect">
            <a:avLst/>
          </a:prstGeom>
          <a:noFill/>
          <a:ln/>
        </p:spPr>
        <p:txBody>
          <a:bodyPr wrap="square" lIns="0" tIns="0" rIns="0" bIns="0" rtlCol="0" anchor="ctr"/>
          <a:lstStyle/>
          <a:p>
            <a:pPr indent="0" marL="0">
              <a:buNone/>
            </a:pPr>
            <a:r>
              <a:rPr lang="en-US" sz="1500" b="1" dirty="0">
                <a:solidFill>
                  <a:srgbClr val="1A3A5C"/>
                </a:solidFill>
                <a:latin typeface="Cambria" pitchFamily="34" charset="0"/>
                <a:ea typeface="Cambria" pitchFamily="34" charset="-122"/>
                <a:cs typeface="Cambria" pitchFamily="34" charset="-120"/>
              </a:rPr>
              <a:t>Backup and recovery</a:t>
            </a:r>
            <a:endParaRPr lang="en-US" sz="1500" dirty="0"/>
          </a:p>
        </p:txBody>
      </p:sp>
      <p:sp>
        <p:nvSpPr>
          <p:cNvPr id="21" name="Text 19"/>
          <p:cNvSpPr txBox="1"/>
          <p:nvPr/>
        </p:nvSpPr>
        <p:spPr>
          <a:xfrm>
            <a:off x="8339328" y="4261104"/>
            <a:ext cx="3044952" cy="1188720"/>
          </a:xfrm>
          <a:prstGeom prst="rect">
            <a:avLst/>
          </a:prstGeom>
          <a:noFill/>
          <a:ln/>
        </p:spPr>
        <p:txBody>
          <a:bodyPr wrap="square" lIns="0" tIns="0" rIns="0" bIns="0" rtlCol="0" anchor="t"/>
          <a:lstStyle/>
          <a:p>
            <a:pPr indent="0" marL="0">
              <a:lnSpc>
                <a:spcPts val="1700"/>
              </a:lnSpc>
              <a:buNone/>
            </a:pPr>
            <a:r>
              <a:rPr lang="en-US" sz="1200" dirty="0">
                <a:solidFill>
                  <a:srgbClr val="4D5A68"/>
                </a:solidFill>
                <a:latin typeface="Calibri" pitchFamily="34" charset="0"/>
                <a:ea typeface="Calibri" pitchFamily="34" charset="-122"/>
                <a:cs typeface="Calibri" pitchFamily="34" charset="-120"/>
              </a:rPr>
              <a:t>Online snapshot with token pairing, and a restore that proves a stored secret decrypts.</a:t>
            </a:r>
            <a:endParaRPr lang="en-US" sz="1200" dirty="0"/>
          </a:p>
        </p:txBody>
      </p:sp>
      <p:sp>
        <p:nvSpPr>
          <p:cNvPr id="22" name="Shape 20"/>
          <p:cNvSpPr/>
          <p:nvPr/>
        </p:nvSpPr>
        <p:spPr>
          <a:xfrm>
            <a:off x="566928" y="5669280"/>
            <a:ext cx="11027664" cy="896112"/>
          </a:xfrm>
          <a:prstGeom prst="roundRect">
            <a:avLst>
              <a:gd name="adj" fmla="val 6122"/>
            </a:avLst>
          </a:prstGeom>
          <a:solidFill>
            <a:srgbClr val="1A3A5C"/>
          </a:solidFill>
          <a:ln w="12700">
            <a:solidFill>
              <a:srgbClr val="E8EFF6"/>
            </a:solidFill>
            <a:prstDash val="solid"/>
          </a:ln>
        </p:spPr>
      </p:sp>
      <p:sp>
        <p:nvSpPr>
          <p:cNvPr id="23" name="Text 21"/>
          <p:cNvSpPr txBox="1"/>
          <p:nvPr/>
        </p:nvSpPr>
        <p:spPr>
          <a:xfrm>
            <a:off x="804672" y="5870448"/>
            <a:ext cx="10552176" cy="530352"/>
          </a:xfrm>
          <a:prstGeom prst="rect">
            <a:avLst/>
          </a:prstGeom>
          <a:noFill/>
          <a:ln/>
        </p:spPr>
        <p:txBody>
          <a:bodyPr wrap="square" lIns="0" tIns="0" rIns="0" bIns="0" rtlCol="0" anchor="t"/>
          <a:lstStyle/>
          <a:p>
            <a:pPr indent="0" marL="0">
              <a:lnSpc>
                <a:spcPts val="1700"/>
              </a:lnSpc>
              <a:buNone/>
            </a:pPr>
            <a:r>
              <a:rPr lang="en-US" sz="1250" dirty="0">
                <a:solidFill>
                  <a:srgbClr val="C9DAEA"/>
                </a:solidFill>
                <a:latin typeface="Calibri" pitchFamily="34" charset="0"/>
                <a:ea typeface="Calibri" pitchFamily="34" charset="-122"/>
                <a:cs typeface="Calibri" pitchFamily="34" charset="-120"/>
              </a:rPr>
              <a:t>Several of these are done properly rather than nominally: the restore proves a secret decrypts rather than assuming it, and dual control is enforced in the store, so the requester cannot self-approve however the approval arrives.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27664" cy="237744"/>
          </a:xfrm>
          <a:prstGeom prst="rect">
            <a:avLst/>
          </a:prstGeom>
          <a:noFill/>
          <a:ln/>
        </p:spPr>
        <p:txBody>
          <a:bodyPr wrap="square" lIns="0" tIns="0" rIns="0" bIns="0" rtlCol="0" anchor="ctr"/>
          <a:lstStyle/>
          <a:p>
            <a:pPr indent="0" marL="0">
              <a:buNone/>
            </a:pPr>
            <a:r>
              <a:rPr lang="en-US" sz="1150" b="1" spc="220" kern="0" dirty="0">
                <a:solidFill>
                  <a:srgbClr val="C8952B"/>
                </a:solidFill>
                <a:latin typeface="Calibri" pitchFamily="34" charset="0"/>
                <a:ea typeface="Calibri" pitchFamily="34" charset="-122"/>
                <a:cs typeface="Calibri" pitchFamily="34" charset="-120"/>
              </a:rPr>
              <a:t>GAP ANALYSIS · 3 OF 3</a:t>
            </a:r>
            <a:endParaRPr lang="en-US" sz="1150" dirty="0"/>
          </a:p>
        </p:txBody>
      </p:sp>
      <p:sp>
        <p:nvSpPr>
          <p:cNvPr id="3" name="Text 1"/>
          <p:cNvSpPr txBox="1"/>
          <p:nvPr/>
        </p:nvSpPr>
        <p:spPr>
          <a:xfrm>
            <a:off x="566928" y="621792"/>
            <a:ext cx="11027664" cy="658368"/>
          </a:xfrm>
          <a:prstGeom prst="rect">
            <a:avLst/>
          </a:prstGeom>
          <a:noFill/>
          <a:ln/>
        </p:spPr>
        <p:txBody>
          <a:bodyPr wrap="square" lIns="0" tIns="0" rIns="0" bIns="0" rtlCol="0" anchor="ctr"/>
          <a:lstStyle/>
          <a:p>
            <a:pPr indent="0" marL="0">
              <a:buNone/>
            </a:pPr>
            <a:r>
              <a:rPr lang="en-US" sz="3400" b="1" dirty="0">
                <a:solidFill>
                  <a:srgbClr val="1A3A5C"/>
                </a:solidFill>
                <a:latin typeface="Cambria" pitchFamily="34" charset="0"/>
                <a:ea typeface="Cambria" pitchFamily="34" charset="-122"/>
                <a:cs typeface="Cambria" pitchFamily="34" charset="-120"/>
              </a:rPr>
              <a:t>Where it falls short of a product</a:t>
            </a:r>
            <a:endParaRPr lang="en-US" sz="3400" dirty="0"/>
          </a:p>
        </p:txBody>
      </p:sp>
      <p:sp>
        <p:nvSpPr>
          <p:cNvPr id="4" name="Shape 2"/>
          <p:cNvSpPr/>
          <p:nvPr/>
        </p:nvSpPr>
        <p:spPr>
          <a:xfrm>
            <a:off x="566928" y="1554480"/>
            <a:ext cx="2615184" cy="2011680"/>
          </a:xfrm>
          <a:prstGeom prst="roundRect">
            <a:avLst>
              <a:gd name="adj" fmla="val 2727"/>
            </a:avLst>
          </a:prstGeom>
          <a:solidFill>
            <a:srgbClr val="F7E9E8"/>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5" name="Text 3"/>
          <p:cNvSpPr txBox="1"/>
          <p:nvPr/>
        </p:nvSpPr>
        <p:spPr>
          <a:xfrm>
            <a:off x="804672" y="1755648"/>
            <a:ext cx="2139696" cy="566928"/>
          </a:xfrm>
          <a:prstGeom prst="rect">
            <a:avLst/>
          </a:prstGeom>
          <a:noFill/>
          <a:ln/>
        </p:spPr>
        <p:txBody>
          <a:bodyPr wrap="square" lIns="0" tIns="0" rIns="0" bIns="0" rtlCol="0" anchor="ctr"/>
          <a:lstStyle/>
          <a:p>
            <a:pPr indent="0" marL="0">
              <a:buNone/>
            </a:pPr>
            <a:r>
              <a:rPr lang="en-US" sz="1400" b="1" dirty="0">
                <a:solidFill>
                  <a:srgbClr val="B3261E"/>
                </a:solidFill>
                <a:latin typeface="Cambria" pitchFamily="34" charset="0"/>
                <a:ea typeface="Cambria" pitchFamily="34" charset="-122"/>
                <a:cs typeface="Cambria" pitchFamily="34" charset="-120"/>
              </a:rPr>
              <a:t>No REST API or console</a:t>
            </a:r>
            <a:endParaRPr lang="en-US" sz="1400" dirty="0"/>
          </a:p>
        </p:txBody>
      </p:sp>
      <p:sp>
        <p:nvSpPr>
          <p:cNvPr id="6" name="Text 4"/>
          <p:cNvSpPr txBox="1"/>
          <p:nvPr/>
        </p:nvSpPr>
        <p:spPr>
          <a:xfrm>
            <a:off x="804672" y="2377440"/>
            <a:ext cx="2139696" cy="1024128"/>
          </a:xfrm>
          <a:prstGeom prst="rect">
            <a:avLst/>
          </a:prstGeom>
          <a:noFill/>
          <a:ln/>
        </p:spPr>
        <p:txBody>
          <a:bodyPr wrap="square" lIns="0" tIns="0" rIns="0" bIns="0" rtlCol="0" anchor="t"/>
          <a:lstStyle/>
          <a:p>
            <a:pPr indent="0" marL="0">
              <a:lnSpc>
                <a:spcPts val="1700"/>
              </a:lnSpc>
              <a:buNone/>
            </a:pPr>
            <a:r>
              <a:rPr lang="en-US" sz="1150" dirty="0">
                <a:solidFill>
                  <a:srgbClr val="4D5A68"/>
                </a:solidFill>
                <a:latin typeface="Calibri" pitchFamily="34" charset="0"/>
                <a:ea typeface="Calibri" pitchFamily="34" charset="-122"/>
                <a:cs typeface="Calibri" pitchFamily="34" charset="-120"/>
              </a:rPr>
              <a:t>Highest leverage: reporting, self-service, the console and most integrations are all clients of an API that does not exist.</a:t>
            </a:r>
            <a:endParaRPr lang="en-US" sz="1150" dirty="0"/>
          </a:p>
        </p:txBody>
      </p:sp>
      <p:sp>
        <p:nvSpPr>
          <p:cNvPr id="7" name="Shape 5"/>
          <p:cNvSpPr/>
          <p:nvPr/>
        </p:nvSpPr>
        <p:spPr>
          <a:xfrm>
            <a:off x="3392424" y="1554480"/>
            <a:ext cx="2615184" cy="2011680"/>
          </a:xfrm>
          <a:prstGeom prst="roundRect">
            <a:avLst>
              <a:gd name="adj" fmla="val 2727"/>
            </a:avLst>
          </a:prstGeom>
          <a:solidFill>
            <a:srgbClr val="F7E9E8"/>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8" name="Text 6"/>
          <p:cNvSpPr txBox="1"/>
          <p:nvPr/>
        </p:nvSpPr>
        <p:spPr>
          <a:xfrm>
            <a:off x="3630168" y="1755648"/>
            <a:ext cx="2139696" cy="566928"/>
          </a:xfrm>
          <a:prstGeom prst="rect">
            <a:avLst/>
          </a:prstGeom>
          <a:noFill/>
          <a:ln/>
        </p:spPr>
        <p:txBody>
          <a:bodyPr wrap="square" lIns="0" tIns="0" rIns="0" bIns="0" rtlCol="0" anchor="ctr"/>
          <a:lstStyle/>
          <a:p>
            <a:pPr indent="0" marL="0">
              <a:buNone/>
            </a:pPr>
            <a:r>
              <a:rPr lang="en-US" sz="1400" b="1" dirty="0">
                <a:solidFill>
                  <a:srgbClr val="B3261E"/>
                </a:solidFill>
                <a:latin typeface="Cambria" pitchFamily="34" charset="0"/>
                <a:ea typeface="Cambria" pitchFamily="34" charset="-122"/>
                <a:cs typeface="Cambria" pitchFamily="34" charset="-120"/>
              </a:rPr>
              <a:t>No multi-tenancy</a:t>
            </a:r>
            <a:endParaRPr lang="en-US" sz="1400" dirty="0"/>
          </a:p>
        </p:txBody>
      </p:sp>
      <p:sp>
        <p:nvSpPr>
          <p:cNvPr id="9" name="Text 7"/>
          <p:cNvSpPr txBox="1"/>
          <p:nvPr/>
        </p:nvSpPr>
        <p:spPr>
          <a:xfrm>
            <a:off x="3630168" y="2377440"/>
            <a:ext cx="2139696" cy="1024128"/>
          </a:xfrm>
          <a:prstGeom prst="rect">
            <a:avLst/>
          </a:prstGeom>
          <a:noFill/>
          <a:ln/>
        </p:spPr>
        <p:txBody>
          <a:bodyPr wrap="square" lIns="0" tIns="0" rIns="0" bIns="0" rtlCol="0" anchor="t"/>
          <a:lstStyle/>
          <a:p>
            <a:pPr indent="0" marL="0">
              <a:lnSpc>
                <a:spcPts val="1700"/>
              </a:lnSpc>
              <a:buNone/>
            </a:pPr>
            <a:r>
              <a:rPr lang="en-US" sz="1150" dirty="0">
                <a:solidFill>
                  <a:srgbClr val="4D5A68"/>
                </a:solidFill>
                <a:latin typeface="Calibri" pitchFamily="34" charset="0"/>
                <a:ea typeface="Calibri" pitchFamily="34" charset="-122"/>
                <a:cs typeface="Calibri" pitchFamily="34" charset="-120"/>
              </a:rPr>
              <a:t>Names, searches, quotas and audit are global. Isolation today means one deployment per tenant.</a:t>
            </a:r>
            <a:endParaRPr lang="en-US" sz="1150" dirty="0"/>
          </a:p>
        </p:txBody>
      </p:sp>
      <p:sp>
        <p:nvSpPr>
          <p:cNvPr id="10" name="Shape 8"/>
          <p:cNvSpPr/>
          <p:nvPr/>
        </p:nvSpPr>
        <p:spPr>
          <a:xfrm>
            <a:off x="6217920" y="1554480"/>
            <a:ext cx="2615184" cy="2011680"/>
          </a:xfrm>
          <a:prstGeom prst="roundRect">
            <a:avLst>
              <a:gd name="adj" fmla="val 2727"/>
            </a:avLst>
          </a:prstGeom>
          <a:solidFill>
            <a:srgbClr val="F7E9E8"/>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11" name="Text 9"/>
          <p:cNvSpPr txBox="1"/>
          <p:nvPr/>
        </p:nvSpPr>
        <p:spPr>
          <a:xfrm>
            <a:off x="6455664" y="1755648"/>
            <a:ext cx="2139696" cy="566928"/>
          </a:xfrm>
          <a:prstGeom prst="rect">
            <a:avLst/>
          </a:prstGeom>
          <a:noFill/>
          <a:ln/>
        </p:spPr>
        <p:txBody>
          <a:bodyPr wrap="square" lIns="0" tIns="0" rIns="0" bIns="0" rtlCol="0" anchor="ctr"/>
          <a:lstStyle/>
          <a:p>
            <a:pPr indent="0" marL="0">
              <a:buNone/>
            </a:pPr>
            <a:r>
              <a:rPr lang="en-US" sz="1400" b="1" dirty="0">
                <a:solidFill>
                  <a:srgbClr val="B3261E"/>
                </a:solidFill>
                <a:latin typeface="Cambria" pitchFamily="34" charset="0"/>
                <a:ea typeface="Cambria" pitchFamily="34" charset="-122"/>
                <a:cs typeface="Cambria" pitchFamily="34" charset="-120"/>
              </a:rPr>
              <a:t>SQLite only</a:t>
            </a:r>
            <a:endParaRPr lang="en-US" sz="1400" dirty="0"/>
          </a:p>
        </p:txBody>
      </p:sp>
      <p:sp>
        <p:nvSpPr>
          <p:cNvPr id="12" name="Text 10"/>
          <p:cNvSpPr txBox="1"/>
          <p:nvPr/>
        </p:nvSpPr>
        <p:spPr>
          <a:xfrm>
            <a:off x="6455664" y="2377440"/>
            <a:ext cx="2139696" cy="1024128"/>
          </a:xfrm>
          <a:prstGeom prst="rect">
            <a:avLst/>
          </a:prstGeom>
          <a:noFill/>
          <a:ln/>
        </p:spPr>
        <p:txBody>
          <a:bodyPr wrap="square" lIns="0" tIns="0" rIns="0" bIns="0" rtlCol="0" anchor="t"/>
          <a:lstStyle/>
          <a:p>
            <a:pPr indent="0" marL="0">
              <a:lnSpc>
                <a:spcPts val="1700"/>
              </a:lnSpc>
              <a:buNone/>
            </a:pPr>
            <a:r>
              <a:rPr lang="en-US" sz="1150" dirty="0">
                <a:solidFill>
                  <a:srgbClr val="4D5A68"/>
                </a:solidFill>
                <a:latin typeface="Calibri" pitchFamily="34" charset="0"/>
                <a:ea typeface="Calibri" pitchFamily="34" charset="-122"/>
                <a:cs typeface="Calibri" pitchFamily="34" charset="-120"/>
              </a:rPr>
              <a:t>No clustering, replication or DR — and the storage engine, not the protocol, is what blocks them.</a:t>
            </a:r>
            <a:endParaRPr lang="en-US" sz="1150" dirty="0"/>
          </a:p>
        </p:txBody>
      </p:sp>
      <p:sp>
        <p:nvSpPr>
          <p:cNvPr id="13" name="Shape 11"/>
          <p:cNvSpPr/>
          <p:nvPr/>
        </p:nvSpPr>
        <p:spPr>
          <a:xfrm>
            <a:off x="9043416" y="1554480"/>
            <a:ext cx="2615184" cy="2011680"/>
          </a:xfrm>
          <a:prstGeom prst="roundRect">
            <a:avLst>
              <a:gd name="adj" fmla="val 2727"/>
            </a:avLst>
          </a:prstGeom>
          <a:solidFill>
            <a:srgbClr val="F7E9E8"/>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14" name="Text 12"/>
          <p:cNvSpPr txBox="1"/>
          <p:nvPr/>
        </p:nvSpPr>
        <p:spPr>
          <a:xfrm>
            <a:off x="9281160" y="1755648"/>
            <a:ext cx="2139696" cy="566928"/>
          </a:xfrm>
          <a:prstGeom prst="rect">
            <a:avLst/>
          </a:prstGeom>
          <a:noFill/>
          <a:ln/>
        </p:spPr>
        <p:txBody>
          <a:bodyPr wrap="square" lIns="0" tIns="0" rIns="0" bIns="0" rtlCol="0" anchor="ctr"/>
          <a:lstStyle/>
          <a:p>
            <a:pPr indent="0" marL="0">
              <a:buNone/>
            </a:pPr>
            <a:r>
              <a:rPr lang="en-US" sz="1400" b="1" dirty="0">
                <a:solidFill>
                  <a:srgbClr val="B3261E"/>
                </a:solidFill>
                <a:latin typeface="Cambria" pitchFamily="34" charset="0"/>
                <a:ea typeface="Cambria" pitchFamily="34" charset="-122"/>
                <a:cs typeface="Cambria" pitchFamily="34" charset="-120"/>
              </a:rPr>
              <a:t>No connection or rate limiting</a:t>
            </a:r>
            <a:endParaRPr lang="en-US" sz="1400" dirty="0"/>
          </a:p>
        </p:txBody>
      </p:sp>
      <p:sp>
        <p:nvSpPr>
          <p:cNvPr id="15" name="Text 13"/>
          <p:cNvSpPr txBox="1"/>
          <p:nvPr/>
        </p:nvSpPr>
        <p:spPr>
          <a:xfrm>
            <a:off x="9281160" y="2377440"/>
            <a:ext cx="2139696" cy="1024128"/>
          </a:xfrm>
          <a:prstGeom prst="rect">
            <a:avLst/>
          </a:prstGeom>
          <a:noFill/>
          <a:ln/>
        </p:spPr>
        <p:txBody>
          <a:bodyPr wrap="square" lIns="0" tIns="0" rIns="0" bIns="0" rtlCol="0" anchor="t"/>
          <a:lstStyle/>
          <a:p>
            <a:pPr indent="0" marL="0">
              <a:lnSpc>
                <a:spcPts val="1700"/>
              </a:lnSpc>
              <a:buNone/>
            </a:pPr>
            <a:r>
              <a:rPr lang="en-US" sz="1150" dirty="0">
                <a:solidFill>
                  <a:srgbClr val="4D5A68"/>
                </a:solidFill>
                <a:latin typeface="Calibri" pitchFamily="34" charset="0"/>
                <a:ea typeface="Calibri" pitchFamily="34" charset="-122"/>
                <a:cs typeface="Calibri" pitchFamily="34" charset="-120"/>
              </a:rPr>
              <a:t>The listener takes a backlog of 16 with no throttle. Flagged in the original review and never fixed.</a:t>
            </a:r>
            <a:endParaRPr lang="en-US" sz="1150" dirty="0"/>
          </a:p>
        </p:txBody>
      </p:sp>
      <p:sp>
        <p:nvSpPr>
          <p:cNvPr id="16" name="Shape 14"/>
          <p:cNvSpPr/>
          <p:nvPr/>
        </p:nvSpPr>
        <p:spPr>
          <a:xfrm>
            <a:off x="566928" y="3767328"/>
            <a:ext cx="2615184" cy="2011680"/>
          </a:xfrm>
          <a:prstGeom prst="roundRect">
            <a:avLst>
              <a:gd name="adj" fmla="val 2727"/>
            </a:avLst>
          </a:prstGeom>
          <a:solidFill>
            <a:srgbClr val="FBF3E3"/>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17" name="Text 15"/>
          <p:cNvSpPr txBox="1"/>
          <p:nvPr/>
        </p:nvSpPr>
        <p:spPr>
          <a:xfrm>
            <a:off x="804672" y="3968496"/>
            <a:ext cx="2139696" cy="566928"/>
          </a:xfrm>
          <a:prstGeom prst="rect">
            <a:avLst/>
          </a:prstGeom>
          <a:noFill/>
          <a:ln/>
        </p:spPr>
        <p:txBody>
          <a:bodyPr wrap="square" lIns="0" tIns="0" rIns="0" bIns="0" rtlCol="0" anchor="ctr"/>
          <a:lstStyle/>
          <a:p>
            <a:pPr indent="0" marL="0">
              <a:buNone/>
            </a:pPr>
            <a:r>
              <a:rPr lang="en-US" sz="1400" b="1" dirty="0">
                <a:solidFill>
                  <a:srgbClr val="9A6410"/>
                </a:solidFill>
                <a:latin typeface="Cambria" pitchFamily="34" charset="0"/>
                <a:ea typeface="Cambria" pitchFamily="34" charset="-122"/>
                <a:cs typeface="Cambria" pitchFamily="34" charset="-120"/>
              </a:rPr>
              <a:t>Scaling stops at ~1.5×</a:t>
            </a:r>
            <a:endParaRPr lang="en-US" sz="1400" dirty="0"/>
          </a:p>
        </p:txBody>
      </p:sp>
      <p:sp>
        <p:nvSpPr>
          <p:cNvPr id="18" name="Text 16"/>
          <p:cNvSpPr txBox="1"/>
          <p:nvPr/>
        </p:nvSpPr>
        <p:spPr>
          <a:xfrm>
            <a:off x="804672" y="4590288"/>
            <a:ext cx="2139696" cy="1024128"/>
          </a:xfrm>
          <a:prstGeom prst="rect">
            <a:avLst/>
          </a:prstGeom>
          <a:noFill/>
          <a:ln/>
        </p:spPr>
        <p:txBody>
          <a:bodyPr wrap="square" lIns="0" tIns="0" rIns="0" bIns="0" rtlCol="0" anchor="t"/>
          <a:lstStyle/>
          <a:p>
            <a:pPr indent="0" marL="0">
              <a:lnSpc>
                <a:spcPts val="1700"/>
              </a:lnSpc>
              <a:buNone/>
            </a:pPr>
            <a:r>
              <a:rPr lang="en-US" sz="1150" dirty="0">
                <a:solidFill>
                  <a:srgbClr val="4D5A68"/>
                </a:solidFill>
                <a:latin typeface="Calibri" pitchFamily="34" charset="0"/>
                <a:ea typeface="Calibri" pitchFamily="34" charset="-122"/>
                <a:cs typeface="Calibri" pitchFamily="34" charset="-120"/>
              </a:rPr>
              <a:t>Pre-fork workers help, but every audited operation serialises on one write lock. The price of tamper-evidence.</a:t>
            </a:r>
            <a:endParaRPr lang="en-US" sz="1150" dirty="0"/>
          </a:p>
        </p:txBody>
      </p:sp>
      <p:sp>
        <p:nvSpPr>
          <p:cNvPr id="19" name="Shape 17"/>
          <p:cNvSpPr/>
          <p:nvPr/>
        </p:nvSpPr>
        <p:spPr>
          <a:xfrm>
            <a:off x="3392424" y="3767328"/>
            <a:ext cx="2615184" cy="2011680"/>
          </a:xfrm>
          <a:prstGeom prst="roundRect">
            <a:avLst>
              <a:gd name="adj" fmla="val 2727"/>
            </a:avLst>
          </a:prstGeom>
          <a:solidFill>
            <a:srgbClr val="FBF3E3"/>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20" name="Text 18"/>
          <p:cNvSpPr txBox="1"/>
          <p:nvPr/>
        </p:nvSpPr>
        <p:spPr>
          <a:xfrm>
            <a:off x="3630168" y="3968496"/>
            <a:ext cx="2139696" cy="566928"/>
          </a:xfrm>
          <a:prstGeom prst="rect">
            <a:avLst/>
          </a:prstGeom>
          <a:noFill/>
          <a:ln/>
        </p:spPr>
        <p:txBody>
          <a:bodyPr wrap="square" lIns="0" tIns="0" rIns="0" bIns="0" rtlCol="0" anchor="ctr"/>
          <a:lstStyle/>
          <a:p>
            <a:pPr indent="0" marL="0">
              <a:buNone/>
            </a:pPr>
            <a:r>
              <a:rPr lang="en-US" sz="1400" b="1" dirty="0">
                <a:solidFill>
                  <a:srgbClr val="9A6410"/>
                </a:solidFill>
                <a:latin typeface="Cambria" pitchFamily="34" charset="0"/>
                <a:ea typeface="Cambria" pitchFamily="34" charset="-122"/>
                <a:cs typeface="Cambria" pitchFamily="34" charset="-120"/>
              </a:rPr>
              <a:t>No SIEM export, no external anchor</a:t>
            </a:r>
            <a:endParaRPr lang="en-US" sz="1400" dirty="0"/>
          </a:p>
        </p:txBody>
      </p:sp>
      <p:sp>
        <p:nvSpPr>
          <p:cNvPr id="21" name="Text 19"/>
          <p:cNvSpPr txBox="1"/>
          <p:nvPr/>
        </p:nvSpPr>
        <p:spPr>
          <a:xfrm>
            <a:off x="3630168" y="4590288"/>
            <a:ext cx="2139696" cy="1024128"/>
          </a:xfrm>
          <a:prstGeom prst="rect">
            <a:avLst/>
          </a:prstGeom>
          <a:noFill/>
          <a:ln/>
        </p:spPr>
        <p:txBody>
          <a:bodyPr wrap="square" lIns="0" tIns="0" rIns="0" bIns="0" rtlCol="0" anchor="t"/>
          <a:lstStyle/>
          <a:p>
            <a:pPr indent="0" marL="0">
              <a:lnSpc>
                <a:spcPts val="1700"/>
              </a:lnSpc>
              <a:buNone/>
            </a:pPr>
            <a:r>
              <a:rPr lang="en-US" sz="1150" dirty="0">
                <a:solidFill>
                  <a:srgbClr val="4D5A68"/>
                </a:solidFill>
                <a:latin typeface="Calibri" pitchFamily="34" charset="0"/>
                <a:ea typeface="Calibri" pitchFamily="34" charset="-122"/>
                <a:cs typeface="Calibri" pitchFamily="34" charset="-120"/>
              </a:rPr>
              <a:t>Auditors ask for both first. A consistent rewrite of the local log leaves no trace.</a:t>
            </a:r>
            <a:endParaRPr lang="en-US" sz="1150" dirty="0"/>
          </a:p>
        </p:txBody>
      </p:sp>
      <p:sp>
        <p:nvSpPr>
          <p:cNvPr id="22" name="Shape 20"/>
          <p:cNvSpPr/>
          <p:nvPr/>
        </p:nvSpPr>
        <p:spPr>
          <a:xfrm>
            <a:off x="6217920" y="3767328"/>
            <a:ext cx="2615184" cy="2011680"/>
          </a:xfrm>
          <a:prstGeom prst="roundRect">
            <a:avLst>
              <a:gd name="adj" fmla="val 2727"/>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23" name="Text 21"/>
          <p:cNvSpPr txBox="1"/>
          <p:nvPr/>
        </p:nvSpPr>
        <p:spPr>
          <a:xfrm>
            <a:off x="6455664" y="3968496"/>
            <a:ext cx="2139696" cy="566928"/>
          </a:xfrm>
          <a:prstGeom prst="rect">
            <a:avLst/>
          </a:prstGeom>
          <a:noFill/>
          <a:ln/>
        </p:spPr>
        <p:txBody>
          <a:bodyPr wrap="square" lIns="0" tIns="0" rIns="0" bIns="0" rtlCol="0" anchor="ctr"/>
          <a:lstStyle/>
          <a:p>
            <a:pPr indent="0" marL="0">
              <a:buNone/>
            </a:pPr>
            <a:r>
              <a:rPr lang="en-US" sz="1400" b="1" dirty="0">
                <a:solidFill>
                  <a:srgbClr val="1A3A5C"/>
                </a:solidFill>
                <a:latin typeface="Cambria" pitchFamily="34" charset="0"/>
                <a:ea typeface="Cambria" pitchFamily="34" charset="-122"/>
                <a:cs typeface="Cambria" pitchFamily="34" charset="-120"/>
              </a:rPr>
              <a:t>Not FIPS or CC validated</a:t>
            </a:r>
            <a:endParaRPr lang="en-US" sz="1400" dirty="0"/>
          </a:p>
        </p:txBody>
      </p:sp>
      <p:sp>
        <p:nvSpPr>
          <p:cNvPr id="24" name="Text 22"/>
          <p:cNvSpPr txBox="1"/>
          <p:nvPr/>
        </p:nvSpPr>
        <p:spPr>
          <a:xfrm>
            <a:off x="6455664" y="4590288"/>
            <a:ext cx="2139696" cy="1024128"/>
          </a:xfrm>
          <a:prstGeom prst="rect">
            <a:avLst/>
          </a:prstGeom>
          <a:noFill/>
          <a:ln/>
        </p:spPr>
        <p:txBody>
          <a:bodyPr wrap="square" lIns="0" tIns="0" rIns="0" bIns="0" rtlCol="0" anchor="t"/>
          <a:lstStyle/>
          <a:p>
            <a:pPr indent="0" marL="0">
              <a:lnSpc>
                <a:spcPts val="1700"/>
              </a:lnSpc>
              <a:buNone/>
            </a:pPr>
            <a:r>
              <a:rPr lang="en-US" sz="1150" dirty="0">
                <a:solidFill>
                  <a:srgbClr val="4D5A68"/>
                </a:solidFill>
                <a:latin typeface="Calibri" pitchFamily="34" charset="0"/>
                <a:ea typeface="Calibri" pitchFamily="34" charset="-122"/>
                <a:cs typeface="Calibri" pitchFamily="34" charset="-120"/>
              </a:rPr>
              <a:t>Belongs to the token, not the code. Procurement, not engineering.</a:t>
            </a:r>
            <a:endParaRPr lang="en-US" sz="1150" dirty="0"/>
          </a:p>
        </p:txBody>
      </p:sp>
      <p:sp>
        <p:nvSpPr>
          <p:cNvPr id="25" name="Shape 23"/>
          <p:cNvSpPr/>
          <p:nvPr/>
        </p:nvSpPr>
        <p:spPr>
          <a:xfrm>
            <a:off x="9043416" y="3767328"/>
            <a:ext cx="2615184" cy="2011680"/>
          </a:xfrm>
          <a:prstGeom prst="roundRect">
            <a:avLst>
              <a:gd name="adj" fmla="val 2727"/>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26" name="Text 24"/>
          <p:cNvSpPr txBox="1"/>
          <p:nvPr/>
        </p:nvSpPr>
        <p:spPr>
          <a:xfrm>
            <a:off x="9281160" y="3968496"/>
            <a:ext cx="2139696" cy="566928"/>
          </a:xfrm>
          <a:prstGeom prst="rect">
            <a:avLst/>
          </a:prstGeom>
          <a:noFill/>
          <a:ln/>
        </p:spPr>
        <p:txBody>
          <a:bodyPr wrap="square" lIns="0" tIns="0" rIns="0" bIns="0" rtlCol="0" anchor="ctr"/>
          <a:lstStyle/>
          <a:p>
            <a:pPr indent="0" marL="0">
              <a:buNone/>
            </a:pPr>
            <a:r>
              <a:rPr lang="en-US" sz="1400" b="1" dirty="0">
                <a:solidFill>
                  <a:srgbClr val="1A3A5C"/>
                </a:solidFill>
                <a:latin typeface="Cambria" pitchFamily="34" charset="0"/>
                <a:ea typeface="Cambria" pitchFamily="34" charset="-122"/>
                <a:cs typeface="Cambria" pitchFamily="34" charset="-120"/>
              </a:rPr>
              <a:t>No post-quantum</a:t>
            </a:r>
            <a:endParaRPr lang="en-US" sz="1400" dirty="0"/>
          </a:p>
        </p:txBody>
      </p:sp>
      <p:sp>
        <p:nvSpPr>
          <p:cNvPr id="27" name="Text 25"/>
          <p:cNvSpPr txBox="1"/>
          <p:nvPr/>
        </p:nvSpPr>
        <p:spPr>
          <a:xfrm>
            <a:off x="9281160" y="4590288"/>
            <a:ext cx="2139696" cy="1024128"/>
          </a:xfrm>
          <a:prstGeom prst="rect">
            <a:avLst/>
          </a:prstGeom>
          <a:noFill/>
          <a:ln/>
        </p:spPr>
        <p:txBody>
          <a:bodyPr wrap="square" lIns="0" tIns="0" rIns="0" bIns="0" rtlCol="0" anchor="t"/>
          <a:lstStyle/>
          <a:p>
            <a:pPr indent="0" marL="0">
              <a:lnSpc>
                <a:spcPts val="1700"/>
              </a:lnSpc>
              <a:buNone/>
            </a:pPr>
            <a:r>
              <a:rPr lang="en-US" sz="1150" dirty="0">
                <a:solidFill>
                  <a:srgbClr val="4D5A68"/>
                </a:solidFill>
                <a:latin typeface="Calibri" pitchFamily="34" charset="0"/>
                <a:ea typeface="Calibri" pitchFamily="34" charset="-122"/>
                <a:cs typeface="Calibri" pitchFamily="34" charset="-120"/>
              </a:rPr>
              <a:t>Needs both a PQC token and KMIP 3.0. Neither has shipped in a release yet.</a:t>
            </a:r>
            <a:endParaRPr lang="en-US" sz="1150" dirty="0"/>
          </a:p>
        </p:txBody>
      </p:sp>
      <p:sp>
        <p:nvSpPr>
          <p:cNvPr id="28" name="Text 26"/>
          <p:cNvSpPr txBox="1"/>
          <p:nvPr/>
        </p:nvSpPr>
        <p:spPr>
          <a:xfrm>
            <a:off x="566928" y="6327648"/>
            <a:ext cx="11027664" cy="27432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Red: absent and material.   Amber: present with a named limit.   Blue: outside this codebase's control.</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27664" cy="237744"/>
          </a:xfrm>
          <a:prstGeom prst="rect">
            <a:avLst/>
          </a:prstGeom>
          <a:noFill/>
          <a:ln/>
        </p:spPr>
        <p:txBody>
          <a:bodyPr wrap="square" lIns="0" tIns="0" rIns="0" bIns="0" rtlCol="0" anchor="ctr"/>
          <a:lstStyle/>
          <a:p>
            <a:pPr indent="0" marL="0">
              <a:buNone/>
            </a:pPr>
            <a:r>
              <a:rPr lang="en-US" sz="1150" b="1" spc="220" kern="0" dirty="0">
                <a:solidFill>
                  <a:srgbClr val="C8952B"/>
                </a:solidFill>
                <a:latin typeface="Calibri" pitchFamily="34" charset="0"/>
                <a:ea typeface="Calibri" pitchFamily="34" charset="-122"/>
                <a:cs typeface="Calibri" pitchFamily="34" charset="-120"/>
              </a:rPr>
              <a:t>ROADMAP · 1 OF 3</a:t>
            </a:r>
            <a:endParaRPr lang="en-US" sz="1150" dirty="0"/>
          </a:p>
        </p:txBody>
      </p:sp>
      <p:sp>
        <p:nvSpPr>
          <p:cNvPr id="3" name="Text 1"/>
          <p:cNvSpPr txBox="1"/>
          <p:nvPr/>
        </p:nvSpPr>
        <p:spPr>
          <a:xfrm>
            <a:off x="566928" y="621792"/>
            <a:ext cx="11027664" cy="658368"/>
          </a:xfrm>
          <a:prstGeom prst="rect">
            <a:avLst/>
          </a:prstGeom>
          <a:noFill/>
          <a:ln/>
        </p:spPr>
        <p:txBody>
          <a:bodyPr wrap="square" lIns="0" tIns="0" rIns="0" bIns="0" rtlCol="0" anchor="ctr"/>
          <a:lstStyle/>
          <a:p>
            <a:pPr indent="0" marL="0">
              <a:buNone/>
            </a:pPr>
            <a:r>
              <a:rPr lang="en-US" sz="3400" b="1" dirty="0">
                <a:solidFill>
                  <a:srgbClr val="1A3A5C"/>
                </a:solidFill>
                <a:latin typeface="Cambria" pitchFamily="34" charset="0"/>
                <a:ea typeface="Cambria" pitchFamily="34" charset="-122"/>
                <a:cs typeface="Cambria" pitchFamily="34" charset="-120"/>
              </a:rPr>
              <a:t>Five waves, in dependency order</a:t>
            </a:r>
            <a:endParaRPr lang="en-US" sz="3400" dirty="0"/>
          </a:p>
        </p:txBody>
      </p:sp>
      <p:sp>
        <p:nvSpPr>
          <p:cNvPr id="4" name="Shape 2"/>
          <p:cNvSpPr/>
          <p:nvPr/>
        </p:nvSpPr>
        <p:spPr>
          <a:xfrm>
            <a:off x="566928" y="1591056"/>
            <a:ext cx="1975104" cy="2395728"/>
          </a:xfrm>
          <a:prstGeom prst="roundRect">
            <a:avLst>
              <a:gd name="adj" fmla="val 2778"/>
            </a:avLst>
          </a:prstGeom>
          <a:solidFill>
            <a:srgbClr val="1A3A5C"/>
          </a:solidFill>
          <a:ln w="12700">
            <a:solidFill>
              <a:srgbClr val="1A3A5C"/>
            </a:solidFill>
            <a:prstDash val="solid"/>
          </a:ln>
          <a:effectLst>
            <a:outerShdw sx="100000" sy="100000" kx="0" ky="0" algn="bl" rotWithShape="0" blurRad="127000" dist="25400" dir="5400000">
              <a:srgbClr val="8C9AA8">
                <a:alpha val="22000"/>
              </a:srgbClr>
            </a:outerShdw>
          </a:effectLst>
        </p:spPr>
      </p:sp>
      <p:sp>
        <p:nvSpPr>
          <p:cNvPr id="5" name="Text 3"/>
          <p:cNvSpPr txBox="1"/>
          <p:nvPr/>
        </p:nvSpPr>
        <p:spPr>
          <a:xfrm>
            <a:off x="566928" y="1737360"/>
            <a:ext cx="1975104" cy="566928"/>
          </a:xfrm>
          <a:prstGeom prst="rect">
            <a:avLst/>
          </a:prstGeom>
          <a:noFill/>
          <a:ln/>
        </p:spPr>
        <p:txBody>
          <a:bodyPr wrap="square" lIns="0" tIns="0" rIns="0" bIns="0" rtlCol="0" anchor="ctr"/>
          <a:lstStyle/>
          <a:p>
            <a:pPr algn="ctr" indent="0" marL="0">
              <a:buNone/>
            </a:pPr>
            <a:r>
              <a:rPr lang="en-US" sz="3400" b="1" dirty="0">
                <a:solidFill>
                  <a:srgbClr val="9DB8D4"/>
                </a:solidFill>
                <a:latin typeface="Cambria" pitchFamily="34" charset="0"/>
                <a:ea typeface="Cambria" pitchFamily="34" charset="-122"/>
                <a:cs typeface="Cambria" pitchFamily="34" charset="-120"/>
              </a:rPr>
              <a:t>6</a:t>
            </a:r>
            <a:endParaRPr lang="en-US" sz="3400" dirty="0"/>
          </a:p>
        </p:txBody>
      </p:sp>
      <p:sp>
        <p:nvSpPr>
          <p:cNvPr id="6" name="Text 4"/>
          <p:cNvSpPr txBox="1"/>
          <p:nvPr/>
        </p:nvSpPr>
        <p:spPr>
          <a:xfrm>
            <a:off x="566928" y="2322576"/>
            <a:ext cx="197510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Control plane</a:t>
            </a:r>
            <a:endParaRPr lang="en-US" sz="1500" dirty="0"/>
          </a:p>
        </p:txBody>
      </p:sp>
      <p:sp>
        <p:nvSpPr>
          <p:cNvPr id="7" name="Text 5"/>
          <p:cNvSpPr txBox="1"/>
          <p:nvPr/>
        </p:nvSpPr>
        <p:spPr>
          <a:xfrm>
            <a:off x="713232" y="2688336"/>
            <a:ext cx="1682496" cy="1152144"/>
          </a:xfrm>
          <a:prstGeom prst="rect">
            <a:avLst/>
          </a:prstGeom>
          <a:noFill/>
          <a:ln/>
        </p:spPr>
        <p:txBody>
          <a:bodyPr wrap="square" lIns="0" tIns="0" rIns="0" bIns="0" rtlCol="0" anchor="ctr"/>
          <a:lstStyle/>
          <a:p>
            <a:pPr algn="ctr" indent="0" marL="0">
              <a:buNone/>
            </a:pPr>
            <a:r>
              <a:rPr lang="en-US" sz="1100" dirty="0">
                <a:solidFill>
                  <a:srgbClr val="C9DAEA"/>
                </a:solidFill>
                <a:latin typeface="Calibri" pitchFamily="34" charset="0"/>
                <a:ea typeface="Calibri" pitchFamily="34" charset="-122"/>
                <a:cs typeface="Calibri" pitchFamily="34" charset="-120"/>
              </a:rPr>
              <a:t>Service layer, REST API, console</a:t>
            </a:r>
            <a:endParaRPr lang="en-US" sz="1100" dirty="0"/>
          </a:p>
        </p:txBody>
      </p:sp>
      <p:sp>
        <p:nvSpPr>
          <p:cNvPr id="8" name="Shape 6"/>
          <p:cNvSpPr/>
          <p:nvPr/>
        </p:nvSpPr>
        <p:spPr>
          <a:xfrm>
            <a:off x="2560320" y="2788920"/>
            <a:ext cx="246888" cy="0"/>
          </a:xfrm>
          <a:prstGeom prst="line">
            <a:avLst/>
          </a:prstGeom>
          <a:noFill/>
          <a:ln w="19050">
            <a:solidFill>
              <a:srgbClr val="2E6DA4"/>
            </a:solidFill>
            <a:prstDash val="solid"/>
            <a:tailEnd type="triangle"/>
          </a:ln>
        </p:spPr>
      </p:sp>
      <p:sp>
        <p:nvSpPr>
          <p:cNvPr id="9" name="Shape 7"/>
          <p:cNvSpPr/>
          <p:nvPr/>
        </p:nvSpPr>
        <p:spPr>
          <a:xfrm>
            <a:off x="2825496" y="1591056"/>
            <a:ext cx="1975104" cy="2395728"/>
          </a:xfrm>
          <a:prstGeom prst="roundRect">
            <a:avLst>
              <a:gd name="adj" fmla="val 2778"/>
            </a:avLst>
          </a:prstGeom>
          <a:solidFill>
            <a:srgbClr val="2E6DA4"/>
          </a:solidFill>
          <a:ln w="12700">
            <a:solidFill>
              <a:srgbClr val="2E6DA4"/>
            </a:solidFill>
            <a:prstDash val="solid"/>
          </a:ln>
          <a:effectLst>
            <a:outerShdw sx="100000" sy="100000" kx="0" ky="0" algn="bl" rotWithShape="0" blurRad="127000" dist="25400" dir="5400000">
              <a:srgbClr val="8C9AA8">
                <a:alpha val="22000"/>
              </a:srgbClr>
            </a:outerShdw>
          </a:effectLst>
        </p:spPr>
      </p:sp>
      <p:sp>
        <p:nvSpPr>
          <p:cNvPr id="10" name="Text 8"/>
          <p:cNvSpPr txBox="1"/>
          <p:nvPr/>
        </p:nvSpPr>
        <p:spPr>
          <a:xfrm>
            <a:off x="2825496" y="1737360"/>
            <a:ext cx="1975104" cy="566928"/>
          </a:xfrm>
          <a:prstGeom prst="rect">
            <a:avLst/>
          </a:prstGeom>
          <a:noFill/>
          <a:ln/>
        </p:spPr>
        <p:txBody>
          <a:bodyPr wrap="square" lIns="0" tIns="0" rIns="0" bIns="0" rtlCol="0" anchor="ctr"/>
          <a:lstStyle/>
          <a:p>
            <a:pPr algn="ctr" indent="0" marL="0">
              <a:buNone/>
            </a:pPr>
            <a:r>
              <a:rPr lang="en-US" sz="3400" b="1" dirty="0">
                <a:solidFill>
                  <a:srgbClr val="9DB8D4"/>
                </a:solidFill>
                <a:latin typeface="Cambria" pitchFamily="34" charset="0"/>
                <a:ea typeface="Cambria" pitchFamily="34" charset="-122"/>
                <a:cs typeface="Cambria" pitchFamily="34" charset="-120"/>
              </a:rPr>
              <a:t>7</a:t>
            </a:r>
            <a:endParaRPr lang="en-US" sz="3400" dirty="0"/>
          </a:p>
        </p:txBody>
      </p:sp>
      <p:sp>
        <p:nvSpPr>
          <p:cNvPr id="11" name="Text 9"/>
          <p:cNvSpPr txBox="1"/>
          <p:nvPr/>
        </p:nvSpPr>
        <p:spPr>
          <a:xfrm>
            <a:off x="2825496" y="2322576"/>
            <a:ext cx="197510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Enterprise fit</a:t>
            </a:r>
            <a:endParaRPr lang="en-US" sz="1500" dirty="0"/>
          </a:p>
        </p:txBody>
      </p:sp>
      <p:sp>
        <p:nvSpPr>
          <p:cNvPr id="12" name="Text 10"/>
          <p:cNvSpPr txBox="1"/>
          <p:nvPr/>
        </p:nvSpPr>
        <p:spPr>
          <a:xfrm>
            <a:off x="2971800" y="2688336"/>
            <a:ext cx="1682496" cy="1152144"/>
          </a:xfrm>
          <a:prstGeom prst="rect">
            <a:avLst/>
          </a:prstGeom>
          <a:noFill/>
          <a:ln/>
        </p:spPr>
        <p:txBody>
          <a:bodyPr wrap="square" lIns="0" tIns="0" rIns="0" bIns="0" rtlCol="0" anchor="ctr"/>
          <a:lstStyle/>
          <a:p>
            <a:pPr algn="ctr" indent="0" marL="0">
              <a:buNone/>
            </a:pPr>
            <a:r>
              <a:rPr lang="en-US" sz="1100" dirty="0">
                <a:solidFill>
                  <a:srgbClr val="C9DAEA"/>
                </a:solidFill>
                <a:latin typeface="Calibri" pitchFamily="34" charset="0"/>
                <a:ea typeface="Calibri" pitchFamily="34" charset="-122"/>
                <a:cs typeface="Calibri" pitchFamily="34" charset="-120"/>
              </a:rPr>
              <a:t>Directory identity, service accounts, SIEM, rate limiting</a:t>
            </a:r>
            <a:endParaRPr lang="en-US" sz="1100" dirty="0"/>
          </a:p>
        </p:txBody>
      </p:sp>
      <p:sp>
        <p:nvSpPr>
          <p:cNvPr id="13" name="Shape 11"/>
          <p:cNvSpPr/>
          <p:nvPr/>
        </p:nvSpPr>
        <p:spPr>
          <a:xfrm>
            <a:off x="4818888" y="2788920"/>
            <a:ext cx="246888" cy="0"/>
          </a:xfrm>
          <a:prstGeom prst="line">
            <a:avLst/>
          </a:prstGeom>
          <a:noFill/>
          <a:ln w="19050">
            <a:solidFill>
              <a:srgbClr val="2E6DA4"/>
            </a:solidFill>
            <a:prstDash val="solid"/>
            <a:tailEnd type="triangle"/>
          </a:ln>
        </p:spPr>
      </p:sp>
      <p:sp>
        <p:nvSpPr>
          <p:cNvPr id="14" name="Shape 12"/>
          <p:cNvSpPr/>
          <p:nvPr/>
        </p:nvSpPr>
        <p:spPr>
          <a:xfrm>
            <a:off x="5084064" y="1591056"/>
            <a:ext cx="1975104" cy="2395728"/>
          </a:xfrm>
          <a:prstGeom prst="roundRect">
            <a:avLst>
              <a:gd name="adj" fmla="val 2778"/>
            </a:avLst>
          </a:prstGeom>
          <a:solidFill>
            <a:srgbClr val="5A7184"/>
          </a:solidFill>
          <a:ln w="12700">
            <a:solidFill>
              <a:srgbClr val="5A7184"/>
            </a:solidFill>
            <a:prstDash val="solid"/>
          </a:ln>
          <a:effectLst>
            <a:outerShdw sx="100000" sy="100000" kx="0" ky="0" algn="bl" rotWithShape="0" blurRad="127000" dist="25400" dir="5400000">
              <a:srgbClr val="8C9AA8">
                <a:alpha val="22000"/>
              </a:srgbClr>
            </a:outerShdw>
          </a:effectLst>
        </p:spPr>
      </p:sp>
      <p:sp>
        <p:nvSpPr>
          <p:cNvPr id="15" name="Text 13"/>
          <p:cNvSpPr txBox="1"/>
          <p:nvPr/>
        </p:nvSpPr>
        <p:spPr>
          <a:xfrm>
            <a:off x="5084064" y="1737360"/>
            <a:ext cx="1975104" cy="566928"/>
          </a:xfrm>
          <a:prstGeom prst="rect">
            <a:avLst/>
          </a:prstGeom>
          <a:noFill/>
          <a:ln/>
        </p:spPr>
        <p:txBody>
          <a:bodyPr wrap="square" lIns="0" tIns="0" rIns="0" bIns="0" rtlCol="0" anchor="ctr"/>
          <a:lstStyle/>
          <a:p>
            <a:pPr algn="ctr" indent="0" marL="0">
              <a:buNone/>
            </a:pPr>
            <a:r>
              <a:rPr lang="en-US" sz="3400" b="1" dirty="0">
                <a:solidFill>
                  <a:srgbClr val="9DB8D4"/>
                </a:solidFill>
                <a:latin typeface="Cambria" pitchFamily="34" charset="0"/>
                <a:ea typeface="Cambria" pitchFamily="34" charset="-122"/>
                <a:cs typeface="Cambria" pitchFamily="34" charset="-120"/>
              </a:rPr>
              <a:t>8</a:t>
            </a:r>
            <a:endParaRPr lang="en-US" sz="3400" dirty="0"/>
          </a:p>
        </p:txBody>
      </p:sp>
      <p:sp>
        <p:nvSpPr>
          <p:cNvPr id="16" name="Text 14"/>
          <p:cNvSpPr txBox="1"/>
          <p:nvPr/>
        </p:nvSpPr>
        <p:spPr>
          <a:xfrm>
            <a:off x="5084064" y="2322576"/>
            <a:ext cx="197510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Scale</a:t>
            </a:r>
            <a:endParaRPr lang="en-US" sz="1500" dirty="0"/>
          </a:p>
        </p:txBody>
      </p:sp>
      <p:sp>
        <p:nvSpPr>
          <p:cNvPr id="17" name="Text 15"/>
          <p:cNvSpPr txBox="1"/>
          <p:nvPr/>
        </p:nvSpPr>
        <p:spPr>
          <a:xfrm>
            <a:off x="5230368" y="2688336"/>
            <a:ext cx="1682496" cy="1152144"/>
          </a:xfrm>
          <a:prstGeom prst="rect">
            <a:avLst/>
          </a:prstGeom>
          <a:noFill/>
          <a:ln/>
        </p:spPr>
        <p:txBody>
          <a:bodyPr wrap="square" lIns="0" tIns="0" rIns="0" bIns="0" rtlCol="0" anchor="ctr"/>
          <a:lstStyle/>
          <a:p>
            <a:pPr algn="ctr" indent="0" marL="0">
              <a:buNone/>
            </a:pPr>
            <a:r>
              <a:rPr lang="en-US" sz="1100" dirty="0">
                <a:solidFill>
                  <a:srgbClr val="C9DAEA"/>
                </a:solidFill>
                <a:latin typeface="Calibri" pitchFamily="34" charset="0"/>
                <a:ea typeface="Calibri" pitchFamily="34" charset="-122"/>
                <a:cs typeface="Calibri" pitchFamily="34" charset="-120"/>
              </a:rPr>
              <a:t>PostgreSQL, HA clustering, DR, HSM failover</a:t>
            </a:r>
            <a:endParaRPr lang="en-US" sz="1100" dirty="0"/>
          </a:p>
        </p:txBody>
      </p:sp>
      <p:sp>
        <p:nvSpPr>
          <p:cNvPr id="18" name="Shape 16"/>
          <p:cNvSpPr/>
          <p:nvPr/>
        </p:nvSpPr>
        <p:spPr>
          <a:xfrm>
            <a:off x="7077456" y="2788920"/>
            <a:ext cx="246888" cy="0"/>
          </a:xfrm>
          <a:prstGeom prst="line">
            <a:avLst/>
          </a:prstGeom>
          <a:noFill/>
          <a:ln w="19050">
            <a:solidFill>
              <a:srgbClr val="2E6DA4"/>
            </a:solidFill>
            <a:prstDash val="solid"/>
            <a:tailEnd type="triangle"/>
          </a:ln>
        </p:spPr>
      </p:sp>
      <p:sp>
        <p:nvSpPr>
          <p:cNvPr id="19" name="Shape 17"/>
          <p:cNvSpPr/>
          <p:nvPr/>
        </p:nvSpPr>
        <p:spPr>
          <a:xfrm>
            <a:off x="7342632" y="1591056"/>
            <a:ext cx="1975104" cy="2395728"/>
          </a:xfrm>
          <a:prstGeom prst="roundRect">
            <a:avLst>
              <a:gd name="adj" fmla="val 2778"/>
            </a:avLst>
          </a:prstGeom>
          <a:solidFill>
            <a:srgbClr val="6B8299"/>
          </a:solidFill>
          <a:ln w="12700">
            <a:solidFill>
              <a:srgbClr val="6B8299"/>
            </a:solidFill>
            <a:prstDash val="solid"/>
          </a:ln>
          <a:effectLst>
            <a:outerShdw sx="100000" sy="100000" kx="0" ky="0" algn="bl" rotWithShape="0" blurRad="127000" dist="25400" dir="5400000">
              <a:srgbClr val="8C9AA8">
                <a:alpha val="22000"/>
              </a:srgbClr>
            </a:outerShdw>
          </a:effectLst>
        </p:spPr>
      </p:sp>
      <p:sp>
        <p:nvSpPr>
          <p:cNvPr id="20" name="Text 18"/>
          <p:cNvSpPr txBox="1"/>
          <p:nvPr/>
        </p:nvSpPr>
        <p:spPr>
          <a:xfrm>
            <a:off x="7342632" y="1737360"/>
            <a:ext cx="1975104" cy="566928"/>
          </a:xfrm>
          <a:prstGeom prst="rect">
            <a:avLst/>
          </a:prstGeom>
          <a:noFill/>
          <a:ln/>
        </p:spPr>
        <p:txBody>
          <a:bodyPr wrap="square" lIns="0" tIns="0" rIns="0" bIns="0" rtlCol="0" anchor="ctr"/>
          <a:lstStyle/>
          <a:p>
            <a:pPr algn="ctr" indent="0" marL="0">
              <a:buNone/>
            </a:pPr>
            <a:r>
              <a:rPr lang="en-US" sz="3400" b="1" dirty="0">
                <a:solidFill>
                  <a:srgbClr val="9DB8D4"/>
                </a:solidFill>
                <a:latin typeface="Cambria" pitchFamily="34" charset="0"/>
                <a:ea typeface="Cambria" pitchFamily="34" charset="-122"/>
                <a:cs typeface="Cambria" pitchFamily="34" charset="-120"/>
              </a:rPr>
              <a:t>9</a:t>
            </a:r>
            <a:endParaRPr lang="en-US" sz="3400" dirty="0"/>
          </a:p>
        </p:txBody>
      </p:sp>
      <p:sp>
        <p:nvSpPr>
          <p:cNvPr id="21" name="Text 19"/>
          <p:cNvSpPr txBox="1"/>
          <p:nvPr/>
        </p:nvSpPr>
        <p:spPr>
          <a:xfrm>
            <a:off x="7342632" y="2322576"/>
            <a:ext cx="197510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Tenancy</a:t>
            </a:r>
            <a:endParaRPr lang="en-US" sz="1500" dirty="0"/>
          </a:p>
        </p:txBody>
      </p:sp>
      <p:sp>
        <p:nvSpPr>
          <p:cNvPr id="22" name="Text 20"/>
          <p:cNvSpPr txBox="1"/>
          <p:nvPr/>
        </p:nvSpPr>
        <p:spPr>
          <a:xfrm>
            <a:off x="7488936" y="2688336"/>
            <a:ext cx="1682496" cy="1152144"/>
          </a:xfrm>
          <a:prstGeom prst="rect">
            <a:avLst/>
          </a:prstGeom>
          <a:noFill/>
          <a:ln/>
        </p:spPr>
        <p:txBody>
          <a:bodyPr wrap="square" lIns="0" tIns="0" rIns="0" bIns="0" rtlCol="0" anchor="ctr"/>
          <a:lstStyle/>
          <a:p>
            <a:pPr algn="ctr" indent="0" marL="0">
              <a:buNone/>
            </a:pPr>
            <a:r>
              <a:rPr lang="en-US" sz="1100" dirty="0">
                <a:solidFill>
                  <a:srgbClr val="C9DAEA"/>
                </a:solidFill>
                <a:latin typeface="Calibri" pitchFamily="34" charset="0"/>
                <a:ea typeface="Calibri" pitchFamily="34" charset="-122"/>
                <a:cs typeface="Calibri" pitchFamily="34" charset="-120"/>
              </a:rPr>
              <a:t>Namespaces, quotas, per-tenant audit</a:t>
            </a:r>
            <a:endParaRPr lang="en-US" sz="1100" dirty="0"/>
          </a:p>
        </p:txBody>
      </p:sp>
      <p:sp>
        <p:nvSpPr>
          <p:cNvPr id="23" name="Shape 21"/>
          <p:cNvSpPr/>
          <p:nvPr/>
        </p:nvSpPr>
        <p:spPr>
          <a:xfrm>
            <a:off x="9336024" y="2788920"/>
            <a:ext cx="246888" cy="0"/>
          </a:xfrm>
          <a:prstGeom prst="line">
            <a:avLst/>
          </a:prstGeom>
          <a:noFill/>
          <a:ln w="19050">
            <a:solidFill>
              <a:srgbClr val="2E6DA4"/>
            </a:solidFill>
            <a:prstDash val="solid"/>
            <a:tailEnd type="triangle"/>
          </a:ln>
        </p:spPr>
      </p:sp>
      <p:sp>
        <p:nvSpPr>
          <p:cNvPr id="24" name="Shape 22"/>
          <p:cNvSpPr/>
          <p:nvPr/>
        </p:nvSpPr>
        <p:spPr>
          <a:xfrm>
            <a:off x="9601200" y="1591056"/>
            <a:ext cx="1975104" cy="2395728"/>
          </a:xfrm>
          <a:prstGeom prst="roundRect">
            <a:avLst>
              <a:gd name="adj" fmla="val 2778"/>
            </a:avLst>
          </a:prstGeom>
          <a:solidFill>
            <a:srgbClr val="C8952B"/>
          </a:solidFill>
          <a:ln w="12700">
            <a:solidFill>
              <a:srgbClr val="C8952B"/>
            </a:solidFill>
            <a:prstDash val="solid"/>
          </a:ln>
          <a:effectLst>
            <a:outerShdw sx="100000" sy="100000" kx="0" ky="0" algn="bl" rotWithShape="0" blurRad="127000" dist="25400" dir="5400000">
              <a:srgbClr val="8C9AA8">
                <a:alpha val="22000"/>
              </a:srgbClr>
            </a:outerShdw>
          </a:effectLst>
        </p:spPr>
      </p:sp>
      <p:sp>
        <p:nvSpPr>
          <p:cNvPr id="25" name="Text 23"/>
          <p:cNvSpPr txBox="1"/>
          <p:nvPr/>
        </p:nvSpPr>
        <p:spPr>
          <a:xfrm>
            <a:off x="9601200" y="1737360"/>
            <a:ext cx="1975104" cy="566928"/>
          </a:xfrm>
          <a:prstGeom prst="rect">
            <a:avLst/>
          </a:prstGeom>
          <a:noFill/>
          <a:ln/>
        </p:spPr>
        <p:txBody>
          <a:bodyPr wrap="square" lIns="0" tIns="0" rIns="0" bIns="0" rtlCol="0" anchor="ctr"/>
          <a:lstStyle/>
          <a:p>
            <a:pPr algn="ctr" indent="0" marL="0">
              <a:buNone/>
            </a:pPr>
            <a:r>
              <a:rPr lang="en-US" sz="3400" b="1" dirty="0">
                <a:solidFill>
                  <a:srgbClr val="102437"/>
                </a:solidFill>
                <a:latin typeface="Cambria" pitchFamily="34" charset="0"/>
                <a:ea typeface="Cambria" pitchFamily="34" charset="-122"/>
                <a:cs typeface="Cambria" pitchFamily="34" charset="-120"/>
              </a:rPr>
              <a:t>10</a:t>
            </a:r>
            <a:endParaRPr lang="en-US" sz="3400" dirty="0"/>
          </a:p>
        </p:txBody>
      </p:sp>
      <p:sp>
        <p:nvSpPr>
          <p:cNvPr id="26" name="Text 24"/>
          <p:cNvSpPr txBox="1"/>
          <p:nvPr/>
        </p:nvSpPr>
        <p:spPr>
          <a:xfrm>
            <a:off x="9601200" y="2322576"/>
            <a:ext cx="1975104" cy="329184"/>
          </a:xfrm>
          <a:prstGeom prst="rect">
            <a:avLst/>
          </a:prstGeom>
          <a:noFill/>
          <a:ln/>
        </p:spPr>
        <p:txBody>
          <a:bodyPr wrap="square" lIns="0" tIns="0" rIns="0" bIns="0" rtlCol="0" anchor="ctr"/>
          <a:lstStyle/>
          <a:p>
            <a:pPr algn="ctr" indent="0" marL="0">
              <a:buNone/>
            </a:pPr>
            <a:r>
              <a:rPr lang="en-US" sz="1500" b="1" dirty="0">
                <a:solidFill>
                  <a:srgbClr val="102437"/>
                </a:solidFill>
                <a:latin typeface="Cambria" pitchFamily="34" charset="0"/>
                <a:ea typeface="Cambria" pitchFamily="34" charset="-122"/>
                <a:cs typeface="Cambria" pitchFamily="34" charset="-120"/>
              </a:rPr>
              <a:t>Compliance</a:t>
            </a:r>
            <a:endParaRPr lang="en-US" sz="1500" dirty="0"/>
          </a:p>
        </p:txBody>
      </p:sp>
      <p:sp>
        <p:nvSpPr>
          <p:cNvPr id="27" name="Text 25"/>
          <p:cNvSpPr txBox="1"/>
          <p:nvPr/>
        </p:nvSpPr>
        <p:spPr>
          <a:xfrm>
            <a:off x="9747504" y="2688336"/>
            <a:ext cx="1682496" cy="1152144"/>
          </a:xfrm>
          <a:prstGeom prst="rect">
            <a:avLst/>
          </a:prstGeom>
          <a:noFill/>
          <a:ln/>
        </p:spPr>
        <p:txBody>
          <a:bodyPr wrap="square" lIns="0" tIns="0" rIns="0" bIns="0" rtlCol="0" anchor="ctr"/>
          <a:lstStyle/>
          <a:p>
            <a:pPr algn="ctr" indent="0" marL="0">
              <a:buNone/>
            </a:pPr>
            <a:r>
              <a:rPr lang="en-US" sz="1100" dirty="0">
                <a:solidFill>
                  <a:srgbClr val="4A3A18"/>
                </a:solidFill>
                <a:latin typeface="Calibri" pitchFamily="34" charset="0"/>
                <a:ea typeface="Calibri" pitchFamily="34" charset="-122"/>
                <a:cs typeface="Calibri" pitchFamily="34" charset="-120"/>
              </a:rPr>
              <a:t>Validated token, KMIP 3.0, post-quantum</a:t>
            </a:r>
            <a:endParaRPr lang="en-US" sz="1100" dirty="0"/>
          </a:p>
        </p:txBody>
      </p:sp>
      <p:sp>
        <p:nvSpPr>
          <p:cNvPr id="28" name="Shape 26"/>
          <p:cNvSpPr/>
          <p:nvPr/>
        </p:nvSpPr>
        <p:spPr>
          <a:xfrm>
            <a:off x="566928" y="4224528"/>
            <a:ext cx="5394960" cy="1700784"/>
          </a:xfrm>
          <a:prstGeom prst="roundRect">
            <a:avLst>
              <a:gd name="adj" fmla="val 3226"/>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29" name="Text 27"/>
          <p:cNvSpPr txBox="1"/>
          <p:nvPr/>
        </p:nvSpPr>
        <p:spPr>
          <a:xfrm>
            <a:off x="804672" y="4425696"/>
            <a:ext cx="4919472" cy="310896"/>
          </a:xfrm>
          <a:prstGeom prst="rect">
            <a:avLst/>
          </a:prstGeom>
          <a:noFill/>
          <a:ln/>
        </p:spPr>
        <p:txBody>
          <a:bodyPr wrap="square" lIns="0" tIns="0" rIns="0" bIns="0" rtlCol="0" anchor="ctr"/>
          <a:lstStyle/>
          <a:p>
            <a:pPr indent="0" marL="0">
              <a:buNone/>
            </a:pPr>
            <a:r>
              <a:rPr lang="en-US" sz="1600" b="1" dirty="0">
                <a:solidFill>
                  <a:srgbClr val="1A3A5C"/>
                </a:solidFill>
                <a:latin typeface="Cambria" pitchFamily="34" charset="0"/>
                <a:ea typeface="Cambria" pitchFamily="34" charset="-122"/>
                <a:cs typeface="Cambria" pitchFamily="34" charset="-120"/>
              </a:rPr>
              <a:t>How the waves are ordered</a:t>
            </a:r>
            <a:endParaRPr lang="en-US" sz="1600" dirty="0"/>
          </a:p>
        </p:txBody>
      </p:sp>
      <p:sp>
        <p:nvSpPr>
          <p:cNvPr id="30" name="Text 28"/>
          <p:cNvSpPr txBox="1"/>
          <p:nvPr/>
        </p:nvSpPr>
        <p:spPr>
          <a:xfrm>
            <a:off x="804672" y="4791456"/>
            <a:ext cx="4919472" cy="969264"/>
          </a:xfrm>
          <a:prstGeom prst="rect">
            <a:avLst/>
          </a:prstGeom>
          <a:noFill/>
          <a:ln/>
        </p:spPr>
        <p:txBody>
          <a:bodyPr wrap="square" lIns="0" tIns="0" rIns="0" bIns="0" rtlCol="0" anchor="t"/>
          <a:lstStyle/>
          <a:p>
            <a:pPr marL="342900" indent="-342900">
              <a:lnSpc>
                <a:spcPts val="1700"/>
              </a:lnSpc>
              <a:spcAft>
                <a:spcPts val="600"/>
              </a:spcAft>
              <a:buSzPct val="100000"/>
              <a:buChar char="•"/>
            </a:pPr>
            <a:r>
              <a:rPr lang="en-US" sz="1250" dirty="0">
                <a:solidFill>
                  <a:srgbClr val="4D5A68"/>
                </a:solidFill>
                <a:latin typeface="Calibri" pitchFamily="34" charset="0"/>
                <a:ea typeface="Calibri" pitchFamily="34" charset="-122"/>
                <a:cs typeface="Calibri" pitchFamily="34" charset="-120"/>
              </a:rPr>
              <a:t>By what each unlocks, not by visibility</a:t>
            </a:r>
            <a:endParaRPr lang="en-US" sz="1250" dirty="0"/>
          </a:p>
          <a:p>
            <a:pPr marL="342900" indent="-342900">
              <a:lnSpc>
                <a:spcPts val="1700"/>
              </a:lnSpc>
              <a:spcAft>
                <a:spcPts val="600"/>
              </a:spcAft>
              <a:buSzPct val="100000"/>
              <a:buChar char="•"/>
            </a:pPr>
            <a:r>
              <a:rPr lang="en-US" sz="1250" dirty="0">
                <a:solidFill>
                  <a:srgbClr val="4D5A68"/>
                </a:solidFill>
                <a:latin typeface="Calibri" pitchFamily="34" charset="0"/>
                <a:ea typeface="Calibri" pitchFamily="34" charset="-122"/>
                <a:cs typeface="Calibri" pitchFamily="34" charset="-120"/>
              </a:rPr>
              <a:t>Wave 6 makes five other gaps addressable at once</a:t>
            </a:r>
            <a:endParaRPr lang="en-US" sz="1250" dirty="0"/>
          </a:p>
          <a:p>
            <a:pPr marL="342900" indent="-342900">
              <a:lnSpc>
                <a:spcPts val="1700"/>
              </a:lnSpc>
              <a:spcAft>
                <a:spcPts val="600"/>
              </a:spcAft>
              <a:buSzPct val="100000"/>
              <a:buChar char="•"/>
            </a:pPr>
            <a:r>
              <a:rPr lang="en-US" sz="1250" dirty="0">
                <a:solidFill>
                  <a:srgbClr val="4D5A68"/>
                </a:solidFill>
                <a:latin typeface="Calibri" pitchFamily="34" charset="0"/>
                <a:ea typeface="Calibri" pitchFamily="34" charset="-122"/>
                <a:cs typeface="Calibri" pitchFamily="34" charset="-120"/>
              </a:rPr>
              <a:t>Wave 8 is a prerequisite for 9, not a parallel track</a:t>
            </a:r>
            <a:endParaRPr lang="en-US" sz="1250" dirty="0"/>
          </a:p>
          <a:p>
            <a:pPr marL="342900" indent="-342900">
              <a:lnSpc>
                <a:spcPts val="1700"/>
              </a:lnSpc>
              <a:spcAft>
                <a:spcPts val="600"/>
              </a:spcAft>
              <a:buSzPct val="100000"/>
              <a:buChar char="•"/>
            </a:pPr>
            <a:r>
              <a:rPr lang="en-US" sz="1250" dirty="0">
                <a:solidFill>
                  <a:srgbClr val="4D5A68"/>
                </a:solidFill>
                <a:latin typeface="Calibri" pitchFamily="34" charset="0"/>
                <a:ea typeface="Calibri" pitchFamily="34" charset="-122"/>
                <a:cs typeface="Calibri" pitchFamily="34" charset="-120"/>
              </a:rPr>
              <a:t>Each wave ships independently and is useful alone</a:t>
            </a:r>
            <a:endParaRPr lang="en-US" sz="1250" dirty="0"/>
          </a:p>
        </p:txBody>
      </p:sp>
      <p:sp>
        <p:nvSpPr>
          <p:cNvPr id="31" name="Shape 29"/>
          <p:cNvSpPr/>
          <p:nvPr/>
        </p:nvSpPr>
        <p:spPr>
          <a:xfrm>
            <a:off x="6236208" y="4224528"/>
            <a:ext cx="5394960" cy="1700784"/>
          </a:xfrm>
          <a:prstGeom prst="roundRect">
            <a:avLst>
              <a:gd name="adj" fmla="val 3226"/>
            </a:avLst>
          </a:prstGeom>
          <a:solidFill>
            <a:srgbClr val="FBF3E3"/>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32" name="Text 30"/>
          <p:cNvSpPr txBox="1"/>
          <p:nvPr/>
        </p:nvSpPr>
        <p:spPr>
          <a:xfrm>
            <a:off x="6473952" y="4425696"/>
            <a:ext cx="4919472" cy="201168"/>
          </a:xfrm>
          <a:prstGeom prst="rect">
            <a:avLst/>
          </a:prstGeom>
          <a:noFill/>
          <a:ln/>
        </p:spPr>
        <p:txBody>
          <a:bodyPr wrap="square" lIns="0" tIns="0" rIns="0" bIns="0" rtlCol="0" anchor="ctr"/>
          <a:lstStyle/>
          <a:p>
            <a:pPr indent="0" marL="0">
              <a:buNone/>
            </a:pPr>
            <a:r>
              <a:rPr lang="en-US" sz="1000" b="1" spc="160" kern="0" dirty="0">
                <a:solidFill>
                  <a:srgbClr val="9A6410"/>
                </a:solidFill>
                <a:latin typeface="Calibri" pitchFamily="34" charset="0"/>
                <a:ea typeface="Calibri" pitchFamily="34" charset="-122"/>
                <a:cs typeface="Calibri" pitchFamily="34" charset="-120"/>
              </a:rPr>
              <a:t>THE RULE THAT MADE PHASES 0–5 WORK</a:t>
            </a:r>
            <a:endParaRPr lang="en-US" sz="1000" dirty="0"/>
          </a:p>
        </p:txBody>
      </p:sp>
      <p:sp>
        <p:nvSpPr>
          <p:cNvPr id="33" name="Text 31"/>
          <p:cNvSpPr txBox="1"/>
          <p:nvPr/>
        </p:nvSpPr>
        <p:spPr>
          <a:xfrm>
            <a:off x="6473952" y="4700016"/>
            <a:ext cx="4919472" cy="310896"/>
          </a:xfrm>
          <a:prstGeom prst="rect">
            <a:avLst/>
          </a:prstGeom>
          <a:noFill/>
          <a:ln/>
        </p:spPr>
        <p:txBody>
          <a:bodyPr wrap="square" lIns="0" tIns="0" rIns="0" bIns="0" rtlCol="0" anchor="ctr"/>
          <a:lstStyle/>
          <a:p>
            <a:pPr indent="0" marL="0">
              <a:buNone/>
            </a:pPr>
            <a:r>
              <a:rPr lang="en-US" sz="1600" b="1" dirty="0">
                <a:solidFill>
                  <a:srgbClr val="1A3A5C"/>
                </a:solidFill>
                <a:latin typeface="Cambria" pitchFamily="34" charset="0"/>
                <a:ea typeface="Cambria" pitchFamily="34" charset="-122"/>
                <a:cs typeface="Cambria" pitchFamily="34" charset="-120"/>
              </a:rPr>
              <a:t>Every wave has a demonstrable gate</a:t>
            </a:r>
            <a:endParaRPr lang="en-US" sz="1600" dirty="0"/>
          </a:p>
        </p:txBody>
      </p:sp>
      <p:sp>
        <p:nvSpPr>
          <p:cNvPr id="34" name="Text 32"/>
          <p:cNvSpPr txBox="1"/>
          <p:nvPr/>
        </p:nvSpPr>
        <p:spPr>
          <a:xfrm>
            <a:off x="6473952" y="5065776"/>
            <a:ext cx="4919472" cy="694944"/>
          </a:xfrm>
          <a:prstGeom prst="rect">
            <a:avLst/>
          </a:prstGeom>
          <a:noFill/>
          <a:ln/>
        </p:spPr>
        <p:txBody>
          <a:bodyPr wrap="square" lIns="0" tIns="0" rIns="0" bIns="0" rtlCol="0" anchor="t"/>
          <a:lstStyle/>
          <a:p>
            <a:pPr indent="0" marL="0">
              <a:lnSpc>
                <a:spcPts val="1700"/>
              </a:lnSpc>
              <a:buNone/>
            </a:pPr>
            <a:r>
              <a:rPr lang="en-US" sz="1250" dirty="0">
                <a:solidFill>
                  <a:srgbClr val="4D5A68"/>
                </a:solidFill>
                <a:latin typeface="Calibri" pitchFamily="34" charset="0"/>
                <a:ea typeface="Calibri" pitchFamily="34" charset="-122"/>
                <a:cs typeface="Calibri" pitchFamily="34" charset="-120"/>
              </a:rPr>
              <a:t>Not a checklist — a condition someone can watch you meet. A wave is finished when its gate is demonstrated, not when its code is written.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27664" cy="237744"/>
          </a:xfrm>
          <a:prstGeom prst="rect">
            <a:avLst/>
          </a:prstGeom>
          <a:noFill/>
          <a:ln/>
        </p:spPr>
        <p:txBody>
          <a:bodyPr wrap="square" lIns="0" tIns="0" rIns="0" bIns="0" rtlCol="0" anchor="ctr"/>
          <a:lstStyle/>
          <a:p>
            <a:pPr indent="0" marL="0">
              <a:buNone/>
            </a:pPr>
            <a:r>
              <a:rPr lang="en-US" sz="1150" b="1" spc="220" kern="0" dirty="0">
                <a:solidFill>
                  <a:srgbClr val="C8952B"/>
                </a:solidFill>
                <a:latin typeface="Calibri" pitchFamily="34" charset="0"/>
                <a:ea typeface="Calibri" pitchFamily="34" charset="-122"/>
                <a:cs typeface="Calibri" pitchFamily="34" charset="-120"/>
              </a:rPr>
              <a:t>ROADMAP · 2 OF 3</a:t>
            </a:r>
            <a:endParaRPr lang="en-US" sz="1150" dirty="0"/>
          </a:p>
        </p:txBody>
      </p:sp>
      <p:sp>
        <p:nvSpPr>
          <p:cNvPr id="3" name="Text 1"/>
          <p:cNvSpPr txBox="1"/>
          <p:nvPr/>
        </p:nvSpPr>
        <p:spPr>
          <a:xfrm>
            <a:off x="566928" y="621792"/>
            <a:ext cx="11027664" cy="658368"/>
          </a:xfrm>
          <a:prstGeom prst="rect">
            <a:avLst/>
          </a:prstGeom>
          <a:noFill/>
          <a:ln/>
        </p:spPr>
        <p:txBody>
          <a:bodyPr wrap="square" lIns="0" tIns="0" rIns="0" bIns="0" rtlCol="0" anchor="ctr"/>
          <a:lstStyle/>
          <a:p>
            <a:pPr indent="0" marL="0">
              <a:buNone/>
            </a:pPr>
            <a:r>
              <a:rPr lang="en-US" sz="3400" b="1" dirty="0">
                <a:solidFill>
                  <a:srgbClr val="1A3A5C"/>
                </a:solidFill>
                <a:latin typeface="Cambria" pitchFamily="34" charset="0"/>
                <a:ea typeface="Cambria" pitchFamily="34" charset="-122"/>
                <a:cs typeface="Cambria" pitchFamily="34" charset="-120"/>
              </a:rPr>
              <a:t>Wave 6 and 7 — the control plane</a:t>
            </a:r>
            <a:endParaRPr lang="en-US" sz="3400" dirty="0"/>
          </a:p>
        </p:txBody>
      </p:sp>
      <p:sp>
        <p:nvSpPr>
          <p:cNvPr id="4" name="Shape 2"/>
          <p:cNvSpPr/>
          <p:nvPr/>
        </p:nvSpPr>
        <p:spPr>
          <a:xfrm>
            <a:off x="566928" y="1554480"/>
            <a:ext cx="3520440" cy="2304288"/>
          </a:xfrm>
          <a:prstGeom prst="roundRect">
            <a:avLst>
              <a:gd name="adj" fmla="val 2381"/>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5" name="Text 3"/>
          <p:cNvSpPr txBox="1"/>
          <p:nvPr/>
        </p:nvSpPr>
        <p:spPr>
          <a:xfrm>
            <a:off x="804672" y="1755648"/>
            <a:ext cx="3044952" cy="201168"/>
          </a:xfrm>
          <a:prstGeom prst="rect">
            <a:avLst/>
          </a:prstGeom>
          <a:noFill/>
          <a:ln/>
        </p:spPr>
        <p:txBody>
          <a:bodyPr wrap="square" lIns="0" tIns="0" rIns="0" bIns="0" rtlCol="0" anchor="ctr"/>
          <a:lstStyle/>
          <a:p>
            <a:pPr indent="0" marL="0">
              <a:buNone/>
            </a:pPr>
            <a:r>
              <a:rPr lang="en-US" sz="1000" b="1" spc="160" kern="0" dirty="0">
                <a:solidFill>
                  <a:srgbClr val="1A3A5C"/>
                </a:solidFill>
                <a:latin typeface="Calibri" pitchFamily="34" charset="0"/>
                <a:ea typeface="Calibri" pitchFamily="34" charset="-122"/>
                <a:cs typeface="Calibri" pitchFamily="34" charset="-120"/>
              </a:rPr>
              <a:t>WAVE 6.1</a:t>
            </a:r>
            <a:endParaRPr lang="en-US" sz="1000" dirty="0"/>
          </a:p>
        </p:txBody>
      </p:sp>
      <p:sp>
        <p:nvSpPr>
          <p:cNvPr id="6" name="Text 4"/>
          <p:cNvSpPr txBox="1"/>
          <p:nvPr/>
        </p:nvSpPr>
        <p:spPr>
          <a:xfrm>
            <a:off x="804672" y="2029968"/>
            <a:ext cx="3044952" cy="512064"/>
          </a:xfrm>
          <a:prstGeom prst="rect">
            <a:avLst/>
          </a:prstGeom>
          <a:noFill/>
          <a:ln/>
        </p:spPr>
        <p:txBody>
          <a:bodyPr wrap="square" lIns="0" tIns="0" rIns="0" bIns="0" rtlCol="0" anchor="ctr"/>
          <a:lstStyle/>
          <a:p>
            <a:pPr indent="0" marL="0">
              <a:buNone/>
            </a:pPr>
            <a:r>
              <a:rPr lang="en-US" sz="1500" b="1" dirty="0">
                <a:solidFill>
                  <a:srgbClr val="1A3A5C"/>
                </a:solidFill>
                <a:latin typeface="Cambria" pitchFamily="34" charset="0"/>
                <a:ea typeface="Cambria" pitchFamily="34" charset="-122"/>
                <a:cs typeface="Cambria" pitchFamily="34" charset="-120"/>
              </a:rPr>
              <a:t>Service layer extraction</a:t>
            </a:r>
            <a:endParaRPr lang="en-US" sz="1500" dirty="0"/>
          </a:p>
        </p:txBody>
      </p:sp>
      <p:sp>
        <p:nvSpPr>
          <p:cNvPr id="7" name="Text 5"/>
          <p:cNvSpPr txBox="1"/>
          <p:nvPr/>
        </p:nvSpPr>
        <p:spPr>
          <a:xfrm>
            <a:off x="804672" y="2596896"/>
            <a:ext cx="3044952" cy="713232"/>
          </a:xfrm>
          <a:prstGeom prst="rect">
            <a:avLst/>
          </a:prstGeom>
          <a:noFill/>
          <a:ln/>
        </p:spPr>
        <p:txBody>
          <a:bodyPr wrap="square" lIns="0" tIns="0" rIns="0" bIns="0" rtlCol="0" anchor="t"/>
          <a:lstStyle/>
          <a:p>
            <a:pPr indent="0" marL="0">
              <a:lnSpc>
                <a:spcPts val="1700"/>
              </a:lnSpc>
              <a:buNone/>
            </a:pPr>
            <a:r>
              <a:rPr lang="en-US" sz="1150" dirty="0">
                <a:solidFill>
                  <a:srgbClr val="4D5A68"/>
                </a:solidFill>
                <a:latin typeface="Calibri" pitchFamily="34" charset="0"/>
                <a:ea typeface="Calibri" pitchFamily="34" charset="-122"/>
                <a:cs typeface="Calibri" pitchFamily="34" charset="-120"/>
              </a:rPr>
              <a:t>Move authorization, dual control, audit and metrics out of the dispatcher into a guard both transports call.</a:t>
            </a:r>
            <a:endParaRPr lang="en-US" sz="1150" dirty="0"/>
          </a:p>
        </p:txBody>
      </p:sp>
      <p:sp>
        <p:nvSpPr>
          <p:cNvPr id="8" name="Text 6"/>
          <p:cNvSpPr txBox="1"/>
          <p:nvPr/>
        </p:nvSpPr>
        <p:spPr>
          <a:xfrm>
            <a:off x="804672" y="3346704"/>
            <a:ext cx="3044952" cy="402336"/>
          </a:xfrm>
          <a:prstGeom prst="rect">
            <a:avLst/>
          </a:prstGeom>
          <a:noFill/>
          <a:ln/>
        </p:spPr>
        <p:txBody>
          <a:bodyPr wrap="square" lIns="0" tIns="0" rIns="0" bIns="0" rtlCol="0" anchor="ctr"/>
          <a:lstStyle/>
          <a:p>
            <a:pPr indent="0" marL="0">
              <a:buNone/>
            </a:pPr>
            <a:r>
              <a:rPr lang="en-US" sz="1050" i="1" dirty="0">
                <a:solidFill>
                  <a:srgbClr val="1F7A43"/>
                </a:solidFill>
                <a:latin typeface="Calibri" pitchFamily="34" charset="0"/>
                <a:ea typeface="Calibri" pitchFamily="34" charset="-122"/>
                <a:cs typeface="Calibri" pitchFamily="34" charset="-120"/>
              </a:rPr>
              <a:t>Gate: pure refactor — all 816 tests pass unchanged, no new surface.</a:t>
            </a:r>
            <a:endParaRPr lang="en-US" sz="1050" dirty="0"/>
          </a:p>
        </p:txBody>
      </p:sp>
      <p:sp>
        <p:nvSpPr>
          <p:cNvPr id="9" name="Shape 7"/>
          <p:cNvSpPr/>
          <p:nvPr/>
        </p:nvSpPr>
        <p:spPr>
          <a:xfrm>
            <a:off x="4334256" y="1554480"/>
            <a:ext cx="3520440" cy="2304288"/>
          </a:xfrm>
          <a:prstGeom prst="roundRect">
            <a:avLst>
              <a:gd name="adj" fmla="val 2381"/>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10" name="Text 8"/>
          <p:cNvSpPr txBox="1"/>
          <p:nvPr/>
        </p:nvSpPr>
        <p:spPr>
          <a:xfrm>
            <a:off x="4572000" y="1755648"/>
            <a:ext cx="3044952" cy="201168"/>
          </a:xfrm>
          <a:prstGeom prst="rect">
            <a:avLst/>
          </a:prstGeom>
          <a:noFill/>
          <a:ln/>
        </p:spPr>
        <p:txBody>
          <a:bodyPr wrap="square" lIns="0" tIns="0" rIns="0" bIns="0" rtlCol="0" anchor="ctr"/>
          <a:lstStyle/>
          <a:p>
            <a:pPr indent="0" marL="0">
              <a:buNone/>
            </a:pPr>
            <a:r>
              <a:rPr lang="en-US" sz="1000" b="1" spc="160" kern="0" dirty="0">
                <a:solidFill>
                  <a:srgbClr val="1A3A5C"/>
                </a:solidFill>
                <a:latin typeface="Calibri" pitchFamily="34" charset="0"/>
                <a:ea typeface="Calibri" pitchFamily="34" charset="-122"/>
                <a:cs typeface="Calibri" pitchFamily="34" charset="-120"/>
              </a:rPr>
              <a:t>WAVE 6.2</a:t>
            </a:r>
            <a:endParaRPr lang="en-US" sz="1000" dirty="0"/>
          </a:p>
        </p:txBody>
      </p:sp>
      <p:sp>
        <p:nvSpPr>
          <p:cNvPr id="11" name="Text 9"/>
          <p:cNvSpPr txBox="1"/>
          <p:nvPr/>
        </p:nvSpPr>
        <p:spPr>
          <a:xfrm>
            <a:off x="4572000" y="2029968"/>
            <a:ext cx="3044952" cy="512064"/>
          </a:xfrm>
          <a:prstGeom prst="rect">
            <a:avLst/>
          </a:prstGeom>
          <a:noFill/>
          <a:ln/>
        </p:spPr>
        <p:txBody>
          <a:bodyPr wrap="square" lIns="0" tIns="0" rIns="0" bIns="0" rtlCol="0" anchor="ctr"/>
          <a:lstStyle/>
          <a:p>
            <a:pPr indent="0" marL="0">
              <a:buNone/>
            </a:pPr>
            <a:r>
              <a:rPr lang="en-US" sz="1500" b="1" dirty="0">
                <a:solidFill>
                  <a:srgbClr val="1A3A5C"/>
                </a:solidFill>
                <a:latin typeface="Cambria" pitchFamily="34" charset="0"/>
                <a:ea typeface="Cambria" pitchFamily="34" charset="-122"/>
                <a:cs typeface="Cambria" pitchFamily="34" charset="-120"/>
              </a:rPr>
              <a:t>Read-only REST + sessions</a:t>
            </a:r>
            <a:endParaRPr lang="en-US" sz="1500" dirty="0"/>
          </a:p>
        </p:txBody>
      </p:sp>
      <p:sp>
        <p:nvSpPr>
          <p:cNvPr id="12" name="Text 10"/>
          <p:cNvSpPr txBox="1"/>
          <p:nvPr/>
        </p:nvSpPr>
        <p:spPr>
          <a:xfrm>
            <a:off x="4572000" y="2596896"/>
            <a:ext cx="3044952" cy="713232"/>
          </a:xfrm>
          <a:prstGeom prst="rect">
            <a:avLst/>
          </a:prstGeom>
          <a:noFill/>
          <a:ln/>
        </p:spPr>
        <p:txBody>
          <a:bodyPr wrap="square" lIns="0" tIns="0" rIns="0" bIns="0" rtlCol="0" anchor="t"/>
          <a:lstStyle/>
          <a:p>
            <a:pPr indent="0" marL="0">
              <a:lnSpc>
                <a:spcPts val="1700"/>
              </a:lnSpc>
              <a:buNone/>
            </a:pPr>
            <a:r>
              <a:rPr lang="en-US" sz="1150" dirty="0">
                <a:solidFill>
                  <a:srgbClr val="4D5A68"/>
                </a:solidFill>
                <a:latin typeface="Calibri" pitchFamily="34" charset="0"/>
                <a:ea typeface="Calibri" pitchFamily="34" charset="-122"/>
                <a:cs typeface="Calibri" pitchFamily="34" charset="-120"/>
              </a:rPr>
              <a:t>Login, tokens, key inventory with paging and sort, audit search, approval queue, expiry reports.</a:t>
            </a:r>
            <a:endParaRPr lang="en-US" sz="1150" dirty="0"/>
          </a:p>
        </p:txBody>
      </p:sp>
      <p:sp>
        <p:nvSpPr>
          <p:cNvPr id="13" name="Text 11"/>
          <p:cNvSpPr txBox="1"/>
          <p:nvPr/>
        </p:nvSpPr>
        <p:spPr>
          <a:xfrm>
            <a:off x="4572000" y="3346704"/>
            <a:ext cx="3044952" cy="402336"/>
          </a:xfrm>
          <a:prstGeom prst="rect">
            <a:avLst/>
          </a:prstGeom>
          <a:noFill/>
          <a:ln/>
        </p:spPr>
        <p:txBody>
          <a:bodyPr wrap="square" lIns="0" tIns="0" rIns="0" bIns="0" rtlCol="0" anchor="ctr"/>
          <a:lstStyle/>
          <a:p>
            <a:pPr indent="0" marL="0">
              <a:buNone/>
            </a:pPr>
            <a:r>
              <a:rPr lang="en-US" sz="1050" i="1" dirty="0">
                <a:solidFill>
                  <a:srgbClr val="1F7A43"/>
                </a:solidFill>
                <a:latin typeface="Calibri" pitchFamily="34" charset="0"/>
                <a:ea typeface="Calibri" pitchFamily="34" charset="-122"/>
                <a:cs typeface="Calibri" pitchFamily="34" charset="-120"/>
              </a:rPr>
              <a:t>Gate: a read-only console renders real data and can change nothing.</a:t>
            </a:r>
            <a:endParaRPr lang="en-US" sz="1050" dirty="0"/>
          </a:p>
        </p:txBody>
      </p:sp>
      <p:sp>
        <p:nvSpPr>
          <p:cNvPr id="14" name="Shape 12"/>
          <p:cNvSpPr/>
          <p:nvPr/>
        </p:nvSpPr>
        <p:spPr>
          <a:xfrm>
            <a:off x="8101584" y="1554480"/>
            <a:ext cx="3520440" cy="2304288"/>
          </a:xfrm>
          <a:prstGeom prst="roundRect">
            <a:avLst>
              <a:gd name="adj" fmla="val 2381"/>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15" name="Text 13"/>
          <p:cNvSpPr txBox="1"/>
          <p:nvPr/>
        </p:nvSpPr>
        <p:spPr>
          <a:xfrm>
            <a:off x="8339328" y="1755648"/>
            <a:ext cx="3044952" cy="201168"/>
          </a:xfrm>
          <a:prstGeom prst="rect">
            <a:avLst/>
          </a:prstGeom>
          <a:noFill/>
          <a:ln/>
        </p:spPr>
        <p:txBody>
          <a:bodyPr wrap="square" lIns="0" tIns="0" rIns="0" bIns="0" rtlCol="0" anchor="ctr"/>
          <a:lstStyle/>
          <a:p>
            <a:pPr indent="0" marL="0">
              <a:buNone/>
            </a:pPr>
            <a:r>
              <a:rPr lang="en-US" sz="1000" b="1" spc="160" kern="0" dirty="0">
                <a:solidFill>
                  <a:srgbClr val="1A3A5C"/>
                </a:solidFill>
                <a:latin typeface="Calibri" pitchFamily="34" charset="0"/>
                <a:ea typeface="Calibri" pitchFamily="34" charset="-122"/>
                <a:cs typeface="Calibri" pitchFamily="34" charset="-120"/>
              </a:rPr>
              <a:t>WAVE 6.3</a:t>
            </a:r>
            <a:endParaRPr lang="en-US" sz="1000" dirty="0"/>
          </a:p>
        </p:txBody>
      </p:sp>
      <p:sp>
        <p:nvSpPr>
          <p:cNvPr id="16" name="Text 14"/>
          <p:cNvSpPr txBox="1"/>
          <p:nvPr/>
        </p:nvSpPr>
        <p:spPr>
          <a:xfrm>
            <a:off x="8339328" y="2029968"/>
            <a:ext cx="3044952" cy="512064"/>
          </a:xfrm>
          <a:prstGeom prst="rect">
            <a:avLst/>
          </a:prstGeom>
          <a:noFill/>
          <a:ln/>
        </p:spPr>
        <p:txBody>
          <a:bodyPr wrap="square" lIns="0" tIns="0" rIns="0" bIns="0" rtlCol="0" anchor="ctr"/>
          <a:lstStyle/>
          <a:p>
            <a:pPr indent="0" marL="0">
              <a:buNone/>
            </a:pPr>
            <a:r>
              <a:rPr lang="en-US" sz="1500" b="1" dirty="0">
                <a:solidFill>
                  <a:srgbClr val="1A3A5C"/>
                </a:solidFill>
                <a:latin typeface="Cambria" pitchFamily="34" charset="0"/>
                <a:ea typeface="Cambria" pitchFamily="34" charset="-122"/>
                <a:cs typeface="Cambria" pitchFamily="34" charset="-120"/>
              </a:rPr>
              <a:t>Write endpoints</a:t>
            </a:r>
            <a:endParaRPr lang="en-US" sz="1500" dirty="0"/>
          </a:p>
        </p:txBody>
      </p:sp>
      <p:sp>
        <p:nvSpPr>
          <p:cNvPr id="17" name="Text 15"/>
          <p:cNvSpPr txBox="1"/>
          <p:nvPr/>
        </p:nvSpPr>
        <p:spPr>
          <a:xfrm>
            <a:off x="8339328" y="2596896"/>
            <a:ext cx="3044952" cy="713232"/>
          </a:xfrm>
          <a:prstGeom prst="rect">
            <a:avLst/>
          </a:prstGeom>
          <a:noFill/>
          <a:ln/>
        </p:spPr>
        <p:txBody>
          <a:bodyPr wrap="square" lIns="0" tIns="0" rIns="0" bIns="0" rtlCol="0" anchor="t"/>
          <a:lstStyle/>
          <a:p>
            <a:pPr indent="0" marL="0">
              <a:lnSpc>
                <a:spcPts val="1700"/>
              </a:lnSpc>
              <a:buNone/>
            </a:pPr>
            <a:r>
              <a:rPr lang="en-US" sz="1150" dirty="0">
                <a:solidFill>
                  <a:srgbClr val="4D5A68"/>
                </a:solidFill>
                <a:latin typeface="Calibri" pitchFamily="34" charset="0"/>
                <a:ea typeface="Calibri" pitchFamily="34" charset="-122"/>
                <a:cs typeface="Calibri" pitchFamily="34" charset="-120"/>
              </a:rPr>
              <a:t>Key lifecycle, grants, groups, cryptoperiods — all through the guard, so governance applies automatically.</a:t>
            </a:r>
            <a:endParaRPr lang="en-US" sz="1150" dirty="0"/>
          </a:p>
        </p:txBody>
      </p:sp>
      <p:sp>
        <p:nvSpPr>
          <p:cNvPr id="18" name="Text 16"/>
          <p:cNvSpPr txBox="1"/>
          <p:nvPr/>
        </p:nvSpPr>
        <p:spPr>
          <a:xfrm>
            <a:off x="8339328" y="3346704"/>
            <a:ext cx="3044952" cy="402336"/>
          </a:xfrm>
          <a:prstGeom prst="rect">
            <a:avLst/>
          </a:prstGeom>
          <a:noFill/>
          <a:ln/>
        </p:spPr>
        <p:txBody>
          <a:bodyPr wrap="square" lIns="0" tIns="0" rIns="0" bIns="0" rtlCol="0" anchor="ctr"/>
          <a:lstStyle/>
          <a:p>
            <a:pPr indent="0" marL="0">
              <a:buNone/>
            </a:pPr>
            <a:r>
              <a:rPr lang="en-US" sz="1050" i="1" dirty="0">
                <a:solidFill>
                  <a:srgbClr val="1F7A43"/>
                </a:solidFill>
                <a:latin typeface="Calibri" pitchFamily="34" charset="0"/>
                <a:ea typeface="Calibri" pitchFamily="34" charset="-122"/>
                <a:cs typeface="Calibri" pitchFamily="34" charset="-120"/>
              </a:rPr>
              <a:t>Gate: a REST Destroy under dual control is refused exactly as the KMIP one is.</a:t>
            </a:r>
            <a:endParaRPr lang="en-US" sz="1050" dirty="0"/>
          </a:p>
        </p:txBody>
      </p:sp>
      <p:sp>
        <p:nvSpPr>
          <p:cNvPr id="19" name="Shape 17"/>
          <p:cNvSpPr/>
          <p:nvPr/>
        </p:nvSpPr>
        <p:spPr>
          <a:xfrm>
            <a:off x="566928" y="4041648"/>
            <a:ext cx="3520440" cy="2304288"/>
          </a:xfrm>
          <a:prstGeom prst="roundRect">
            <a:avLst>
              <a:gd name="adj" fmla="val 2381"/>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20" name="Text 18"/>
          <p:cNvSpPr txBox="1"/>
          <p:nvPr/>
        </p:nvSpPr>
        <p:spPr>
          <a:xfrm>
            <a:off x="804672" y="4242816"/>
            <a:ext cx="3044952" cy="201168"/>
          </a:xfrm>
          <a:prstGeom prst="rect">
            <a:avLst/>
          </a:prstGeom>
          <a:noFill/>
          <a:ln/>
        </p:spPr>
        <p:txBody>
          <a:bodyPr wrap="square" lIns="0" tIns="0" rIns="0" bIns="0" rtlCol="0" anchor="ctr"/>
          <a:lstStyle/>
          <a:p>
            <a:pPr indent="0" marL="0">
              <a:buNone/>
            </a:pPr>
            <a:r>
              <a:rPr lang="en-US" sz="1000" b="1" spc="160" kern="0" dirty="0">
                <a:solidFill>
                  <a:srgbClr val="2E6DA4"/>
                </a:solidFill>
                <a:latin typeface="Calibri" pitchFamily="34" charset="0"/>
                <a:ea typeface="Calibri" pitchFamily="34" charset="-122"/>
                <a:cs typeface="Calibri" pitchFamily="34" charset="-120"/>
              </a:rPr>
              <a:t>WAVE 6.4</a:t>
            </a:r>
            <a:endParaRPr lang="en-US" sz="1000" dirty="0"/>
          </a:p>
        </p:txBody>
      </p:sp>
      <p:sp>
        <p:nvSpPr>
          <p:cNvPr id="21" name="Text 19"/>
          <p:cNvSpPr txBox="1"/>
          <p:nvPr/>
        </p:nvSpPr>
        <p:spPr>
          <a:xfrm>
            <a:off x="804672" y="4517136"/>
            <a:ext cx="3044952" cy="512064"/>
          </a:xfrm>
          <a:prstGeom prst="rect">
            <a:avLst/>
          </a:prstGeom>
          <a:noFill/>
          <a:ln/>
        </p:spPr>
        <p:txBody>
          <a:bodyPr wrap="square" lIns="0" tIns="0" rIns="0" bIns="0" rtlCol="0" anchor="ctr"/>
          <a:lstStyle/>
          <a:p>
            <a:pPr indent="0" marL="0">
              <a:buNone/>
            </a:pPr>
            <a:r>
              <a:rPr lang="en-US" sz="1500" b="1" dirty="0">
                <a:solidFill>
                  <a:srgbClr val="1A3A5C"/>
                </a:solidFill>
                <a:latin typeface="Cambria" pitchFamily="34" charset="0"/>
                <a:ea typeface="Cambria" pitchFamily="34" charset="-122"/>
                <a:cs typeface="Cambria" pitchFamily="34" charset="-120"/>
              </a:rPr>
              <a:t>Console</a:t>
            </a:r>
            <a:endParaRPr lang="en-US" sz="1500" dirty="0"/>
          </a:p>
        </p:txBody>
      </p:sp>
      <p:sp>
        <p:nvSpPr>
          <p:cNvPr id="22" name="Text 20"/>
          <p:cNvSpPr txBox="1"/>
          <p:nvPr/>
        </p:nvSpPr>
        <p:spPr>
          <a:xfrm>
            <a:off x="804672" y="5084064"/>
            <a:ext cx="3044952" cy="713232"/>
          </a:xfrm>
          <a:prstGeom prst="rect">
            <a:avLst/>
          </a:prstGeom>
          <a:noFill/>
          <a:ln/>
        </p:spPr>
        <p:txBody>
          <a:bodyPr wrap="square" lIns="0" tIns="0" rIns="0" bIns="0" rtlCol="0" anchor="t"/>
          <a:lstStyle/>
          <a:p>
            <a:pPr indent="0" marL="0">
              <a:lnSpc>
                <a:spcPts val="1700"/>
              </a:lnSpc>
              <a:buNone/>
            </a:pPr>
            <a:r>
              <a:rPr lang="en-US" sz="1150" dirty="0">
                <a:solidFill>
                  <a:srgbClr val="4D5A68"/>
                </a:solidFill>
                <a:latin typeface="Calibri" pitchFamily="34" charset="0"/>
                <a:ea typeface="Calibri" pitchFamily="34" charset="-122"/>
                <a:cs typeface="Calibri" pitchFamily="34" charset="-120"/>
              </a:rPr>
              <a:t>A single-page client of the API. No privileged back door; the console can do nothing the API forbids.</a:t>
            </a:r>
            <a:endParaRPr lang="en-US" sz="1150" dirty="0"/>
          </a:p>
        </p:txBody>
      </p:sp>
      <p:sp>
        <p:nvSpPr>
          <p:cNvPr id="23" name="Text 21"/>
          <p:cNvSpPr txBox="1"/>
          <p:nvPr/>
        </p:nvSpPr>
        <p:spPr>
          <a:xfrm>
            <a:off x="804672" y="5833872"/>
            <a:ext cx="3044952" cy="402336"/>
          </a:xfrm>
          <a:prstGeom prst="rect">
            <a:avLst/>
          </a:prstGeom>
          <a:noFill/>
          <a:ln/>
        </p:spPr>
        <p:txBody>
          <a:bodyPr wrap="square" lIns="0" tIns="0" rIns="0" bIns="0" rtlCol="0" anchor="ctr"/>
          <a:lstStyle/>
          <a:p>
            <a:pPr indent="0" marL="0">
              <a:buNone/>
            </a:pPr>
            <a:r>
              <a:rPr lang="en-US" sz="1050" i="1" dirty="0">
                <a:solidFill>
                  <a:srgbClr val="1F7A43"/>
                </a:solidFill>
                <a:latin typeface="Calibri" pitchFamily="34" charset="0"/>
                <a:ea typeface="Calibri" pitchFamily="34" charset="-122"/>
                <a:cs typeface="Calibri" pitchFamily="34" charset="-120"/>
              </a:rPr>
              <a:t>Gate: an operator completes a full day's work without the CLI.</a:t>
            </a:r>
            <a:endParaRPr lang="en-US" sz="1050" dirty="0"/>
          </a:p>
        </p:txBody>
      </p:sp>
      <p:sp>
        <p:nvSpPr>
          <p:cNvPr id="24" name="Shape 22"/>
          <p:cNvSpPr/>
          <p:nvPr/>
        </p:nvSpPr>
        <p:spPr>
          <a:xfrm>
            <a:off x="4334256" y="4041648"/>
            <a:ext cx="3520440" cy="2304288"/>
          </a:xfrm>
          <a:prstGeom prst="roundRect">
            <a:avLst>
              <a:gd name="adj" fmla="val 2381"/>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25" name="Text 23"/>
          <p:cNvSpPr txBox="1"/>
          <p:nvPr/>
        </p:nvSpPr>
        <p:spPr>
          <a:xfrm>
            <a:off x="4572000" y="4242816"/>
            <a:ext cx="3044952" cy="201168"/>
          </a:xfrm>
          <a:prstGeom prst="rect">
            <a:avLst/>
          </a:prstGeom>
          <a:noFill/>
          <a:ln/>
        </p:spPr>
        <p:txBody>
          <a:bodyPr wrap="square" lIns="0" tIns="0" rIns="0" bIns="0" rtlCol="0" anchor="ctr"/>
          <a:lstStyle/>
          <a:p>
            <a:pPr indent="0" marL="0">
              <a:buNone/>
            </a:pPr>
            <a:r>
              <a:rPr lang="en-US" sz="1000" b="1" spc="160" kern="0" dirty="0">
                <a:solidFill>
                  <a:srgbClr val="2E6DA4"/>
                </a:solidFill>
                <a:latin typeface="Calibri" pitchFamily="34" charset="0"/>
                <a:ea typeface="Calibri" pitchFamily="34" charset="-122"/>
                <a:cs typeface="Calibri" pitchFamily="34" charset="-120"/>
              </a:rPr>
              <a:t>WAVE 7.1</a:t>
            </a:r>
            <a:endParaRPr lang="en-US" sz="1000" dirty="0"/>
          </a:p>
        </p:txBody>
      </p:sp>
      <p:sp>
        <p:nvSpPr>
          <p:cNvPr id="26" name="Text 24"/>
          <p:cNvSpPr txBox="1"/>
          <p:nvPr/>
        </p:nvSpPr>
        <p:spPr>
          <a:xfrm>
            <a:off x="4572000" y="4517136"/>
            <a:ext cx="3044952" cy="512064"/>
          </a:xfrm>
          <a:prstGeom prst="rect">
            <a:avLst/>
          </a:prstGeom>
          <a:noFill/>
          <a:ln/>
        </p:spPr>
        <p:txBody>
          <a:bodyPr wrap="square" lIns="0" tIns="0" rIns="0" bIns="0" rtlCol="0" anchor="ctr"/>
          <a:lstStyle/>
          <a:p>
            <a:pPr indent="0" marL="0">
              <a:buNone/>
            </a:pPr>
            <a:r>
              <a:rPr lang="en-US" sz="1500" b="1" dirty="0">
                <a:solidFill>
                  <a:srgbClr val="1A3A5C"/>
                </a:solidFill>
                <a:latin typeface="Cambria" pitchFamily="34" charset="0"/>
                <a:ea typeface="Cambria" pitchFamily="34" charset="-122"/>
                <a:cs typeface="Cambria" pitchFamily="34" charset="-120"/>
              </a:rPr>
              <a:t>Directory identity + service accounts</a:t>
            </a:r>
            <a:endParaRPr lang="en-US" sz="1500" dirty="0"/>
          </a:p>
        </p:txBody>
      </p:sp>
      <p:sp>
        <p:nvSpPr>
          <p:cNvPr id="27" name="Text 25"/>
          <p:cNvSpPr txBox="1"/>
          <p:nvPr/>
        </p:nvSpPr>
        <p:spPr>
          <a:xfrm>
            <a:off x="4572000" y="5084064"/>
            <a:ext cx="3044952" cy="713232"/>
          </a:xfrm>
          <a:prstGeom prst="rect">
            <a:avLst/>
          </a:prstGeom>
          <a:noFill/>
          <a:ln/>
        </p:spPr>
        <p:txBody>
          <a:bodyPr wrap="square" lIns="0" tIns="0" rIns="0" bIns="0" rtlCol="0" anchor="t"/>
          <a:lstStyle/>
          <a:p>
            <a:pPr indent="0" marL="0">
              <a:lnSpc>
                <a:spcPts val="1700"/>
              </a:lnSpc>
              <a:buNone/>
            </a:pPr>
            <a:r>
              <a:rPr lang="en-US" sz="1150" dirty="0">
                <a:solidFill>
                  <a:srgbClr val="4D5A68"/>
                </a:solidFill>
                <a:latin typeface="Calibri" pitchFamily="34" charset="0"/>
                <a:ea typeface="Calibri" pitchFamily="34" charset="-122"/>
                <a:cs typeface="Calibri" pitchFamily="34" charset="-120"/>
              </a:rPr>
              <a:t>OIDC or LDAP at the edge resolving to provisioned identities, and revocable machine credentials.</a:t>
            </a:r>
            <a:endParaRPr lang="en-US" sz="1150" dirty="0"/>
          </a:p>
        </p:txBody>
      </p:sp>
      <p:sp>
        <p:nvSpPr>
          <p:cNvPr id="28" name="Text 26"/>
          <p:cNvSpPr txBox="1"/>
          <p:nvPr/>
        </p:nvSpPr>
        <p:spPr>
          <a:xfrm>
            <a:off x="4572000" y="5833872"/>
            <a:ext cx="3044952" cy="402336"/>
          </a:xfrm>
          <a:prstGeom prst="rect">
            <a:avLst/>
          </a:prstGeom>
          <a:noFill/>
          <a:ln/>
        </p:spPr>
        <p:txBody>
          <a:bodyPr wrap="square" lIns="0" tIns="0" rIns="0" bIns="0" rtlCol="0" anchor="ctr"/>
          <a:lstStyle/>
          <a:p>
            <a:pPr indent="0" marL="0">
              <a:buNone/>
            </a:pPr>
            <a:r>
              <a:rPr lang="en-US" sz="1050" i="1" dirty="0">
                <a:solidFill>
                  <a:srgbClr val="1F7A43"/>
                </a:solidFill>
                <a:latin typeface="Calibri" pitchFamily="34" charset="0"/>
                <a:ea typeface="Calibri" pitchFamily="34" charset="-122"/>
                <a:cs typeface="Calibri" pitchFamily="34" charset="-120"/>
              </a:rPr>
              <a:t>Gate: a user logs in with corporate credentials; a leaked token is revoked in one action.</a:t>
            </a:r>
            <a:endParaRPr lang="en-US" sz="1050" dirty="0"/>
          </a:p>
        </p:txBody>
      </p:sp>
      <p:sp>
        <p:nvSpPr>
          <p:cNvPr id="29" name="Shape 27"/>
          <p:cNvSpPr/>
          <p:nvPr/>
        </p:nvSpPr>
        <p:spPr>
          <a:xfrm>
            <a:off x="8101584" y="4041648"/>
            <a:ext cx="3520440" cy="2304288"/>
          </a:xfrm>
          <a:prstGeom prst="roundRect">
            <a:avLst>
              <a:gd name="adj" fmla="val 2381"/>
            </a:avLst>
          </a:prstGeom>
          <a:solidFill>
            <a:srgbClr val="E8EFF6"/>
          </a:solidFill>
          <a:ln w="12700">
            <a:solidFill>
              <a:srgbClr val="E8EFF6"/>
            </a:solidFill>
            <a:prstDash val="solid"/>
          </a:ln>
          <a:effectLst>
            <a:outerShdw sx="100000" sy="100000" kx="0" ky="0" algn="bl" rotWithShape="0" blurRad="127000" dist="25400" dir="5400000">
              <a:srgbClr val="8C9AA8">
                <a:alpha val="22000"/>
              </a:srgbClr>
            </a:outerShdw>
          </a:effectLst>
        </p:spPr>
      </p:sp>
      <p:sp>
        <p:nvSpPr>
          <p:cNvPr id="30" name="Text 28"/>
          <p:cNvSpPr txBox="1"/>
          <p:nvPr/>
        </p:nvSpPr>
        <p:spPr>
          <a:xfrm>
            <a:off x="8339328" y="4242816"/>
            <a:ext cx="3044952" cy="201168"/>
          </a:xfrm>
          <a:prstGeom prst="rect">
            <a:avLst/>
          </a:prstGeom>
          <a:noFill/>
          <a:ln/>
        </p:spPr>
        <p:txBody>
          <a:bodyPr wrap="square" lIns="0" tIns="0" rIns="0" bIns="0" rtlCol="0" anchor="ctr"/>
          <a:lstStyle/>
          <a:p>
            <a:pPr indent="0" marL="0">
              <a:buNone/>
            </a:pPr>
            <a:r>
              <a:rPr lang="en-US" sz="1000" b="1" spc="160" kern="0" dirty="0">
                <a:solidFill>
                  <a:srgbClr val="2E6DA4"/>
                </a:solidFill>
                <a:latin typeface="Calibri" pitchFamily="34" charset="0"/>
                <a:ea typeface="Calibri" pitchFamily="34" charset="-122"/>
                <a:cs typeface="Calibri" pitchFamily="34" charset="-120"/>
              </a:rPr>
              <a:t>WAVE 7.2</a:t>
            </a:r>
            <a:endParaRPr lang="en-US" sz="1000" dirty="0"/>
          </a:p>
        </p:txBody>
      </p:sp>
      <p:sp>
        <p:nvSpPr>
          <p:cNvPr id="31" name="Text 29"/>
          <p:cNvSpPr txBox="1"/>
          <p:nvPr/>
        </p:nvSpPr>
        <p:spPr>
          <a:xfrm>
            <a:off x="8339328" y="4517136"/>
            <a:ext cx="3044952" cy="512064"/>
          </a:xfrm>
          <a:prstGeom prst="rect">
            <a:avLst/>
          </a:prstGeom>
          <a:noFill/>
          <a:ln/>
        </p:spPr>
        <p:txBody>
          <a:bodyPr wrap="square" lIns="0" tIns="0" rIns="0" bIns="0" rtlCol="0" anchor="ctr"/>
          <a:lstStyle/>
          <a:p>
            <a:pPr indent="0" marL="0">
              <a:buNone/>
            </a:pPr>
            <a:r>
              <a:rPr lang="en-US" sz="1500" b="1" dirty="0">
                <a:solidFill>
                  <a:srgbClr val="1A3A5C"/>
                </a:solidFill>
                <a:latin typeface="Cambria" pitchFamily="34" charset="0"/>
                <a:ea typeface="Cambria" pitchFamily="34" charset="-122"/>
                <a:cs typeface="Cambria" pitchFamily="34" charset="-120"/>
              </a:rPr>
              <a:t>Hardening and SIEM</a:t>
            </a:r>
            <a:endParaRPr lang="en-US" sz="1500" dirty="0"/>
          </a:p>
        </p:txBody>
      </p:sp>
      <p:sp>
        <p:nvSpPr>
          <p:cNvPr id="32" name="Text 30"/>
          <p:cNvSpPr txBox="1"/>
          <p:nvPr/>
        </p:nvSpPr>
        <p:spPr>
          <a:xfrm>
            <a:off x="8339328" y="5084064"/>
            <a:ext cx="3044952" cy="713232"/>
          </a:xfrm>
          <a:prstGeom prst="rect">
            <a:avLst/>
          </a:prstGeom>
          <a:noFill/>
          <a:ln/>
        </p:spPr>
        <p:txBody>
          <a:bodyPr wrap="square" lIns="0" tIns="0" rIns="0" bIns="0" rtlCol="0" anchor="t"/>
          <a:lstStyle/>
          <a:p>
            <a:pPr indent="0" marL="0">
              <a:lnSpc>
                <a:spcPts val="1700"/>
              </a:lnSpc>
              <a:buNone/>
            </a:pPr>
            <a:r>
              <a:rPr lang="en-US" sz="1150" dirty="0">
                <a:solidFill>
                  <a:srgbClr val="4D5A68"/>
                </a:solidFill>
                <a:latin typeface="Calibri" pitchFamily="34" charset="0"/>
                <a:ea typeface="Calibri" pitchFamily="34" charset="-122"/>
                <a:cs typeface="Calibri" pitchFamily="34" charset="-120"/>
              </a:rPr>
              <a:t>Connection caps and per-identity rate limiting; audit shipped as syslog or CEF.</a:t>
            </a:r>
            <a:endParaRPr lang="en-US" sz="1150" dirty="0"/>
          </a:p>
        </p:txBody>
      </p:sp>
      <p:sp>
        <p:nvSpPr>
          <p:cNvPr id="33" name="Text 31"/>
          <p:cNvSpPr txBox="1"/>
          <p:nvPr/>
        </p:nvSpPr>
        <p:spPr>
          <a:xfrm>
            <a:off x="8339328" y="5833872"/>
            <a:ext cx="3044952" cy="402336"/>
          </a:xfrm>
          <a:prstGeom prst="rect">
            <a:avLst/>
          </a:prstGeom>
          <a:noFill/>
          <a:ln/>
        </p:spPr>
        <p:txBody>
          <a:bodyPr wrap="square" lIns="0" tIns="0" rIns="0" bIns="0" rtlCol="0" anchor="ctr"/>
          <a:lstStyle/>
          <a:p>
            <a:pPr indent="0" marL="0">
              <a:buNone/>
            </a:pPr>
            <a:r>
              <a:rPr lang="en-US" sz="1050" i="1" dirty="0">
                <a:solidFill>
                  <a:srgbClr val="1F7A43"/>
                </a:solidFill>
                <a:latin typeface="Calibri" pitchFamily="34" charset="0"/>
                <a:ea typeface="Calibri" pitchFamily="34" charset="-122"/>
                <a:cs typeface="Calibri" pitchFamily="34" charset="-120"/>
              </a:rPr>
              <a:t>Gate: the listener survives a flood; entries appear in the SIEM within a minute.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2437"/>
        </a:solidFill>
      </p:bgPr>
    </p:bg>
    <p:spTree>
      <p:nvGrpSpPr>
        <p:cNvPr id="1" name=""/>
        <p:cNvGrpSpPr/>
        <p:nvPr/>
      </p:nvGrpSpPr>
      <p:grpSpPr>
        <a:xfrm>
          <a:off x="0" y="0"/>
          <a:ext cx="0" cy="0"/>
          <a:chOff x="0" y="0"/>
          <a:chExt cx="0" cy="0"/>
        </a:xfrm>
      </p:grpSpPr>
      <p:sp>
        <p:nvSpPr>
          <p:cNvPr id="2" name="Text 0"/>
          <p:cNvSpPr txBox="1"/>
          <p:nvPr/>
        </p:nvSpPr>
        <p:spPr>
          <a:xfrm>
            <a:off x="566928" y="365760"/>
            <a:ext cx="11027664" cy="237744"/>
          </a:xfrm>
          <a:prstGeom prst="rect">
            <a:avLst/>
          </a:prstGeom>
          <a:noFill/>
          <a:ln/>
        </p:spPr>
        <p:txBody>
          <a:bodyPr wrap="square" lIns="0" tIns="0" rIns="0" bIns="0" rtlCol="0" anchor="ctr"/>
          <a:lstStyle/>
          <a:p>
            <a:pPr indent="0" marL="0">
              <a:buNone/>
            </a:pPr>
            <a:r>
              <a:rPr lang="en-US" sz="1150" b="1" spc="220" kern="0" dirty="0">
                <a:solidFill>
                  <a:srgbClr val="C8952B"/>
                </a:solidFill>
                <a:latin typeface="Calibri" pitchFamily="34" charset="0"/>
                <a:ea typeface="Calibri" pitchFamily="34" charset="-122"/>
                <a:cs typeface="Calibri" pitchFamily="34" charset="-120"/>
              </a:rPr>
              <a:t>ROADMAP · 3 OF 3</a:t>
            </a:r>
            <a:endParaRPr lang="en-US" sz="1150" dirty="0"/>
          </a:p>
        </p:txBody>
      </p:sp>
      <p:sp>
        <p:nvSpPr>
          <p:cNvPr id="3" name="Text 1"/>
          <p:cNvSpPr txBox="1"/>
          <p:nvPr/>
        </p:nvSpPr>
        <p:spPr>
          <a:xfrm>
            <a:off x="566928" y="621792"/>
            <a:ext cx="11027664"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Wave 8 to 10 — and what stays out</a:t>
            </a:r>
            <a:endParaRPr lang="en-US" sz="3400" dirty="0"/>
          </a:p>
        </p:txBody>
      </p:sp>
      <p:sp>
        <p:nvSpPr>
          <p:cNvPr id="4" name="Shape 2"/>
          <p:cNvSpPr/>
          <p:nvPr/>
        </p:nvSpPr>
        <p:spPr>
          <a:xfrm>
            <a:off x="566928" y="1572768"/>
            <a:ext cx="658368" cy="658368"/>
          </a:xfrm>
          <a:prstGeom prst="roundRect">
            <a:avLst>
              <a:gd name="adj" fmla="val 11111"/>
            </a:avLst>
          </a:prstGeom>
          <a:solidFill>
            <a:srgbClr val="C8952B"/>
          </a:solidFill>
          <a:ln w="12700">
            <a:solidFill>
              <a:srgbClr val="C8952B"/>
            </a:solidFill>
            <a:prstDash val="solid"/>
          </a:ln>
        </p:spPr>
      </p:sp>
      <p:sp>
        <p:nvSpPr>
          <p:cNvPr id="5" name="Text 3"/>
          <p:cNvSpPr txBox="1"/>
          <p:nvPr/>
        </p:nvSpPr>
        <p:spPr>
          <a:xfrm>
            <a:off x="566928" y="1572768"/>
            <a:ext cx="658368" cy="658368"/>
          </a:xfrm>
          <a:prstGeom prst="rect">
            <a:avLst/>
          </a:prstGeom>
          <a:noFill/>
          <a:ln/>
        </p:spPr>
        <p:txBody>
          <a:bodyPr wrap="square" lIns="0" tIns="0" rIns="0" bIns="0" rtlCol="0" anchor="ctr"/>
          <a:lstStyle/>
          <a:p>
            <a:pPr algn="ctr" indent="0" marL="0">
              <a:buNone/>
            </a:pPr>
            <a:r>
              <a:rPr lang="en-US" sz="2200" b="1" dirty="0">
                <a:solidFill>
                  <a:srgbClr val="102437"/>
                </a:solidFill>
                <a:latin typeface="Cambria" pitchFamily="34" charset="0"/>
                <a:ea typeface="Cambria" pitchFamily="34" charset="-122"/>
                <a:cs typeface="Cambria" pitchFamily="34" charset="-120"/>
              </a:rPr>
              <a:t>8</a:t>
            </a:r>
            <a:endParaRPr lang="en-US" sz="2200" dirty="0"/>
          </a:p>
        </p:txBody>
      </p:sp>
      <p:sp>
        <p:nvSpPr>
          <p:cNvPr id="6" name="Text 4"/>
          <p:cNvSpPr txBox="1"/>
          <p:nvPr/>
        </p:nvSpPr>
        <p:spPr>
          <a:xfrm>
            <a:off x="1481328" y="1554480"/>
            <a:ext cx="384048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Scale and availability</a:t>
            </a:r>
            <a:endParaRPr lang="en-US" sz="1700" dirty="0"/>
          </a:p>
        </p:txBody>
      </p:sp>
      <p:sp>
        <p:nvSpPr>
          <p:cNvPr id="7" name="Text 5"/>
          <p:cNvSpPr txBox="1"/>
          <p:nvPr/>
        </p:nvSpPr>
        <p:spPr>
          <a:xfrm>
            <a:off x="5413248" y="1554480"/>
            <a:ext cx="6217920" cy="1097280"/>
          </a:xfrm>
          <a:prstGeom prst="rect">
            <a:avLst/>
          </a:prstGeom>
          <a:noFill/>
          <a:ln/>
        </p:spPr>
        <p:txBody>
          <a:bodyPr wrap="square" lIns="0" tIns="0" rIns="0" bIns="0" rtlCol="0" anchor="ctr"/>
          <a:lstStyle/>
          <a:p>
            <a:pPr indent="0" marL="0">
              <a:lnSpc>
                <a:spcPts val="1600"/>
              </a:lnSpc>
              <a:buNone/>
            </a:pPr>
            <a:r>
              <a:rPr lang="en-US" sz="1200" dirty="0">
                <a:solidFill>
                  <a:srgbClr val="9DB8D4"/>
                </a:solidFill>
                <a:latin typeface="Calibri" pitchFamily="34" charset="0"/>
                <a:ea typeface="Calibri" pitchFamily="34" charset="-122"/>
                <a:cs typeface="Calibri" pitchFamily="34" charset="-120"/>
              </a:rPr>
              <a:t>A PostgreSQL backend is the prerequisite: SQLite has no multi-writer story, so clustering, replication and DR all wait behind it. HSM failover follows, once a second token exists to test against.</a:t>
            </a:r>
            <a:endParaRPr lang="en-US" sz="1200" dirty="0"/>
          </a:p>
        </p:txBody>
      </p:sp>
      <p:sp>
        <p:nvSpPr>
          <p:cNvPr id="8" name="Shape 6"/>
          <p:cNvSpPr/>
          <p:nvPr/>
        </p:nvSpPr>
        <p:spPr>
          <a:xfrm>
            <a:off x="566928" y="2816352"/>
            <a:ext cx="658368" cy="658368"/>
          </a:xfrm>
          <a:prstGeom prst="roundRect">
            <a:avLst>
              <a:gd name="adj" fmla="val 11111"/>
            </a:avLst>
          </a:prstGeom>
          <a:solidFill>
            <a:srgbClr val="C8952B"/>
          </a:solidFill>
          <a:ln w="12700">
            <a:solidFill>
              <a:srgbClr val="C8952B"/>
            </a:solidFill>
            <a:prstDash val="solid"/>
          </a:ln>
        </p:spPr>
      </p:sp>
      <p:sp>
        <p:nvSpPr>
          <p:cNvPr id="9" name="Text 7"/>
          <p:cNvSpPr txBox="1"/>
          <p:nvPr/>
        </p:nvSpPr>
        <p:spPr>
          <a:xfrm>
            <a:off x="566928" y="2816352"/>
            <a:ext cx="658368" cy="658368"/>
          </a:xfrm>
          <a:prstGeom prst="rect">
            <a:avLst/>
          </a:prstGeom>
          <a:noFill/>
          <a:ln/>
        </p:spPr>
        <p:txBody>
          <a:bodyPr wrap="square" lIns="0" tIns="0" rIns="0" bIns="0" rtlCol="0" anchor="ctr"/>
          <a:lstStyle/>
          <a:p>
            <a:pPr algn="ctr" indent="0" marL="0">
              <a:buNone/>
            </a:pPr>
            <a:r>
              <a:rPr lang="en-US" sz="2200" b="1" dirty="0">
                <a:solidFill>
                  <a:srgbClr val="102437"/>
                </a:solidFill>
                <a:latin typeface="Cambria" pitchFamily="34" charset="0"/>
                <a:ea typeface="Cambria" pitchFamily="34" charset="-122"/>
                <a:cs typeface="Cambria" pitchFamily="34" charset="-120"/>
              </a:rPr>
              <a:t>9</a:t>
            </a:r>
            <a:endParaRPr lang="en-US" sz="2200" dirty="0"/>
          </a:p>
        </p:txBody>
      </p:sp>
      <p:sp>
        <p:nvSpPr>
          <p:cNvPr id="10" name="Text 8"/>
          <p:cNvSpPr txBox="1"/>
          <p:nvPr/>
        </p:nvSpPr>
        <p:spPr>
          <a:xfrm>
            <a:off x="1481328" y="2798064"/>
            <a:ext cx="384048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Multi-tenancy</a:t>
            </a:r>
            <a:endParaRPr lang="en-US" sz="1700" dirty="0"/>
          </a:p>
        </p:txBody>
      </p:sp>
      <p:sp>
        <p:nvSpPr>
          <p:cNvPr id="11" name="Text 9"/>
          <p:cNvSpPr txBox="1"/>
          <p:nvPr/>
        </p:nvSpPr>
        <p:spPr>
          <a:xfrm>
            <a:off x="5413248" y="2798064"/>
            <a:ext cx="6217920" cy="1097280"/>
          </a:xfrm>
          <a:prstGeom prst="rect">
            <a:avLst/>
          </a:prstGeom>
          <a:noFill/>
          <a:ln/>
        </p:spPr>
        <p:txBody>
          <a:bodyPr wrap="square" lIns="0" tIns="0" rIns="0" bIns="0" rtlCol="0" anchor="ctr"/>
          <a:lstStyle/>
          <a:p>
            <a:pPr indent="0" marL="0">
              <a:lnSpc>
                <a:spcPts val="1600"/>
              </a:lnSpc>
              <a:buNone/>
            </a:pPr>
            <a:r>
              <a:rPr lang="en-US" sz="1200" dirty="0">
                <a:solidFill>
                  <a:srgbClr val="9DB8D4"/>
                </a:solidFill>
                <a:latin typeface="Calibri" pitchFamily="34" charset="0"/>
                <a:ea typeface="Calibri" pitchFamily="34" charset="-122"/>
                <a:cs typeface="Calibri" pitchFamily="34" charset="-120"/>
              </a:rPr>
              <a:t>A tenant boundary reaches into every query, the audit log and the CLI — a wave of its own, not a flag. Worth building when there is a second tenant to serve; until then one deployment per tenant is a real answer.</a:t>
            </a:r>
            <a:endParaRPr lang="en-US" sz="1200" dirty="0"/>
          </a:p>
        </p:txBody>
      </p:sp>
      <p:sp>
        <p:nvSpPr>
          <p:cNvPr id="12" name="Shape 10"/>
          <p:cNvSpPr/>
          <p:nvPr/>
        </p:nvSpPr>
        <p:spPr>
          <a:xfrm>
            <a:off x="566928" y="4059936"/>
            <a:ext cx="658368" cy="658368"/>
          </a:xfrm>
          <a:prstGeom prst="roundRect">
            <a:avLst>
              <a:gd name="adj" fmla="val 11111"/>
            </a:avLst>
          </a:prstGeom>
          <a:solidFill>
            <a:srgbClr val="C8952B"/>
          </a:solidFill>
          <a:ln w="12700">
            <a:solidFill>
              <a:srgbClr val="C8952B"/>
            </a:solidFill>
            <a:prstDash val="solid"/>
          </a:ln>
        </p:spPr>
      </p:sp>
      <p:sp>
        <p:nvSpPr>
          <p:cNvPr id="13" name="Text 11"/>
          <p:cNvSpPr txBox="1"/>
          <p:nvPr/>
        </p:nvSpPr>
        <p:spPr>
          <a:xfrm>
            <a:off x="566928" y="4059936"/>
            <a:ext cx="658368" cy="658368"/>
          </a:xfrm>
          <a:prstGeom prst="rect">
            <a:avLst/>
          </a:prstGeom>
          <a:noFill/>
          <a:ln/>
        </p:spPr>
        <p:txBody>
          <a:bodyPr wrap="square" lIns="0" tIns="0" rIns="0" bIns="0" rtlCol="0" anchor="ctr"/>
          <a:lstStyle/>
          <a:p>
            <a:pPr algn="ctr" indent="0" marL="0">
              <a:buNone/>
            </a:pPr>
            <a:r>
              <a:rPr lang="en-US" sz="2200" b="1" dirty="0">
                <a:solidFill>
                  <a:srgbClr val="102437"/>
                </a:solidFill>
                <a:latin typeface="Cambria" pitchFamily="34" charset="0"/>
                <a:ea typeface="Cambria" pitchFamily="34" charset="-122"/>
                <a:cs typeface="Cambria" pitchFamily="34" charset="-120"/>
              </a:rPr>
              <a:t>10</a:t>
            </a:r>
            <a:endParaRPr lang="en-US" sz="2200" dirty="0"/>
          </a:p>
        </p:txBody>
      </p:sp>
      <p:sp>
        <p:nvSpPr>
          <p:cNvPr id="14" name="Text 12"/>
          <p:cNvSpPr txBox="1"/>
          <p:nvPr/>
        </p:nvSpPr>
        <p:spPr>
          <a:xfrm>
            <a:off x="1481328" y="4041648"/>
            <a:ext cx="384048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Compliance and post-quantum</a:t>
            </a:r>
            <a:endParaRPr lang="en-US" sz="1700" dirty="0"/>
          </a:p>
        </p:txBody>
      </p:sp>
      <p:sp>
        <p:nvSpPr>
          <p:cNvPr id="15" name="Text 13"/>
          <p:cNvSpPr txBox="1"/>
          <p:nvPr/>
        </p:nvSpPr>
        <p:spPr>
          <a:xfrm>
            <a:off x="5413248" y="4041648"/>
            <a:ext cx="6217920" cy="1097280"/>
          </a:xfrm>
          <a:prstGeom prst="rect">
            <a:avLst/>
          </a:prstGeom>
          <a:noFill/>
          <a:ln/>
        </p:spPr>
        <p:txBody>
          <a:bodyPr wrap="square" lIns="0" tIns="0" rIns="0" bIns="0" rtlCol="0" anchor="ctr"/>
          <a:lstStyle/>
          <a:p>
            <a:pPr indent="0" marL="0">
              <a:lnSpc>
                <a:spcPts val="1600"/>
              </a:lnSpc>
              <a:buNone/>
            </a:pPr>
            <a:r>
              <a:rPr lang="en-US" sz="1200" dirty="0">
                <a:solidFill>
                  <a:srgbClr val="9DB8D4"/>
                </a:solidFill>
                <a:latin typeface="Calibri" pitchFamily="34" charset="0"/>
                <a:ea typeface="Calibri" pitchFamily="34" charset="-122"/>
                <a:cs typeface="Calibri" pitchFamily="34" charset="-120"/>
              </a:rPr>
              <a:t>Swap in a validated token and run the suite against it. Adopt KMIP 3.0 and the PQC algorithms once a token ships them in a release — vendor-range enums would work locally and interoperate with nothing.</a:t>
            </a:r>
            <a:endParaRPr lang="en-US" sz="1200" dirty="0"/>
          </a:p>
        </p:txBody>
      </p:sp>
      <p:sp>
        <p:nvSpPr>
          <p:cNvPr id="16" name="Text 14"/>
          <p:cNvSpPr txBox="1"/>
          <p:nvPr/>
        </p:nvSpPr>
        <p:spPr>
          <a:xfrm>
            <a:off x="566928" y="5358384"/>
            <a:ext cx="5120640" cy="292608"/>
          </a:xfrm>
          <a:prstGeom prst="rect">
            <a:avLst/>
          </a:prstGeom>
          <a:noFill/>
          <a:ln/>
        </p:spPr>
        <p:txBody>
          <a:bodyPr wrap="square" lIns="0" tIns="0" rIns="0" bIns="0" rtlCol="0" anchor="ctr"/>
          <a:lstStyle/>
          <a:p>
            <a:pPr indent="0" marL="0">
              <a:buNone/>
            </a:pPr>
            <a:r>
              <a:rPr lang="en-US" sz="1050" b="1" spc="160" kern="0" dirty="0">
                <a:solidFill>
                  <a:srgbClr val="C8952B"/>
                </a:solidFill>
                <a:latin typeface="Calibri" pitchFamily="34" charset="0"/>
                <a:ea typeface="Calibri" pitchFamily="34" charset="-122"/>
                <a:cs typeface="Calibri" pitchFamily="34" charset="-120"/>
              </a:rPr>
              <a:t>Deliberately out of scope</a:t>
            </a:r>
            <a:endParaRPr lang="en-US" sz="1050" dirty="0"/>
          </a:p>
        </p:txBody>
      </p:sp>
      <p:sp>
        <p:nvSpPr>
          <p:cNvPr id="17" name="Text 15"/>
          <p:cNvSpPr txBox="1"/>
          <p:nvPr/>
        </p:nvSpPr>
        <p:spPr>
          <a:xfrm>
            <a:off x="566928" y="5632704"/>
            <a:ext cx="5120640" cy="86868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9DB8D4"/>
                </a:solidFill>
                <a:latin typeface="Calibri" pitchFamily="34" charset="0"/>
                <a:ea typeface="Calibri" pitchFamily="34" charset="-122"/>
                <a:cs typeface="Calibri" pitchFamily="34" charset="-120"/>
              </a:rPr>
              <a:t>Tokenization and format-preserving encryption — a separate product, not a KMS feature.</a:t>
            </a:r>
            <a:endParaRPr lang="en-US" sz="1150" dirty="0"/>
          </a:p>
          <a:p>
            <a:pPr marL="342900" indent="-342900">
              <a:spcAft>
                <a:spcPts val="300"/>
              </a:spcAft>
              <a:buSzPct val="100000"/>
              <a:buChar char="•"/>
            </a:pPr>
            <a:r>
              <a:rPr lang="en-US" sz="1150" dirty="0">
                <a:solidFill>
                  <a:srgbClr val="9DB8D4"/>
                </a:solidFill>
                <a:latin typeface="Calibri" pitchFamily="34" charset="0"/>
                <a:ea typeface="Calibri" pitchFamily="34" charset="-122"/>
                <a:cs typeface="Calibri" pitchFamily="34" charset="-120"/>
              </a:rPr>
              <a:t>Being a certificate authority — front it with a real CA instead.</a:t>
            </a:r>
            <a:endParaRPr lang="en-US" sz="1150" dirty="0"/>
          </a:p>
          <a:p>
            <a:pPr marL="342900" indent="-342900">
              <a:spcAft>
                <a:spcPts val="300"/>
              </a:spcAft>
              <a:buSzPct val="100000"/>
              <a:buChar char="•"/>
            </a:pPr>
            <a:r>
              <a:rPr lang="en-US" sz="1150" dirty="0">
                <a:solidFill>
                  <a:srgbClr val="9DB8D4"/>
                </a:solidFill>
                <a:latin typeface="Calibri" pitchFamily="34" charset="0"/>
                <a:ea typeface="Calibri" pitchFamily="34" charset="-122"/>
                <a:cs typeface="Calibri" pitchFamily="34" charset="-120"/>
              </a:rPr>
              <a:t>A PKCS#11 provider for applications — only if demand appears.</a:t>
            </a:r>
            <a:endParaRPr lang="en-US" sz="1150" dirty="0"/>
          </a:p>
        </p:txBody>
      </p:sp>
      <p:sp>
        <p:nvSpPr>
          <p:cNvPr id="18" name="Shape 16"/>
          <p:cNvSpPr/>
          <p:nvPr/>
        </p:nvSpPr>
        <p:spPr>
          <a:xfrm>
            <a:off x="6236208" y="5303520"/>
            <a:ext cx="5394960" cy="1170432"/>
          </a:xfrm>
          <a:prstGeom prst="roundRect">
            <a:avLst>
              <a:gd name="adj" fmla="val 4688"/>
            </a:avLst>
          </a:prstGeom>
          <a:solidFill>
            <a:srgbClr val="1B3350"/>
          </a:solidFill>
          <a:ln w="12700">
            <a:solidFill>
              <a:srgbClr val="2A4A6B"/>
            </a:solidFill>
            <a:prstDash val="solid"/>
          </a:ln>
        </p:spPr>
      </p:sp>
      <p:sp>
        <p:nvSpPr>
          <p:cNvPr id="19" name="Text 17"/>
          <p:cNvSpPr txBox="1"/>
          <p:nvPr/>
        </p:nvSpPr>
        <p:spPr>
          <a:xfrm>
            <a:off x="6473952" y="5504688"/>
            <a:ext cx="4919472" cy="822960"/>
          </a:xfrm>
          <a:prstGeom prst="rect">
            <a:avLst/>
          </a:prstGeom>
          <a:noFill/>
          <a:ln/>
        </p:spPr>
        <p:txBody>
          <a:bodyPr wrap="square" lIns="0" tIns="0" rIns="0" bIns="0" rtlCol="0" anchor="ctr"/>
          <a:lstStyle/>
          <a:p>
            <a:pPr indent="0" marL="0">
              <a:lnSpc>
                <a:spcPts val="1800"/>
              </a:lnSpc>
              <a:buNone/>
            </a:pPr>
            <a:r>
              <a:rPr lang="en-US" sz="1350" i="1" dirty="0">
                <a:solidFill>
                  <a:srgbClr val="FFFFFF"/>
                </a:solidFill>
                <a:latin typeface="Cambria" pitchFamily="34" charset="0"/>
                <a:ea typeface="Cambria" pitchFamily="34" charset="-122"/>
                <a:cs typeface="Cambria" pitchFamily="34" charset="-120"/>
              </a:rPr>
              <a:t>Nothing ships that cannot be demonstrated. Where something could not be tested here, the roadmap says so rather than counting it as done.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KMIP on PKCS#11</dc:title>
  <dc:subject>PptxGenJS Presentation</dc:subject>
  <dc:creator>kmip_pkcs11</dc:creator>
  <cp:lastModifiedBy>kmip_pkcs11</cp:lastModifiedBy>
  <cp:revision>1</cp:revision>
  <dcterms:created xsi:type="dcterms:W3CDTF">2026-09-08T20:15:27Z</dcterms:created>
  <dcterms:modified xsi:type="dcterms:W3CDTF">2026-09-08T20:15:27Z</dcterms:modified>
</cp:coreProperties>
</file>