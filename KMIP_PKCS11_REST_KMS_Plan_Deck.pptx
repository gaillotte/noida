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slides per step: what it does to the existing design, what gets built, and how it is proven. Every word in this deck comes from plan_steps.json, which the plan generator emits — the deck cannot say anything the written plan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is dictated by dependency. Step 1 must precede everything: authorization, dual control and audit currently live inside the KMIP dispatcher, and a REST layer built before they move would bypass all three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Make authorization, dual control, audit and metrics impossible to bypass — before a second transport exists to bypass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Make authorization, dual control, audit and metrics impossible to bypass — before a second transport exists to bypass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Let the store answer the questions a console asks, in one query rather than N+1.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Let the store answer the questions a console asks, in one query rather than N+1.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An authenticated HTTPS listener that shares nothing with the KMIP port, and cannot be flooded.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An authenticated HTTPS listener that shares nothing with the KMIP port, and cannot be flooded.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Everything a console displays, with authorization identical to KMIP.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Everything a console displays, with authorization identical to KMIP.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Lifecycle and delegation over REST, with governance applying by construction rather than by remembering.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Lifecycle and delegation over REST, with governance applying by construction rather than by remembering.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Complete the API surface and split the administrator so no one role can both grant access and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Complete the API surface and split the administrator so no one role can both grant access and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The interface most of the market considers table stakes, and the reason the API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The interface most of the market considers table stakes, and the reason the API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Authenticate against the corporate directory, and express conditions the role model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Authenticate against the corporate directory, and express conditions the role model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Make the audit trail survive an attacker with file access, and produce the evidence an auditor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Make the audit trail survive an attacker with file access, and produce the evidence an auditor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Remove the single-writer constraint that blocks everything in stage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Remove the single-writer constraint that blocks everything in stage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Survive the loss of a node, a token, or a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Survive the loss of a node, a token, or a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Let unrelated tenants share one deployment without seeing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Let unrelated tenants share one deployment without seeing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Let a client speak KMIP without implementing a TTLV codec.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Let a client speak KMIP without implementing a TTLV codec.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Know which certificates the estate is actually running, and warn before one expires.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Know which certificates the estate is actually running, and warn before one expires.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Generate here, import into a cloud KMS, keep custody of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Generate here, import into a cloud KMS, keep custody of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Let a cloud service call back here for every operation, so the key never leaves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Let a cloud service call back here for every operation, so the key never leaves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Let applications that speak PKCS#11 use this server without knowing KMIP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Let applications that speak PKCS#11 use this server without knowing KMIP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Protect PAN and PII in place, where the ciphertext has to look like the plaintext.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Protect PAN and PII in place, where the ciphertext has to look like the plaintext.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Turn two rows that say “should work” into two rows that say “does, against these products, at these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Turn two rows that say “should work” into two rows that say “does, against these products, at these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Demonstrate interoperability against other implementations, in public, rather than asserting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Demonstrate interoperability against other implementations, in public, rather than asserting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Get real certificates without this server pretending to be a certificate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Get real certificates without this server pretending to be a certificate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Serve dynamic secrets without becoming a secrets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Serve dynamic secrets without becoming a secrets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Move to the current specification line, which is also where post-quantum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Move to the current specification line, which is also where post-quantum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Run ML-KEM, ML-DSA and SLH-DSA, and light up the algorithms the current token cannot perform.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Run ML-KEM, ML-DSA and SLH-DSA, and light up the algorithms the current token cannot perform.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Move to a token that is certified, and that can enforce policy the server currently enforces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Move to a token that is certified, and that can enforce policy the server currently enforces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Run where the host operator cannot read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Run where the host operator cannot read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step is finished when its gate is demonstrated, not when its code is written. Tests run live against a real SoftHSM2 token — the token is never mocked, because the defects worth catching are at that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honest boundary. The previous revision deferred sixteen features; this one routes all of them and names what each blocked step waits on instead. That is a more useful statement and a more demanding one — and the generator still refuses to build if the routing stops adding up to the gap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1691640"/>
            <a:ext cx="11027664"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Completing the KMS</a:t>
            </a:r>
            <a:endParaRPr lang="en-US" sz="5000" dirty="0"/>
          </a:p>
        </p:txBody>
      </p:sp>
      <p:sp>
        <p:nvSpPr>
          <p:cNvPr id="3" name="Text 1"/>
          <p:cNvSpPr txBox="1"/>
          <p:nvPr/>
        </p:nvSpPr>
        <p:spPr>
          <a:xfrm>
            <a:off x="566928" y="2615184"/>
            <a:ext cx="11027664" cy="457200"/>
          </a:xfrm>
          <a:prstGeom prst="rect">
            <a:avLst/>
          </a:prstGeom>
          <a:noFill/>
          <a:ln/>
        </p:spPr>
        <p:txBody>
          <a:bodyPr wrap="square" lIns="0" tIns="0" rIns="0" bIns="0" rtlCol="0" anchor="ctr"/>
          <a:lstStyle/>
          <a:p>
            <a:pPr indent="0" marL="0">
              <a:buNone/>
            </a:pPr>
            <a:r>
              <a:rPr lang="en-US" sz="2200" dirty="0">
                <a:solidFill>
                  <a:srgbClr val="9DB8D4"/>
                </a:solidFill>
                <a:latin typeface="Cambria" pitchFamily="34" charset="0"/>
                <a:ea typeface="Cambria" pitchFamily="34" charset="-122"/>
                <a:cs typeface="Cambria" pitchFamily="34" charset="-120"/>
              </a:rPr>
              <a:t>26 steps to a REST-fronted key management service</a:t>
            </a:r>
            <a:endParaRPr lang="en-US" sz="2200" dirty="0"/>
          </a:p>
        </p:txBody>
      </p:sp>
      <p:sp>
        <p:nvSpPr>
          <p:cNvPr id="4" name="Text 2"/>
          <p:cNvSpPr txBox="1"/>
          <p:nvPr/>
        </p:nvSpPr>
        <p:spPr>
          <a:xfrm>
            <a:off x="566928" y="3163824"/>
            <a:ext cx="11027664" cy="365760"/>
          </a:xfrm>
          <a:prstGeom prst="rect">
            <a:avLst/>
          </a:prstGeom>
          <a:noFill/>
          <a:ln/>
        </p:spPr>
        <p:txBody>
          <a:bodyPr wrap="square" lIns="0" tIns="0" rIns="0" bIns="0" rtlCol="0" anchor="ctr"/>
          <a:lstStyle/>
          <a:p>
            <a:pPr indent="0" marL="0">
              <a:buNone/>
            </a:pPr>
            <a:r>
              <a:rPr lang="en-US" sz="1400" spc="120" kern="0" dirty="0">
                <a:solidFill>
                  <a:srgbClr val="C8952B"/>
                </a:solidFill>
                <a:latin typeface="Calibri" pitchFamily="34" charset="0"/>
                <a:ea typeface="Calibri" pitchFamily="34" charset="-122"/>
                <a:cs typeface="Calibri" pitchFamily="34" charset="-120"/>
              </a:rPr>
              <a:t>Design impact · proposed solution · test strategy, for every step</a:t>
            </a:r>
            <a:endParaRPr lang="en-US" sz="1400" dirty="0"/>
          </a:p>
        </p:txBody>
      </p:sp>
      <p:sp>
        <p:nvSpPr>
          <p:cNvPr id="5" name="Text 3"/>
          <p:cNvSpPr txBox="1"/>
          <p:nvPr/>
        </p:nvSpPr>
        <p:spPr>
          <a:xfrm>
            <a:off x="566928" y="4187952"/>
            <a:ext cx="2560320" cy="530352"/>
          </a:xfrm>
          <a:prstGeom prst="rect">
            <a:avLst/>
          </a:prstGeom>
          <a:noFill/>
          <a:ln/>
        </p:spPr>
        <p:txBody>
          <a:bodyPr wrap="square" lIns="0" tIns="0" rIns="0" bIns="0" rtlCol="0" anchor="ctr"/>
          <a:lstStyle/>
          <a:p>
            <a:pPr indent="0" marL="0">
              <a:buNone/>
            </a:pPr>
            <a:r>
              <a:rPr lang="en-US" sz="3200" b="1" dirty="0">
                <a:solidFill>
                  <a:srgbClr val="C8952B"/>
                </a:solidFill>
                <a:latin typeface="Cambria" pitchFamily="34" charset="0"/>
                <a:ea typeface="Cambria" pitchFamily="34" charset="-122"/>
                <a:cs typeface="Cambria" pitchFamily="34" charset="-120"/>
              </a:rPr>
              <a:t>26</a:t>
            </a:r>
            <a:endParaRPr lang="en-US" sz="3200" dirty="0"/>
          </a:p>
        </p:txBody>
      </p:sp>
      <p:sp>
        <p:nvSpPr>
          <p:cNvPr id="6" name="Text 4"/>
          <p:cNvSpPr txBox="1"/>
          <p:nvPr/>
        </p:nvSpPr>
        <p:spPr>
          <a:xfrm>
            <a:off x="566928" y="4754880"/>
            <a:ext cx="2560320" cy="54864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steps in 9 stages</a:t>
            </a:r>
            <a:endParaRPr lang="en-US" sz="1150" dirty="0"/>
          </a:p>
        </p:txBody>
      </p:sp>
      <p:sp>
        <p:nvSpPr>
          <p:cNvPr id="7" name="Text 5"/>
          <p:cNvSpPr txBox="1"/>
          <p:nvPr/>
        </p:nvSpPr>
        <p:spPr>
          <a:xfrm>
            <a:off x="3355848" y="4187952"/>
            <a:ext cx="2560320" cy="530352"/>
          </a:xfrm>
          <a:prstGeom prst="rect">
            <a:avLst/>
          </a:prstGeom>
          <a:noFill/>
          <a:ln/>
        </p:spPr>
        <p:txBody>
          <a:bodyPr wrap="square" lIns="0" tIns="0" rIns="0" bIns="0" rtlCol="0" anchor="ctr"/>
          <a:lstStyle/>
          <a:p>
            <a:pPr indent="0" marL="0">
              <a:buNone/>
            </a:pPr>
            <a:r>
              <a:rPr lang="en-US" sz="3200" b="1" dirty="0">
                <a:solidFill>
                  <a:srgbClr val="C8952B"/>
                </a:solidFill>
                <a:latin typeface="Cambria" pitchFamily="34" charset="0"/>
                <a:ea typeface="Cambria" pitchFamily="34" charset="-122"/>
                <a:cs typeface="Cambria" pitchFamily="34" charset="-120"/>
              </a:rPr>
              <a:t>50</a:t>
            </a:r>
            <a:endParaRPr lang="en-US" sz="3200" dirty="0"/>
          </a:p>
        </p:txBody>
      </p:sp>
      <p:sp>
        <p:nvSpPr>
          <p:cNvPr id="8" name="Text 6"/>
          <p:cNvSpPr txBox="1"/>
          <p:nvPr/>
        </p:nvSpPr>
        <p:spPr>
          <a:xfrm>
            <a:off x="3355848" y="4754880"/>
            <a:ext cx="2560320" cy="54864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features short of full coverage</a:t>
            </a:r>
            <a:endParaRPr lang="en-US" sz="1150" dirty="0"/>
          </a:p>
        </p:txBody>
      </p:sp>
      <p:sp>
        <p:nvSpPr>
          <p:cNvPr id="9" name="Text 7"/>
          <p:cNvSpPr txBox="1"/>
          <p:nvPr/>
        </p:nvSpPr>
        <p:spPr>
          <a:xfrm>
            <a:off x="6144768" y="4187952"/>
            <a:ext cx="2560320" cy="530352"/>
          </a:xfrm>
          <a:prstGeom prst="rect">
            <a:avLst/>
          </a:prstGeom>
          <a:noFill/>
          <a:ln/>
        </p:spPr>
        <p:txBody>
          <a:bodyPr wrap="square" lIns="0" tIns="0" rIns="0" bIns="0" rtlCol="0" anchor="ctr"/>
          <a:lstStyle/>
          <a:p>
            <a:pPr indent="0" marL="0">
              <a:buNone/>
            </a:pPr>
            <a:r>
              <a:rPr lang="en-US" sz="3200" b="1" dirty="0">
                <a:solidFill>
                  <a:srgbClr val="C8952B"/>
                </a:solidFill>
                <a:latin typeface="Cambria" pitchFamily="34" charset="0"/>
                <a:ea typeface="Cambria" pitchFamily="34" charset="-122"/>
                <a:cs typeface="Cambria" pitchFamily="34" charset="-120"/>
              </a:rPr>
              <a:t>50</a:t>
            </a:r>
            <a:endParaRPr lang="en-US" sz="3200" dirty="0"/>
          </a:p>
        </p:txBody>
      </p:sp>
      <p:sp>
        <p:nvSpPr>
          <p:cNvPr id="10" name="Text 8"/>
          <p:cNvSpPr txBox="1"/>
          <p:nvPr/>
        </p:nvSpPr>
        <p:spPr>
          <a:xfrm>
            <a:off x="6144768" y="4754880"/>
            <a:ext cx="2560320" cy="54864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closed by this plan</a:t>
            </a:r>
            <a:endParaRPr lang="en-US" sz="1150" dirty="0"/>
          </a:p>
        </p:txBody>
      </p:sp>
      <p:sp>
        <p:nvSpPr>
          <p:cNvPr id="11" name="Text 9"/>
          <p:cNvSpPr txBox="1"/>
          <p:nvPr/>
        </p:nvSpPr>
        <p:spPr>
          <a:xfrm>
            <a:off x="8933688" y="4187952"/>
            <a:ext cx="2560320" cy="530352"/>
          </a:xfrm>
          <a:prstGeom prst="rect">
            <a:avLst/>
          </a:prstGeom>
          <a:noFill/>
          <a:ln/>
        </p:spPr>
        <p:txBody>
          <a:bodyPr wrap="square" lIns="0" tIns="0" rIns="0" bIns="0" rtlCol="0" anchor="ctr"/>
          <a:lstStyle/>
          <a:p>
            <a:pPr indent="0" marL="0">
              <a:buNone/>
            </a:pPr>
            <a:r>
              <a:rPr lang="en-US" sz="3200" b="1" dirty="0">
                <a:solidFill>
                  <a:srgbClr val="C8952B"/>
                </a:solidFill>
                <a:latin typeface="Cambria" pitchFamily="34" charset="0"/>
                <a:ea typeface="Cambria" pitchFamily="34" charset="-122"/>
                <a:cs typeface="Cambria" pitchFamily="34" charset="-120"/>
              </a:rPr>
              <a:t>0</a:t>
            </a:r>
            <a:endParaRPr lang="en-US" sz="3200" dirty="0"/>
          </a:p>
        </p:txBody>
      </p:sp>
      <p:sp>
        <p:nvSpPr>
          <p:cNvPr id="12" name="Text 10"/>
          <p:cNvSpPr txBox="1"/>
          <p:nvPr/>
        </p:nvSpPr>
        <p:spPr>
          <a:xfrm>
            <a:off x="8933688" y="4754880"/>
            <a:ext cx="2560320" cy="54864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deferred, with reasons</a:t>
            </a:r>
            <a:endParaRPr lang="en-US" sz="1150" dirty="0"/>
          </a:p>
        </p:txBody>
      </p:sp>
      <p:sp>
        <p:nvSpPr>
          <p:cNvPr id="13" name="Text 11"/>
          <p:cNvSpPr txBox="1"/>
          <p:nvPr/>
        </p:nvSpPr>
        <p:spPr>
          <a:xfrm>
            <a:off x="566928" y="6071616"/>
            <a:ext cx="11027664" cy="274320"/>
          </a:xfrm>
          <a:prstGeom prst="rect">
            <a:avLst/>
          </a:prstGeom>
          <a:noFill/>
          <a:ln/>
        </p:spPr>
        <p:txBody>
          <a:bodyPr wrap="square" lIns="0" tIns="0" rIns="0" bIns="0" rtlCol="0" anchor="ctr"/>
          <a:lstStyle/>
          <a:p>
            <a:pPr indent="0" marL="0">
              <a:buNone/>
            </a:pPr>
            <a:r>
              <a:rPr lang="en-US" sz="1050" dirty="0">
                <a:solidFill>
                  <a:srgbClr val="6B8299"/>
                </a:solidFill>
                <a:latin typeface="Calibri" pitchFamily="34" charset="0"/>
                <a:ea typeface="Calibri" pitchFamily="34" charset="-122"/>
                <a:cs typeface="Calibri" pitchFamily="34" charset="-120"/>
              </a:rPr>
              <a:t>Baseline e44a2ef · 816 tests green · 12 September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PLAN AT A GLANCE</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9 stages, 26 steps</a:t>
            </a:r>
            <a:endParaRPr lang="en-US" sz="3000" dirty="0"/>
          </a:p>
        </p:txBody>
      </p:sp>
      <p:sp>
        <p:nvSpPr>
          <p:cNvPr id="4" name="Shape 2"/>
          <p:cNvSpPr/>
          <p:nvPr/>
        </p:nvSpPr>
        <p:spPr>
          <a:xfrm>
            <a:off x="566928" y="1481328"/>
            <a:ext cx="3505200" cy="1395984"/>
          </a:xfrm>
          <a:prstGeom prst="roundRect">
            <a:avLst>
              <a:gd name="adj" fmla="val 393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Shape 3"/>
          <p:cNvSpPr/>
          <p:nvPr/>
        </p:nvSpPr>
        <p:spPr>
          <a:xfrm>
            <a:off x="566928" y="1481328"/>
            <a:ext cx="91440" cy="1395984"/>
          </a:xfrm>
          <a:prstGeom prst="rect">
            <a:avLst/>
          </a:prstGeom>
          <a:solidFill>
            <a:srgbClr val="1A3A5C"/>
          </a:solidFill>
          <a:ln w="12700">
            <a:solidFill>
              <a:srgbClr val="1A3A5C"/>
            </a:solidFill>
            <a:prstDash val="solid"/>
          </a:ln>
        </p:spPr>
      </p:sp>
      <p:sp>
        <p:nvSpPr>
          <p:cNvPr id="6" name="Text 4"/>
          <p:cNvSpPr txBox="1"/>
          <p:nvPr/>
        </p:nvSpPr>
        <p:spPr>
          <a:xfrm>
            <a:off x="822960" y="1627632"/>
            <a:ext cx="2993136" cy="238252"/>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A · Foundation</a:t>
            </a:r>
            <a:endParaRPr lang="en-US" sz="1400" dirty="0"/>
          </a:p>
        </p:txBody>
      </p:sp>
      <p:sp>
        <p:nvSpPr>
          <p:cNvPr id="7" name="Text 5"/>
          <p:cNvSpPr txBox="1"/>
          <p:nvPr/>
        </p:nvSpPr>
        <p:spPr>
          <a:xfrm>
            <a:off x="822960" y="1920748"/>
            <a:ext cx="2993136" cy="219456"/>
          </a:xfrm>
          <a:prstGeom prst="rect">
            <a:avLst/>
          </a:prstGeom>
          <a:noFill/>
          <a:ln/>
        </p:spPr>
        <p:txBody>
          <a:bodyPr wrap="square" lIns="0" tIns="0" rIns="0" bIns="0" rtlCol="0" anchor="ctr"/>
          <a:lstStyle/>
          <a:p>
            <a:pPr indent="0" marL="0">
              <a:buNone/>
            </a:pPr>
            <a:r>
              <a:rPr lang="en-US" sz="1050" b="1" dirty="0">
                <a:solidFill>
                  <a:srgbClr val="1F7A43"/>
                </a:solidFill>
                <a:latin typeface="Calibri" pitchFamily="34" charset="0"/>
                <a:ea typeface="Calibri" pitchFamily="34" charset="-122"/>
                <a:cs typeface="Calibri" pitchFamily="34" charset="-120"/>
              </a:rPr>
              <a:t>Steps 1–2   ·   closes 2</a:t>
            </a:r>
            <a:endParaRPr lang="en-US" sz="1050" dirty="0"/>
          </a:p>
        </p:txBody>
      </p:sp>
      <p:sp>
        <p:nvSpPr>
          <p:cNvPr id="8" name="Text 6"/>
          <p:cNvSpPr txBox="1"/>
          <p:nvPr/>
        </p:nvSpPr>
        <p:spPr>
          <a:xfrm>
            <a:off x="822960" y="2195068"/>
            <a:ext cx="2993136" cy="572516"/>
          </a:xfrm>
          <a:prstGeom prst="rect">
            <a:avLst/>
          </a:prstGeom>
          <a:noFill/>
          <a:ln/>
        </p:spPr>
        <p:txBody>
          <a:bodyPr wrap="square" lIns="0" tIns="0" rIns="0" bIns="0" rtlCol="0" anchor="ctr"/>
          <a:lstStyle/>
          <a:p>
            <a:pPr indent="0" marL="0">
              <a:lnSpc>
                <a:spcPts val="1300"/>
              </a:lnSpc>
              <a:buNone/>
            </a:pPr>
            <a:r>
              <a:rPr lang="en-US" sz="1000" i="1" dirty="0">
                <a:solidFill>
                  <a:srgbClr val="4D5A68"/>
                </a:solidFill>
                <a:latin typeface="Calibri" pitchFamily="34" charset="0"/>
                <a:ea typeface="Calibri" pitchFamily="34" charset="-122"/>
                <a:cs typeface="Calibri" pitchFamily="34" charset="-120"/>
              </a:rPr>
              <a:t>No new attack surface. Makes the rest safe to build.</a:t>
            </a:r>
            <a:endParaRPr lang="en-US" sz="1000" dirty="0"/>
          </a:p>
        </p:txBody>
      </p:sp>
      <p:sp>
        <p:nvSpPr>
          <p:cNvPr id="9" name="Shape 7"/>
          <p:cNvSpPr/>
          <p:nvPr/>
        </p:nvSpPr>
        <p:spPr>
          <a:xfrm>
            <a:off x="4328160" y="1481328"/>
            <a:ext cx="3505200" cy="1395984"/>
          </a:xfrm>
          <a:prstGeom prst="roundRect">
            <a:avLst>
              <a:gd name="adj" fmla="val 393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0" name="Shape 8"/>
          <p:cNvSpPr/>
          <p:nvPr/>
        </p:nvSpPr>
        <p:spPr>
          <a:xfrm>
            <a:off x="4328160" y="1481328"/>
            <a:ext cx="91440" cy="1395984"/>
          </a:xfrm>
          <a:prstGeom prst="rect">
            <a:avLst/>
          </a:prstGeom>
          <a:solidFill>
            <a:srgbClr val="1A3A5C"/>
          </a:solidFill>
          <a:ln w="12700">
            <a:solidFill>
              <a:srgbClr val="1A3A5C"/>
            </a:solidFill>
            <a:prstDash val="solid"/>
          </a:ln>
        </p:spPr>
      </p:sp>
      <p:sp>
        <p:nvSpPr>
          <p:cNvPr id="11" name="Text 9"/>
          <p:cNvSpPr txBox="1"/>
          <p:nvPr/>
        </p:nvSpPr>
        <p:spPr>
          <a:xfrm>
            <a:off x="4584192" y="1627632"/>
            <a:ext cx="2993136" cy="238252"/>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B · The REST control plane</a:t>
            </a:r>
            <a:endParaRPr lang="en-US" sz="1400" dirty="0"/>
          </a:p>
        </p:txBody>
      </p:sp>
      <p:sp>
        <p:nvSpPr>
          <p:cNvPr id="12" name="Text 10"/>
          <p:cNvSpPr txBox="1"/>
          <p:nvPr/>
        </p:nvSpPr>
        <p:spPr>
          <a:xfrm>
            <a:off x="4584192" y="1920748"/>
            <a:ext cx="2993136" cy="219456"/>
          </a:xfrm>
          <a:prstGeom prst="rect">
            <a:avLst/>
          </a:prstGeom>
          <a:noFill/>
          <a:ln/>
        </p:spPr>
        <p:txBody>
          <a:bodyPr wrap="square" lIns="0" tIns="0" rIns="0" bIns="0" rtlCol="0" anchor="ctr"/>
          <a:lstStyle/>
          <a:p>
            <a:pPr indent="0" marL="0">
              <a:buNone/>
            </a:pPr>
            <a:r>
              <a:rPr lang="en-US" sz="1050" b="1" dirty="0">
                <a:solidFill>
                  <a:srgbClr val="1F7A43"/>
                </a:solidFill>
                <a:latin typeface="Calibri" pitchFamily="34" charset="0"/>
                <a:ea typeface="Calibri" pitchFamily="34" charset="-122"/>
                <a:cs typeface="Calibri" pitchFamily="34" charset="-120"/>
              </a:rPr>
              <a:t>Steps 3–7   ·   closes 12</a:t>
            </a:r>
            <a:endParaRPr lang="en-US" sz="1050" dirty="0"/>
          </a:p>
        </p:txBody>
      </p:sp>
      <p:sp>
        <p:nvSpPr>
          <p:cNvPr id="13" name="Text 11"/>
          <p:cNvSpPr txBox="1"/>
          <p:nvPr/>
        </p:nvSpPr>
        <p:spPr>
          <a:xfrm>
            <a:off x="4584192" y="2195068"/>
            <a:ext cx="2993136" cy="572516"/>
          </a:xfrm>
          <a:prstGeom prst="rect">
            <a:avLst/>
          </a:prstGeom>
          <a:noFill/>
          <a:ln/>
        </p:spPr>
        <p:txBody>
          <a:bodyPr wrap="square" lIns="0" tIns="0" rIns="0" bIns="0" rtlCol="0" anchor="ctr"/>
          <a:lstStyle/>
          <a:p>
            <a:pPr indent="0" marL="0">
              <a:lnSpc>
                <a:spcPts val="1300"/>
              </a:lnSpc>
              <a:buNone/>
            </a:pPr>
            <a:r>
              <a:rPr lang="en-US" sz="1000" i="1" dirty="0">
                <a:solidFill>
                  <a:srgbClr val="4D5A68"/>
                </a:solidFill>
                <a:latin typeface="Calibri" pitchFamily="34" charset="0"/>
                <a:ea typeface="Calibri" pitchFamily="34" charset="-122"/>
                <a:cs typeface="Calibri" pitchFamily="34" charset="-120"/>
              </a:rPr>
              <a:t>The API, then the console that uses it.</a:t>
            </a:r>
            <a:endParaRPr lang="en-US" sz="1000" dirty="0"/>
          </a:p>
        </p:txBody>
      </p:sp>
      <p:sp>
        <p:nvSpPr>
          <p:cNvPr id="14" name="Shape 12"/>
          <p:cNvSpPr/>
          <p:nvPr/>
        </p:nvSpPr>
        <p:spPr>
          <a:xfrm>
            <a:off x="8089392" y="1481328"/>
            <a:ext cx="3505200" cy="1395984"/>
          </a:xfrm>
          <a:prstGeom prst="roundRect">
            <a:avLst>
              <a:gd name="adj" fmla="val 393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5" name="Shape 13"/>
          <p:cNvSpPr/>
          <p:nvPr/>
        </p:nvSpPr>
        <p:spPr>
          <a:xfrm>
            <a:off x="8089392" y="1481328"/>
            <a:ext cx="91440" cy="1395984"/>
          </a:xfrm>
          <a:prstGeom prst="rect">
            <a:avLst/>
          </a:prstGeom>
          <a:solidFill>
            <a:srgbClr val="1A3A5C"/>
          </a:solidFill>
          <a:ln w="12700">
            <a:solidFill>
              <a:srgbClr val="1A3A5C"/>
            </a:solidFill>
            <a:prstDash val="solid"/>
          </a:ln>
        </p:spPr>
      </p:sp>
      <p:sp>
        <p:nvSpPr>
          <p:cNvPr id="16" name="Text 14"/>
          <p:cNvSpPr txBox="1"/>
          <p:nvPr/>
        </p:nvSpPr>
        <p:spPr>
          <a:xfrm>
            <a:off x="8345424" y="1627632"/>
            <a:ext cx="2993136" cy="238252"/>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C · Enterprise fit</a:t>
            </a:r>
            <a:endParaRPr lang="en-US" sz="1400" dirty="0"/>
          </a:p>
        </p:txBody>
      </p:sp>
      <p:sp>
        <p:nvSpPr>
          <p:cNvPr id="17" name="Text 15"/>
          <p:cNvSpPr txBox="1"/>
          <p:nvPr/>
        </p:nvSpPr>
        <p:spPr>
          <a:xfrm>
            <a:off x="8345424" y="1920748"/>
            <a:ext cx="2993136" cy="219456"/>
          </a:xfrm>
          <a:prstGeom prst="rect">
            <a:avLst/>
          </a:prstGeom>
          <a:noFill/>
          <a:ln/>
        </p:spPr>
        <p:txBody>
          <a:bodyPr wrap="square" lIns="0" tIns="0" rIns="0" bIns="0" rtlCol="0" anchor="ctr"/>
          <a:lstStyle/>
          <a:p>
            <a:pPr indent="0" marL="0">
              <a:buNone/>
            </a:pPr>
            <a:r>
              <a:rPr lang="en-US" sz="1050" b="1" dirty="0">
                <a:solidFill>
                  <a:srgbClr val="1F7A43"/>
                </a:solidFill>
                <a:latin typeface="Calibri" pitchFamily="34" charset="0"/>
                <a:ea typeface="Calibri" pitchFamily="34" charset="-122"/>
                <a:cs typeface="Calibri" pitchFamily="34" charset="-120"/>
              </a:rPr>
              <a:t>Steps 8–9   ·   closes 9</a:t>
            </a:r>
            <a:endParaRPr lang="en-US" sz="1050" dirty="0"/>
          </a:p>
        </p:txBody>
      </p:sp>
      <p:sp>
        <p:nvSpPr>
          <p:cNvPr id="18" name="Text 16"/>
          <p:cNvSpPr txBox="1"/>
          <p:nvPr/>
        </p:nvSpPr>
        <p:spPr>
          <a:xfrm>
            <a:off x="8345424" y="2195068"/>
            <a:ext cx="2993136" cy="572516"/>
          </a:xfrm>
          <a:prstGeom prst="rect">
            <a:avLst/>
          </a:prstGeom>
          <a:noFill/>
          <a:ln/>
        </p:spPr>
        <p:txBody>
          <a:bodyPr wrap="square" lIns="0" tIns="0" rIns="0" bIns="0" rtlCol="0" anchor="ctr"/>
          <a:lstStyle/>
          <a:p>
            <a:pPr indent="0" marL="0">
              <a:lnSpc>
                <a:spcPts val="1300"/>
              </a:lnSpc>
              <a:buNone/>
            </a:pPr>
            <a:r>
              <a:rPr lang="en-US" sz="1000" i="1" dirty="0">
                <a:solidFill>
                  <a:srgbClr val="4D5A68"/>
                </a:solidFill>
                <a:latin typeface="Calibri" pitchFamily="34" charset="0"/>
                <a:ea typeface="Calibri" pitchFamily="34" charset="-122"/>
                <a:cs typeface="Calibri" pitchFamily="34" charset="-120"/>
              </a:rPr>
              <a:t>What an auditor and a security team ask for.</a:t>
            </a:r>
            <a:endParaRPr lang="en-US" sz="1000" dirty="0"/>
          </a:p>
        </p:txBody>
      </p:sp>
      <p:sp>
        <p:nvSpPr>
          <p:cNvPr id="19" name="Shape 17"/>
          <p:cNvSpPr/>
          <p:nvPr/>
        </p:nvSpPr>
        <p:spPr>
          <a:xfrm>
            <a:off x="566928" y="3096768"/>
            <a:ext cx="3505200" cy="1395984"/>
          </a:xfrm>
          <a:prstGeom prst="roundRect">
            <a:avLst>
              <a:gd name="adj" fmla="val 393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Shape 18"/>
          <p:cNvSpPr/>
          <p:nvPr/>
        </p:nvSpPr>
        <p:spPr>
          <a:xfrm>
            <a:off x="566928" y="3096768"/>
            <a:ext cx="91440" cy="1395984"/>
          </a:xfrm>
          <a:prstGeom prst="rect">
            <a:avLst/>
          </a:prstGeom>
          <a:solidFill>
            <a:srgbClr val="1A3A5C"/>
          </a:solidFill>
          <a:ln w="12700">
            <a:solidFill>
              <a:srgbClr val="1A3A5C"/>
            </a:solidFill>
            <a:prstDash val="solid"/>
          </a:ln>
        </p:spPr>
      </p:sp>
      <p:sp>
        <p:nvSpPr>
          <p:cNvPr id="21" name="Text 19"/>
          <p:cNvSpPr txBox="1"/>
          <p:nvPr/>
        </p:nvSpPr>
        <p:spPr>
          <a:xfrm>
            <a:off x="822960" y="3243072"/>
            <a:ext cx="2993136" cy="476504"/>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D · Scale, availability and tenancy</a:t>
            </a:r>
            <a:endParaRPr lang="en-US" sz="1400" dirty="0"/>
          </a:p>
        </p:txBody>
      </p:sp>
      <p:sp>
        <p:nvSpPr>
          <p:cNvPr id="22" name="Text 20"/>
          <p:cNvSpPr txBox="1"/>
          <p:nvPr/>
        </p:nvSpPr>
        <p:spPr>
          <a:xfrm>
            <a:off x="822960" y="3774440"/>
            <a:ext cx="2993136" cy="219456"/>
          </a:xfrm>
          <a:prstGeom prst="rect">
            <a:avLst/>
          </a:prstGeom>
          <a:noFill/>
          <a:ln/>
        </p:spPr>
        <p:txBody>
          <a:bodyPr wrap="square" lIns="0" tIns="0" rIns="0" bIns="0" rtlCol="0" anchor="ctr"/>
          <a:lstStyle/>
          <a:p>
            <a:pPr indent="0" marL="0">
              <a:buNone/>
            </a:pPr>
            <a:r>
              <a:rPr lang="en-US" sz="1050" b="1" dirty="0">
                <a:solidFill>
                  <a:srgbClr val="1F7A43"/>
                </a:solidFill>
                <a:latin typeface="Calibri" pitchFamily="34" charset="0"/>
                <a:ea typeface="Calibri" pitchFamily="34" charset="-122"/>
                <a:cs typeface="Calibri" pitchFamily="34" charset="-120"/>
              </a:rPr>
              <a:t>Steps 10–12   ·   closes 9</a:t>
            </a:r>
            <a:endParaRPr lang="en-US" sz="1050" dirty="0"/>
          </a:p>
        </p:txBody>
      </p:sp>
      <p:sp>
        <p:nvSpPr>
          <p:cNvPr id="23" name="Text 21"/>
          <p:cNvSpPr txBox="1"/>
          <p:nvPr/>
        </p:nvSpPr>
        <p:spPr>
          <a:xfrm>
            <a:off x="822960" y="4048760"/>
            <a:ext cx="2993136" cy="334264"/>
          </a:xfrm>
          <a:prstGeom prst="rect">
            <a:avLst/>
          </a:prstGeom>
          <a:noFill/>
          <a:ln/>
        </p:spPr>
        <p:txBody>
          <a:bodyPr wrap="square" lIns="0" tIns="0" rIns="0" bIns="0" rtlCol="0" anchor="ctr"/>
          <a:lstStyle/>
          <a:p>
            <a:pPr indent="0" marL="0">
              <a:lnSpc>
                <a:spcPts val="1300"/>
              </a:lnSpc>
              <a:buNone/>
            </a:pPr>
            <a:r>
              <a:rPr lang="en-US" sz="1000" i="1" dirty="0">
                <a:solidFill>
                  <a:srgbClr val="4D5A68"/>
                </a:solidFill>
                <a:latin typeface="Calibri" pitchFamily="34" charset="0"/>
                <a:ea typeface="Calibri" pitchFamily="34" charset="-122"/>
                <a:cs typeface="Calibri" pitchFamily="34" charset="-120"/>
              </a:rPr>
              <a:t>Needs infrastructure to verify.</a:t>
            </a:r>
            <a:endParaRPr lang="en-US" sz="1000" dirty="0"/>
          </a:p>
        </p:txBody>
      </p:sp>
      <p:sp>
        <p:nvSpPr>
          <p:cNvPr id="24" name="Shape 22"/>
          <p:cNvSpPr/>
          <p:nvPr/>
        </p:nvSpPr>
        <p:spPr>
          <a:xfrm>
            <a:off x="4328160" y="3096768"/>
            <a:ext cx="3505200" cy="1395984"/>
          </a:xfrm>
          <a:prstGeom prst="roundRect">
            <a:avLst>
              <a:gd name="adj" fmla="val 393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5" name="Shape 23"/>
          <p:cNvSpPr/>
          <p:nvPr/>
        </p:nvSpPr>
        <p:spPr>
          <a:xfrm>
            <a:off x="4328160" y="3096768"/>
            <a:ext cx="91440" cy="1395984"/>
          </a:xfrm>
          <a:prstGeom prst="rect">
            <a:avLst/>
          </a:prstGeom>
          <a:solidFill>
            <a:srgbClr val="1A3A5C"/>
          </a:solidFill>
          <a:ln w="12700">
            <a:solidFill>
              <a:srgbClr val="1A3A5C"/>
            </a:solidFill>
            <a:prstDash val="solid"/>
          </a:ln>
        </p:spPr>
      </p:sp>
      <p:sp>
        <p:nvSpPr>
          <p:cNvPr id="26" name="Text 24"/>
          <p:cNvSpPr txBox="1"/>
          <p:nvPr/>
        </p:nvSpPr>
        <p:spPr>
          <a:xfrm>
            <a:off x="4584192" y="3243072"/>
            <a:ext cx="2993136" cy="238252"/>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E · Protocol and estate reach</a:t>
            </a:r>
            <a:endParaRPr lang="en-US" sz="1400" dirty="0"/>
          </a:p>
        </p:txBody>
      </p:sp>
      <p:sp>
        <p:nvSpPr>
          <p:cNvPr id="27" name="Text 25"/>
          <p:cNvSpPr txBox="1"/>
          <p:nvPr/>
        </p:nvSpPr>
        <p:spPr>
          <a:xfrm>
            <a:off x="4584192" y="3536188"/>
            <a:ext cx="2993136" cy="219456"/>
          </a:xfrm>
          <a:prstGeom prst="rect">
            <a:avLst/>
          </a:prstGeom>
          <a:noFill/>
          <a:ln/>
        </p:spPr>
        <p:txBody>
          <a:bodyPr wrap="square" lIns="0" tIns="0" rIns="0" bIns="0" rtlCol="0" anchor="ctr"/>
          <a:lstStyle/>
          <a:p>
            <a:pPr indent="0" marL="0">
              <a:buNone/>
            </a:pPr>
            <a:r>
              <a:rPr lang="en-US" sz="1050" b="1" dirty="0">
                <a:solidFill>
                  <a:srgbClr val="1F7A43"/>
                </a:solidFill>
                <a:latin typeface="Calibri" pitchFamily="34" charset="0"/>
                <a:ea typeface="Calibri" pitchFamily="34" charset="-122"/>
                <a:cs typeface="Calibri" pitchFamily="34" charset="-120"/>
              </a:rPr>
              <a:t>Steps 13–14   ·   closes 2</a:t>
            </a:r>
            <a:endParaRPr lang="en-US" sz="1050" dirty="0"/>
          </a:p>
        </p:txBody>
      </p:sp>
      <p:sp>
        <p:nvSpPr>
          <p:cNvPr id="28" name="Text 26"/>
          <p:cNvSpPr txBox="1"/>
          <p:nvPr/>
        </p:nvSpPr>
        <p:spPr>
          <a:xfrm>
            <a:off x="4584192" y="3810508"/>
            <a:ext cx="2993136" cy="572516"/>
          </a:xfrm>
          <a:prstGeom prst="rect">
            <a:avLst/>
          </a:prstGeom>
          <a:noFill/>
          <a:ln/>
        </p:spPr>
        <p:txBody>
          <a:bodyPr wrap="square" lIns="0" tIns="0" rIns="0" bIns="0" rtlCol="0" anchor="ctr"/>
          <a:lstStyle/>
          <a:p>
            <a:pPr indent="0" marL="0">
              <a:lnSpc>
                <a:spcPts val="1300"/>
              </a:lnSpc>
              <a:buNone/>
            </a:pPr>
            <a:r>
              <a:rPr lang="en-US" sz="1000" i="1" dirty="0">
                <a:solidFill>
                  <a:srgbClr val="4D5A68"/>
                </a:solidFill>
                <a:latin typeface="Calibri" pitchFamily="34" charset="0"/>
                <a:ea typeface="Calibri" pitchFamily="34" charset="-122"/>
                <a:cs typeface="Calibri" pitchFamily="34" charset="-120"/>
              </a:rPr>
              <a:t>Additive, independent of D, verifiable here.</a:t>
            </a:r>
            <a:endParaRPr lang="en-US" sz="1000" dirty="0"/>
          </a:p>
        </p:txBody>
      </p:sp>
      <p:sp>
        <p:nvSpPr>
          <p:cNvPr id="29" name="Shape 27"/>
          <p:cNvSpPr/>
          <p:nvPr/>
        </p:nvSpPr>
        <p:spPr>
          <a:xfrm>
            <a:off x="8089392" y="3096768"/>
            <a:ext cx="3505200" cy="1395984"/>
          </a:xfrm>
          <a:prstGeom prst="roundRect">
            <a:avLst>
              <a:gd name="adj" fmla="val 393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0" name="Shape 28"/>
          <p:cNvSpPr/>
          <p:nvPr/>
        </p:nvSpPr>
        <p:spPr>
          <a:xfrm>
            <a:off x="8089392" y="3096768"/>
            <a:ext cx="91440" cy="1395984"/>
          </a:xfrm>
          <a:prstGeom prst="rect">
            <a:avLst/>
          </a:prstGeom>
          <a:solidFill>
            <a:srgbClr val="1A3A5C"/>
          </a:solidFill>
          <a:ln w="12700">
            <a:solidFill>
              <a:srgbClr val="1A3A5C"/>
            </a:solidFill>
            <a:prstDash val="solid"/>
          </a:ln>
        </p:spPr>
      </p:sp>
      <p:sp>
        <p:nvSpPr>
          <p:cNvPr id="31" name="Text 29"/>
          <p:cNvSpPr txBox="1"/>
          <p:nvPr/>
        </p:nvSpPr>
        <p:spPr>
          <a:xfrm>
            <a:off x="8345424" y="3243072"/>
            <a:ext cx="2993136" cy="238252"/>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F · Cloud and application reach</a:t>
            </a:r>
            <a:endParaRPr lang="en-US" sz="1400" dirty="0"/>
          </a:p>
        </p:txBody>
      </p:sp>
      <p:sp>
        <p:nvSpPr>
          <p:cNvPr id="32" name="Text 30"/>
          <p:cNvSpPr txBox="1"/>
          <p:nvPr/>
        </p:nvSpPr>
        <p:spPr>
          <a:xfrm>
            <a:off x="8345424" y="3536188"/>
            <a:ext cx="2993136" cy="219456"/>
          </a:xfrm>
          <a:prstGeom prst="rect">
            <a:avLst/>
          </a:prstGeom>
          <a:noFill/>
          <a:ln/>
        </p:spPr>
        <p:txBody>
          <a:bodyPr wrap="square" lIns="0" tIns="0" rIns="0" bIns="0" rtlCol="0" anchor="ctr"/>
          <a:lstStyle/>
          <a:p>
            <a:pPr indent="0" marL="0">
              <a:buNone/>
            </a:pPr>
            <a:r>
              <a:rPr lang="en-US" sz="1050" b="1" dirty="0">
                <a:solidFill>
                  <a:srgbClr val="1F7A43"/>
                </a:solidFill>
                <a:latin typeface="Calibri" pitchFamily="34" charset="0"/>
                <a:ea typeface="Calibri" pitchFamily="34" charset="-122"/>
                <a:cs typeface="Calibri" pitchFamily="34" charset="-120"/>
              </a:rPr>
              <a:t>Steps 15–18   ·   closes 4</a:t>
            </a:r>
            <a:endParaRPr lang="en-US" sz="1050" dirty="0"/>
          </a:p>
        </p:txBody>
      </p:sp>
      <p:sp>
        <p:nvSpPr>
          <p:cNvPr id="33" name="Text 31"/>
          <p:cNvSpPr txBox="1"/>
          <p:nvPr/>
        </p:nvSpPr>
        <p:spPr>
          <a:xfrm>
            <a:off x="8345424" y="3810508"/>
            <a:ext cx="2993136" cy="572516"/>
          </a:xfrm>
          <a:prstGeom prst="rect">
            <a:avLst/>
          </a:prstGeom>
          <a:noFill/>
          <a:ln/>
        </p:spPr>
        <p:txBody>
          <a:bodyPr wrap="square" lIns="0" tIns="0" rIns="0" bIns="0" rtlCol="0" anchor="ctr"/>
          <a:lstStyle/>
          <a:p>
            <a:pPr indent="0" marL="0">
              <a:lnSpc>
                <a:spcPts val="1300"/>
              </a:lnSpc>
              <a:buNone/>
            </a:pPr>
            <a:r>
              <a:rPr lang="en-US" sz="1000" i="1" dirty="0">
                <a:solidFill>
                  <a:srgbClr val="4D5A68"/>
                </a:solidFill>
                <a:latin typeface="Calibri" pitchFamily="34" charset="0"/>
                <a:ea typeface="Calibri" pitchFamily="34" charset="-122"/>
                <a:cs typeface="Calibri" pitchFamily="34" charset="-120"/>
              </a:rPr>
              <a:t>New surfaces for callers this server cannot serve today.</a:t>
            </a:r>
            <a:endParaRPr lang="en-US" sz="1000" dirty="0"/>
          </a:p>
        </p:txBody>
      </p:sp>
      <p:sp>
        <p:nvSpPr>
          <p:cNvPr id="34" name="Shape 32"/>
          <p:cNvSpPr/>
          <p:nvPr/>
        </p:nvSpPr>
        <p:spPr>
          <a:xfrm>
            <a:off x="566928" y="4712208"/>
            <a:ext cx="3505200" cy="1395984"/>
          </a:xfrm>
          <a:prstGeom prst="roundRect">
            <a:avLst>
              <a:gd name="adj" fmla="val 393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5" name="Shape 33"/>
          <p:cNvSpPr/>
          <p:nvPr/>
        </p:nvSpPr>
        <p:spPr>
          <a:xfrm>
            <a:off x="566928" y="4712208"/>
            <a:ext cx="91440" cy="1395984"/>
          </a:xfrm>
          <a:prstGeom prst="rect">
            <a:avLst/>
          </a:prstGeom>
          <a:solidFill>
            <a:srgbClr val="9A6410"/>
          </a:solidFill>
          <a:ln w="12700">
            <a:solidFill>
              <a:srgbClr val="9A6410"/>
            </a:solidFill>
            <a:prstDash val="solid"/>
          </a:ln>
        </p:spPr>
      </p:sp>
      <p:sp>
        <p:nvSpPr>
          <p:cNvPr id="36" name="Text 34"/>
          <p:cNvSpPr txBox="1"/>
          <p:nvPr/>
        </p:nvSpPr>
        <p:spPr>
          <a:xfrm>
            <a:off x="822960" y="4858512"/>
            <a:ext cx="2993136" cy="476504"/>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G · Interoperability and adjacent products</a:t>
            </a:r>
            <a:endParaRPr lang="en-US" sz="1400" dirty="0"/>
          </a:p>
        </p:txBody>
      </p:sp>
      <p:sp>
        <p:nvSpPr>
          <p:cNvPr id="37" name="Text 35"/>
          <p:cNvSpPr txBox="1"/>
          <p:nvPr/>
        </p:nvSpPr>
        <p:spPr>
          <a:xfrm>
            <a:off x="822960" y="5389880"/>
            <a:ext cx="2993136" cy="219456"/>
          </a:xfrm>
          <a:prstGeom prst="rect">
            <a:avLst/>
          </a:prstGeom>
          <a:noFill/>
          <a:ln/>
        </p:spPr>
        <p:txBody>
          <a:bodyPr wrap="square" lIns="0" tIns="0" rIns="0" bIns="0" rtlCol="0" anchor="ctr"/>
          <a:lstStyle/>
          <a:p>
            <a:pPr indent="0" marL="0">
              <a:buNone/>
            </a:pPr>
            <a:r>
              <a:rPr lang="en-US" sz="1050" b="1" dirty="0">
                <a:solidFill>
                  <a:srgbClr val="9A6410"/>
                </a:solidFill>
                <a:latin typeface="Calibri" pitchFamily="34" charset="0"/>
                <a:ea typeface="Calibri" pitchFamily="34" charset="-122"/>
                <a:cs typeface="Calibri" pitchFamily="34" charset="-120"/>
              </a:rPr>
              <a:t>Steps 19–22   ·   closes 5   ·   4 gated</a:t>
            </a:r>
            <a:endParaRPr lang="en-US" sz="1050" dirty="0"/>
          </a:p>
        </p:txBody>
      </p:sp>
      <p:sp>
        <p:nvSpPr>
          <p:cNvPr id="38" name="Text 36"/>
          <p:cNvSpPr txBox="1"/>
          <p:nvPr/>
        </p:nvSpPr>
        <p:spPr>
          <a:xfrm>
            <a:off x="822960" y="5664200"/>
            <a:ext cx="2993136" cy="334264"/>
          </a:xfrm>
          <a:prstGeom prst="rect">
            <a:avLst/>
          </a:prstGeom>
          <a:noFill/>
          <a:ln/>
        </p:spPr>
        <p:txBody>
          <a:bodyPr wrap="square" lIns="0" tIns="0" rIns="0" bIns="0" rtlCol="0" anchor="ctr"/>
          <a:lstStyle/>
          <a:p>
            <a:pPr indent="0" marL="0">
              <a:lnSpc>
                <a:spcPts val="1300"/>
              </a:lnSpc>
              <a:buNone/>
            </a:pPr>
            <a:r>
              <a:rPr lang="en-US" sz="1000" i="1" dirty="0">
                <a:solidFill>
                  <a:srgbClr val="4D5A68"/>
                </a:solidFill>
                <a:latin typeface="Calibri" pitchFamily="34" charset="0"/>
                <a:ea typeface="Calibri" pitchFamily="34" charset="-122"/>
                <a:cs typeface="Calibri" pitchFamily="34" charset="-120"/>
              </a:rPr>
              <a:t>Meeting other implementations, and integrating rather than rebuilding.</a:t>
            </a:r>
            <a:endParaRPr lang="en-US" sz="1000" dirty="0"/>
          </a:p>
        </p:txBody>
      </p:sp>
      <p:sp>
        <p:nvSpPr>
          <p:cNvPr id="39" name="Shape 37"/>
          <p:cNvSpPr/>
          <p:nvPr/>
        </p:nvSpPr>
        <p:spPr>
          <a:xfrm>
            <a:off x="4328160" y="4712208"/>
            <a:ext cx="3505200" cy="1395984"/>
          </a:xfrm>
          <a:prstGeom prst="roundRect">
            <a:avLst>
              <a:gd name="adj" fmla="val 393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40" name="Shape 38"/>
          <p:cNvSpPr/>
          <p:nvPr/>
        </p:nvSpPr>
        <p:spPr>
          <a:xfrm>
            <a:off x="4328160" y="4712208"/>
            <a:ext cx="91440" cy="1395984"/>
          </a:xfrm>
          <a:prstGeom prst="rect">
            <a:avLst/>
          </a:prstGeom>
          <a:solidFill>
            <a:srgbClr val="1A3A5C"/>
          </a:solidFill>
          <a:ln w="12700">
            <a:solidFill>
              <a:srgbClr val="1A3A5C"/>
            </a:solidFill>
            <a:prstDash val="solid"/>
          </a:ln>
        </p:spPr>
      </p:sp>
      <p:sp>
        <p:nvSpPr>
          <p:cNvPr id="41" name="Text 39"/>
          <p:cNvSpPr txBox="1"/>
          <p:nvPr/>
        </p:nvSpPr>
        <p:spPr>
          <a:xfrm>
            <a:off x="4584192" y="4858512"/>
            <a:ext cx="2993136" cy="476504"/>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H · Protocol 3.0 and post-quantum</a:t>
            </a:r>
            <a:endParaRPr lang="en-US" sz="1400" dirty="0"/>
          </a:p>
        </p:txBody>
      </p:sp>
      <p:sp>
        <p:nvSpPr>
          <p:cNvPr id="42" name="Text 40"/>
          <p:cNvSpPr txBox="1"/>
          <p:nvPr/>
        </p:nvSpPr>
        <p:spPr>
          <a:xfrm>
            <a:off x="4584192" y="5389880"/>
            <a:ext cx="2993136" cy="219456"/>
          </a:xfrm>
          <a:prstGeom prst="rect">
            <a:avLst/>
          </a:prstGeom>
          <a:noFill/>
          <a:ln/>
        </p:spPr>
        <p:txBody>
          <a:bodyPr wrap="square" lIns="0" tIns="0" rIns="0" bIns="0" rtlCol="0" anchor="ctr"/>
          <a:lstStyle/>
          <a:p>
            <a:pPr indent="0" marL="0">
              <a:buNone/>
            </a:pPr>
            <a:r>
              <a:rPr lang="en-US" sz="1050" b="1" dirty="0">
                <a:solidFill>
                  <a:srgbClr val="9A6410"/>
                </a:solidFill>
                <a:latin typeface="Calibri" pitchFamily="34" charset="0"/>
                <a:ea typeface="Calibri" pitchFamily="34" charset="-122"/>
                <a:cs typeface="Calibri" pitchFamily="34" charset="-120"/>
              </a:rPr>
              <a:t>Steps 23–24   ·   closes 3   ·   1 gated</a:t>
            </a:r>
            <a:endParaRPr lang="en-US" sz="1050" dirty="0"/>
          </a:p>
        </p:txBody>
      </p:sp>
      <p:sp>
        <p:nvSpPr>
          <p:cNvPr id="43" name="Text 41"/>
          <p:cNvSpPr txBox="1"/>
          <p:nvPr/>
        </p:nvSpPr>
        <p:spPr>
          <a:xfrm>
            <a:off x="4584192" y="5664200"/>
            <a:ext cx="2993136" cy="334264"/>
          </a:xfrm>
          <a:prstGeom prst="rect">
            <a:avLst/>
          </a:prstGeom>
          <a:noFill/>
          <a:ln/>
        </p:spPr>
        <p:txBody>
          <a:bodyPr wrap="square" lIns="0" tIns="0" rIns="0" bIns="0" rtlCol="0" anchor="ctr"/>
          <a:lstStyle/>
          <a:p>
            <a:pPr indent="0" marL="0">
              <a:lnSpc>
                <a:spcPts val="1300"/>
              </a:lnSpc>
              <a:buNone/>
            </a:pPr>
            <a:r>
              <a:rPr lang="en-US" sz="1000" i="1" dirty="0">
                <a:solidFill>
                  <a:srgbClr val="4D5A68"/>
                </a:solidFill>
                <a:latin typeface="Calibri" pitchFamily="34" charset="0"/>
                <a:ea typeface="Calibri" pitchFamily="34" charset="-122"/>
                <a:cs typeface="Calibri" pitchFamily="34" charset="-120"/>
              </a:rPr>
              <a:t>In-protocol work, then algorithms only a capable token can run.</a:t>
            </a:r>
            <a:endParaRPr lang="en-US" sz="1000" dirty="0"/>
          </a:p>
        </p:txBody>
      </p:sp>
      <p:sp>
        <p:nvSpPr>
          <p:cNvPr id="44" name="Shape 42"/>
          <p:cNvSpPr/>
          <p:nvPr/>
        </p:nvSpPr>
        <p:spPr>
          <a:xfrm>
            <a:off x="8089392" y="4712208"/>
            <a:ext cx="3505200" cy="1395984"/>
          </a:xfrm>
          <a:prstGeom prst="roundRect">
            <a:avLst>
              <a:gd name="adj" fmla="val 393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45" name="Shape 43"/>
          <p:cNvSpPr/>
          <p:nvPr/>
        </p:nvSpPr>
        <p:spPr>
          <a:xfrm>
            <a:off x="8089392" y="4712208"/>
            <a:ext cx="91440" cy="1395984"/>
          </a:xfrm>
          <a:prstGeom prst="rect">
            <a:avLst/>
          </a:prstGeom>
          <a:solidFill>
            <a:srgbClr val="9A6410"/>
          </a:solidFill>
          <a:ln w="12700">
            <a:solidFill>
              <a:srgbClr val="9A6410"/>
            </a:solidFill>
            <a:prstDash val="solid"/>
          </a:ln>
        </p:spPr>
      </p:sp>
      <p:sp>
        <p:nvSpPr>
          <p:cNvPr id="46" name="Text 44"/>
          <p:cNvSpPr txBox="1"/>
          <p:nvPr/>
        </p:nvSpPr>
        <p:spPr>
          <a:xfrm>
            <a:off x="8345424" y="4858512"/>
            <a:ext cx="2993136" cy="238252"/>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I · Assurance on real hardware</a:t>
            </a:r>
            <a:endParaRPr lang="en-US" sz="1400" dirty="0"/>
          </a:p>
        </p:txBody>
      </p:sp>
      <p:sp>
        <p:nvSpPr>
          <p:cNvPr id="47" name="Text 45"/>
          <p:cNvSpPr txBox="1"/>
          <p:nvPr/>
        </p:nvSpPr>
        <p:spPr>
          <a:xfrm>
            <a:off x="8345424" y="5151628"/>
            <a:ext cx="2993136" cy="219456"/>
          </a:xfrm>
          <a:prstGeom prst="rect">
            <a:avLst/>
          </a:prstGeom>
          <a:noFill/>
          <a:ln/>
        </p:spPr>
        <p:txBody>
          <a:bodyPr wrap="square" lIns="0" tIns="0" rIns="0" bIns="0" rtlCol="0" anchor="ctr"/>
          <a:lstStyle/>
          <a:p>
            <a:pPr indent="0" marL="0">
              <a:buNone/>
            </a:pPr>
            <a:r>
              <a:rPr lang="en-US" sz="1050" b="1" dirty="0">
                <a:solidFill>
                  <a:srgbClr val="9A6410"/>
                </a:solidFill>
                <a:latin typeface="Calibri" pitchFamily="34" charset="0"/>
                <a:ea typeface="Calibri" pitchFamily="34" charset="-122"/>
                <a:cs typeface="Calibri" pitchFamily="34" charset="-120"/>
              </a:rPr>
              <a:t>Steps 25–26   ·   closes 4   ·   2 gated</a:t>
            </a:r>
            <a:endParaRPr lang="en-US" sz="1050" dirty="0"/>
          </a:p>
        </p:txBody>
      </p:sp>
      <p:sp>
        <p:nvSpPr>
          <p:cNvPr id="48" name="Text 46"/>
          <p:cNvSpPr txBox="1"/>
          <p:nvPr/>
        </p:nvSpPr>
        <p:spPr>
          <a:xfrm>
            <a:off x="8345424" y="5425948"/>
            <a:ext cx="2993136" cy="572516"/>
          </a:xfrm>
          <a:prstGeom prst="rect">
            <a:avLst/>
          </a:prstGeom>
          <a:noFill/>
          <a:ln/>
        </p:spPr>
        <p:txBody>
          <a:bodyPr wrap="square" lIns="0" tIns="0" rIns="0" bIns="0" rtlCol="0" anchor="ctr"/>
          <a:lstStyle/>
          <a:p>
            <a:pPr indent="0" marL="0">
              <a:lnSpc>
                <a:spcPts val="1300"/>
              </a:lnSpc>
              <a:buNone/>
            </a:pPr>
            <a:r>
              <a:rPr lang="en-US" sz="1000" i="1" dirty="0">
                <a:solidFill>
                  <a:srgbClr val="4D5A68"/>
                </a:solidFill>
                <a:latin typeface="Calibri" pitchFamily="34" charset="0"/>
                <a:ea typeface="Calibri" pitchFamily="34" charset="-122"/>
                <a:cs typeface="Calibri" pitchFamily="34" charset="-120"/>
              </a:rPr>
              <a:t>Gated on procurement. Fully specified, cannot start here.</a:t>
            </a:r>
            <a:endParaRPr lang="en-US" sz="1000" dirty="0"/>
          </a:p>
        </p:txBody>
      </p:sp>
      <p:sp>
        <p:nvSpPr>
          <p:cNvPr id="49" name="Text 47"/>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Every open feature is routed. An amber spine marks a stage no part of which can start yet — 7 steps of 26 wait on hardware, a product or an external event.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Service layer and guard</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Make authorization, dual control, audit and metrics impossible to bypass — before a second transport exists to bypass them.</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A</a:t>
            </a:r>
            <a:endParaRPr lang="en-US" sz="1100" dirty="0"/>
          </a:p>
        </p:txBody>
      </p:sp>
      <p:sp>
        <p:nvSpPr>
          <p:cNvPr id="7" name="Shape 5"/>
          <p:cNvSpPr/>
          <p:nvPr/>
        </p:nvSpPr>
        <p:spPr>
          <a:xfrm>
            <a:off x="566928" y="2103120"/>
            <a:ext cx="5486400" cy="2744724"/>
          </a:xfrm>
          <a:prstGeom prst="roundRect">
            <a:avLst>
              <a:gd name="adj" fmla="val 1999"/>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204978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OperationDispatcher loses its cross-cutting logic and becomes a codec: decode, call the service, encode.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access_control.py and dual_control.py are invoked from one place instead of being wired into a transport.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No schema change, no configuration change, nothing on the wire changes.</a:t>
            </a:r>
            <a:endParaRPr lang="en-US" sz="1250" dirty="0"/>
          </a:p>
        </p:txBody>
      </p:sp>
      <p:sp>
        <p:nvSpPr>
          <p:cNvPr id="10" name="Shape 8"/>
          <p:cNvSpPr/>
          <p:nvPr/>
        </p:nvSpPr>
        <p:spPr>
          <a:xfrm>
            <a:off x="6327648" y="2103120"/>
            <a:ext cx="5266944" cy="2744724"/>
          </a:xfrm>
          <a:prstGeom prst="roundRect">
            <a:avLst>
              <a:gd name="adj" fmla="val 199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204978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 new kmip_pkcs11/service/ package: CallContext (identity, peer address, transport), a guard() context manager, and KeyService / AdminService facades over the existing handlers and store.</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The guard runs the role allowlist, then dual control, then the operation, then audit and metrics — the exact order dispatch() uses today.</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OperationDispatcher shrinks to: decode TTLV, call the service, encode TTLV.</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Service layer and guard</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Make authorization, dual control, audit and metrics impossible to bypass — before a second transport exists to bypass them.</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A</a:t>
            </a:r>
            <a:endParaRPr lang="en-US" sz="1100" dirty="0"/>
          </a:p>
        </p:txBody>
      </p:sp>
      <p:sp>
        <p:nvSpPr>
          <p:cNvPr id="7" name="Shape 5"/>
          <p:cNvSpPr/>
          <p:nvPr/>
        </p:nvSpPr>
        <p:spPr>
          <a:xfrm>
            <a:off x="566928" y="2103120"/>
            <a:ext cx="11027664"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10515600"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Move check_operation_allowed, dual_control_enforce, _audit and _record_metric out of the dispatcher into the guard. Operation handlers are not touched.</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Every service method takes a CallContext as its first argument, so a caller cannot forget to say who is asking.</a:t>
            </a:r>
            <a:endParaRPr lang="en-US" sz="1250" dirty="0"/>
          </a:p>
        </p:txBody>
      </p:sp>
      <p:sp>
        <p:nvSpPr>
          <p:cNvPr id="10" name="Shape 8"/>
          <p:cNvSpPr/>
          <p:nvPr/>
        </p:nvSpPr>
        <p:spPr>
          <a:xfrm>
            <a:off x="566928" y="4279392"/>
            <a:ext cx="11027664" cy="841248"/>
          </a:xfrm>
          <a:prstGeom prst="roundRect">
            <a:avLst>
              <a:gd name="adj" fmla="val 6522"/>
            </a:avLst>
          </a:prstGeom>
          <a:solidFill>
            <a:srgbClr val="1A3A5C"/>
          </a:solidFill>
          <a:ln w="12700">
            <a:solidFill>
              <a:srgbClr val="1A3A5C"/>
            </a:solidFill>
            <a:prstDash val="solid"/>
          </a:ln>
        </p:spPr>
      </p:sp>
      <p:sp>
        <p:nvSpPr>
          <p:cNvPr id="11" name="Text 9"/>
          <p:cNvSpPr txBox="1"/>
          <p:nvPr/>
        </p:nvSpPr>
        <p:spPr>
          <a:xfrm>
            <a:off x="822960" y="4279392"/>
            <a:ext cx="10515600" cy="84124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Closes no gap-matrix feature directly. It exists so that every step after it can be built without re-litigating authorization — and so a later endpoint cannot silently become a path around dual control.</a:t>
            </a:r>
            <a:endParaRPr lang="en-US" sz="1200" dirty="0"/>
          </a:p>
        </p:txBody>
      </p:sp>
      <p:sp>
        <p:nvSpPr>
          <p:cNvPr id="12" name="Text 10"/>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~600 lines moved, ~15 new tests. No new dependencies.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Service layer and guard</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Make authorization, dual control, audit and metrics impossible to bypass — before a second transport exists to bypass them.</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A</a:t>
            </a:r>
            <a:endParaRPr lang="en-US" sz="1100" dirty="0"/>
          </a:p>
        </p:txBody>
      </p:sp>
      <p:sp>
        <p:nvSpPr>
          <p:cNvPr id="7" name="Shape 5"/>
          <p:cNvSpPr/>
          <p:nvPr/>
        </p:nvSpPr>
        <p:spPr>
          <a:xfrm>
            <a:off x="566928" y="2103120"/>
            <a:ext cx="11027664" cy="2199894"/>
          </a:xfrm>
          <a:prstGeom prst="roundRect">
            <a:avLst>
              <a:gd name="adj" fmla="val 2494"/>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50495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existing suite must pass unmodified — this step changes no behaviour, and a test that needed editing would mean it did.</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New: a reflection test that enumerates every public method on the service classes and asserts each one is guard-wrapped. This is the test that stops step 5 from quietly reintroducing a bypass.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New: guard writes an audit row on success and on failure; consumes a dual-control approval before the handler runs, not after; records metrics on both paths.</a:t>
            </a:r>
            <a:endParaRPr lang="en-US" sz="1250" dirty="0"/>
          </a:p>
        </p:txBody>
      </p:sp>
      <p:sp>
        <p:nvSpPr>
          <p:cNvPr id="10" name="Shape 8"/>
          <p:cNvSpPr/>
          <p:nvPr/>
        </p:nvSpPr>
        <p:spPr>
          <a:xfrm>
            <a:off x="566928" y="4577334"/>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723638"/>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687062"/>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All 816 existing tests pass with no test file modified, and the reflection test proves no service method escapes the guard.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Query and reporting layer</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the store answer the questions a console asks, in one query rather than N+1.</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A</a:t>
            </a:r>
            <a:endParaRPr lang="en-US" sz="1100" dirty="0"/>
          </a:p>
        </p:txBody>
      </p:sp>
      <p:sp>
        <p:nvSpPr>
          <p:cNvPr id="7" name="Shape 5"/>
          <p:cNvSpPr/>
          <p:nvPr/>
        </p:nvSpPr>
        <p:spPr>
          <a:xfrm>
            <a:off x="566928" y="2103120"/>
            <a:ext cx="5486400" cy="2546604"/>
          </a:xfrm>
          <a:prstGeom prst="roundRect">
            <a:avLst>
              <a:gd name="adj" fmla="val 2154"/>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185166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metadata/store.py gains paged query methods; the existing locate() is untouched, so the KMIP handler is unaffected.</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New indexes on the sortable columns — the first schema migration since Phase 1.</a:t>
            </a:r>
            <a:endParaRPr lang="en-US" sz="1250" dirty="0"/>
          </a:p>
        </p:txBody>
      </p:sp>
      <p:sp>
        <p:nvSpPr>
          <p:cNvPr id="10" name="Shape 8"/>
          <p:cNvSpPr/>
          <p:nvPr/>
        </p:nvSpPr>
        <p:spPr>
          <a:xfrm>
            <a:off x="6327648" y="2103120"/>
            <a:ext cx="5266944" cy="2546604"/>
          </a:xfrm>
          <a:prstGeom prst="roundRect">
            <a:avLst>
              <a:gd name="adj" fmla="val 2154"/>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185166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store.locate_page(filters, sort, cursor, limit) returning full rows, an opaque cursor and a total — not the bare identifiers Locate returns.</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Cursor is (sort key, uid) encoded, not an offset: offset paging over a table that is being written double-shows rows.</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store.inventory_report() and store.algorithm_usage() for the two reporting gaps.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Query and reporting layer</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the store answer the questions a console asks, in one query rather than N+1.</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A</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Add the new methods beside the existing locate(), which stays exactly as it is for the KMIP handler.</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Indexes to match the sort columns the console offers.</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2 GAP-MATRIX FEATURES</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Key inventory and discovery</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Crypto-agility reporting</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~400 lines, ~20 tests.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Query and reporting layer</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the store answer the questions a console asks, in one query rather than N+1.</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A</a:t>
            </a:r>
            <a:endParaRPr lang="en-US" sz="1100" dirty="0"/>
          </a:p>
        </p:txBody>
      </p:sp>
      <p:sp>
        <p:nvSpPr>
          <p:cNvPr id="7" name="Shape 5"/>
          <p:cNvSpPr/>
          <p:nvPr/>
        </p:nvSpPr>
        <p:spPr>
          <a:xfrm>
            <a:off x="566928" y="2103120"/>
            <a:ext cx="11027664" cy="1993519"/>
          </a:xfrm>
          <a:prstGeom prst="roundRect">
            <a:avLst>
              <a:gd name="adj" fmla="val 2752"/>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298575"/>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Paging over a table mutated between pages neither duplicates nor skips a row — insert and delete between fetches and assert the union.</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Sort by each supported column, ascending and descending; total equals a brute-force count; a tampered cursor is rejected rather than trusted.</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Inventory and algorithm counts match a brute-force scan of the same store.</a:t>
            </a:r>
            <a:endParaRPr lang="en-US" sz="1250" dirty="0"/>
          </a:p>
        </p:txBody>
      </p:sp>
      <p:sp>
        <p:nvSpPr>
          <p:cNvPr id="10" name="Shape 8"/>
          <p:cNvSpPr/>
          <p:nvPr/>
        </p:nvSpPr>
        <p:spPr>
          <a:xfrm>
            <a:off x="566928" y="4370959"/>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517263"/>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480687"/>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 store holding 12,000 objects returns page one of fifty, sorted by expiry, in a single query, with the same figures a full scan produces.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3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HTTP transport, sessions and service accounts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An authenticated HTTPS listener that shares nothing with the KMIP port, and cannot be flooded.</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5486400" cy="4022344"/>
          </a:xfrm>
          <a:prstGeom prst="roundRect">
            <a:avLst>
              <a:gd name="adj" fmla="val 1364"/>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332740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second listener and a second authenticated entry point: the security surface roughly doubles.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New config section, new tables for tokens, new failure modes the KMIP path never had (429, CSRF).</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observability.py keeps its own unauthenticated port, deliberately separate.</a:t>
            </a:r>
            <a:endParaRPr lang="en-US" sz="1250" dirty="0"/>
          </a:p>
        </p:txBody>
      </p:sp>
      <p:sp>
        <p:nvSpPr>
          <p:cNvPr id="10" name="Shape 8"/>
          <p:cNvSpPr/>
          <p:nvPr/>
        </p:nvSpPr>
        <p:spPr>
          <a:xfrm>
            <a:off x="6327648" y="2103120"/>
            <a:ext cx="5266944" cy="4022344"/>
          </a:xfrm>
          <a:prstGeom prst="roundRect">
            <a:avLst>
              <a:gd name="adj" fmla="val 1364"/>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332740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New api: configuration section — own port, TLS mandatory, off by default. Not the observability port: /metrics and /ready are deliberately unauthenticated and must stay that way.</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Opaque 256-bit tokens stored as SHA-256 hashes, with identity, label, created / expires / last used / revoked. Not JWTs: revocation matters more than statelessness, and there is already a database.</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Browsers get an httpOnly, Secure, SameSite cookie plus a CSRF token; machine clients send a bearer header. Long-lived labelled tokens are the service-account mechanism.</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 bounded connection semaphore and a per-identity token bucket.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3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HTTP transport, sessions and service accounts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An authenticated HTTPS listener that shares nothing with the KMIP port, and cannot be flooded.</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6766560" cy="2199894"/>
          </a:xfrm>
          <a:prstGeom prst="roundRect">
            <a:avLst>
              <a:gd name="adj" fmla="val 2494"/>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50495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kmip_pkcs11/api/ with a small stdlib router on ThreadingHTTPServer — the project has three runtime dependencies and none of them does cryptography, which is a property worth keeping.</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Middleware order: authenticate, rate limit, route, translate exceptions into RFC 9457 problem+json.</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POST and DELETE /api/v1/session, GET /api/v1/me.</a:t>
            </a:r>
            <a:endParaRPr lang="en-US" sz="1250" dirty="0"/>
          </a:p>
        </p:txBody>
      </p:sp>
      <p:sp>
        <p:nvSpPr>
          <p:cNvPr id="10" name="Shape 8"/>
          <p:cNvSpPr/>
          <p:nvPr/>
        </p:nvSpPr>
        <p:spPr>
          <a:xfrm>
            <a:off x="7607808" y="2103120"/>
            <a:ext cx="3986784" cy="2199894"/>
          </a:xfrm>
          <a:prstGeom prst="roundRect">
            <a:avLst>
              <a:gd name="adj" fmla="val 2494"/>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3 GAP-MATRIX FEATURES</a:t>
            </a:r>
            <a:endParaRPr lang="en-US" sz="1000" dirty="0"/>
          </a:p>
        </p:txBody>
      </p:sp>
      <p:sp>
        <p:nvSpPr>
          <p:cNvPr id="12" name="Text 10"/>
          <p:cNvSpPr txBox="1"/>
          <p:nvPr/>
        </p:nvSpPr>
        <p:spPr>
          <a:xfrm>
            <a:off x="7863840" y="2615184"/>
            <a:ext cx="3474720" cy="150495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API keys / service accounts</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Connection and rate limiting</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Request bounds and DoS resistance</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~900 lines, ~35 tests.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3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HTTP transport, sessions and service accounts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An authenticated HTTPS listener that shares nothing with the KMIP port, and cannot be flooded.</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11027664" cy="2790444"/>
          </a:xfrm>
          <a:prstGeom prst="roundRect">
            <a:avLst>
              <a:gd name="adj" fmla="val 196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209550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Login succeeds and fails correctly; a disabled identity is refused; a deleted identity's live session stops working immediately.</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Token revocation takes effect on the next request; absolute and idle expiry; a cookie request without a CSRF token is refused while a bearer request is not.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Rate limiting returns 429 and recovers; the connection cap holds under 200 concurrent connections; the KMIP port is unaffected throughout.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Configuration validation refuses api.enabled without TLS.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Every login, logout, token issue and token revoke is an audit row.</a:t>
            </a:r>
            <a:endParaRPr lang="en-US" sz="1250" dirty="0"/>
          </a:p>
        </p:txBody>
      </p:sp>
      <p:sp>
        <p:nvSpPr>
          <p:cNvPr id="10" name="Shape 8"/>
          <p:cNvSpPr/>
          <p:nvPr/>
        </p:nvSpPr>
        <p:spPr>
          <a:xfrm>
            <a:off x="566928" y="5167884"/>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5314188"/>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5277612"/>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Two hundred concurrent connections do not exhaust the listener, a revoked token is refused on its next use, and the KMIP port serves normally while the API is under load.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4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Read endpoints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Everything a console displays, with authorization identical to KMIP.</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5486400" cy="2457704"/>
          </a:xfrm>
          <a:prstGeom prst="roundRect">
            <a:avLst>
              <a:gd name="adj" fmla="val 2232"/>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176276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Read paths gain an HTTP representation; the KMIP path does not change at all.</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404-versus-403 decision becomes an API contract every later step must preserve.</a:t>
            </a:r>
            <a:endParaRPr lang="en-US" sz="1250" dirty="0"/>
          </a:p>
        </p:txBody>
      </p:sp>
      <p:sp>
        <p:nvSpPr>
          <p:cNvPr id="10" name="Shape 8"/>
          <p:cNvSpPr/>
          <p:nvPr/>
        </p:nvSpPr>
        <p:spPr>
          <a:xfrm>
            <a:off x="6327648" y="2103120"/>
            <a:ext cx="5266944" cy="2457704"/>
          </a:xfrm>
          <a:prstGeom prst="roundRect">
            <a:avLst>
              <a:gd name="adj" fmla="val 2232"/>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176276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GET /keys (paged, filtered, sorted), /keys/{uid}, /keys/{uid}/attributes, /audit, /audit/verify, /approvals, /reports/expiring, /reports/inventory.</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404 and 403 are chosen deliberately: an object the caller may not see returns the same answer as one that does not exist, so the API does not become an existence oracle.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4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Read endpoints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Everything a console displays, with authorization identical to KMIP.</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11027664"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10515600"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Read-only handlers calling the services from step 1 — no store access from the transport layer, which the guard reflection test enforces.</a:t>
            </a:r>
            <a:endParaRPr lang="en-US" sz="1250" dirty="0"/>
          </a:p>
        </p:txBody>
      </p:sp>
      <p:sp>
        <p:nvSpPr>
          <p:cNvPr id="10" name="Shape 8"/>
          <p:cNvSpPr/>
          <p:nvPr/>
        </p:nvSpPr>
        <p:spPr>
          <a:xfrm>
            <a:off x="566928" y="4279392"/>
            <a:ext cx="11027664" cy="841248"/>
          </a:xfrm>
          <a:prstGeom prst="roundRect">
            <a:avLst>
              <a:gd name="adj" fmla="val 6522"/>
            </a:avLst>
          </a:prstGeom>
          <a:solidFill>
            <a:srgbClr val="1A3A5C"/>
          </a:solidFill>
          <a:ln w="12700">
            <a:solidFill>
              <a:srgbClr val="1A3A5C"/>
            </a:solidFill>
            <a:prstDash val="solid"/>
          </a:ln>
        </p:spPr>
      </p:sp>
      <p:sp>
        <p:nvSpPr>
          <p:cNvPr id="11" name="Text 9"/>
          <p:cNvSpPr txBox="1"/>
          <p:nvPr/>
        </p:nvSpPr>
        <p:spPr>
          <a:xfrm>
            <a:off x="822960" y="4279392"/>
            <a:ext cx="10515600" cy="84124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Closes no gap-matrix feature directly. It exists so that every step after it can be built without re-litigating authorization — and so a later endpoint cannot silently become a path around dual control.</a:t>
            </a:r>
            <a:endParaRPr lang="en-US" sz="1200" dirty="0"/>
          </a:p>
        </p:txBody>
      </p:sp>
      <p:sp>
        <p:nvSpPr>
          <p:cNvPr id="12" name="Text 10"/>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~700 lines, ~40 tests.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4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Read endpoints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Everything a console displays, with authorization identical to KMIP.</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11027664" cy="2584069"/>
          </a:xfrm>
          <a:prstGeom prst="roundRect">
            <a:avLst>
              <a:gd name="adj" fmla="val 212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889125"/>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Authorization parity: for a given identity, GET /keys returns exactly the set KMIP Locate returns. Parametrised over owner, admin, grantee, group member and stranger.</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paging contract from step 2 holds through the HTTP layer.</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Audit filters by identity, object, result and time range; the approval queue lists pending requests only.</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read of an object the caller may not see is indistinguishable from a read of one that does not exist.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Every read is audited — 'who exported this key' is a read.</a:t>
            </a:r>
            <a:endParaRPr lang="en-US" sz="1250" dirty="0"/>
          </a:p>
        </p:txBody>
      </p:sp>
      <p:sp>
        <p:nvSpPr>
          <p:cNvPr id="10" name="Shape 8"/>
          <p:cNvSpPr/>
          <p:nvPr/>
        </p:nvSpPr>
        <p:spPr>
          <a:xfrm>
            <a:off x="566928" y="4961509"/>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5107813"/>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5071237"/>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 read-only console renders key inventory, audit search and the approval queue against real data, and a test proves no write path is reachable through any registered route.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5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Write endpoints, and the governance gaps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Lifecycle and delegation over REST, with governance applying by construction rather than by remembering.</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5486400" cy="3692144"/>
          </a:xfrm>
          <a:prstGeom prst="roundRect">
            <a:avLst>
              <a:gd name="adj" fmla="val 1486"/>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299720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Write paths over HTTP, with governance applied through the guard rather than re-implemented beside it.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lifecycle/governance.py extends to key pairs, create_split_key gains a second method, and the service layer gains transactions.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server acquires a data plane. Until now every caller fetched a key reference and asked the token to act on it; now applications send data and never see a key at all.</a:t>
            </a:r>
            <a:endParaRPr lang="en-US" sz="1250" dirty="0"/>
          </a:p>
        </p:txBody>
      </p:sp>
      <p:sp>
        <p:nvSpPr>
          <p:cNvPr id="10" name="Shape 8"/>
          <p:cNvSpPr/>
          <p:nvPr/>
        </p:nvSpPr>
        <p:spPr>
          <a:xfrm>
            <a:off x="6327648" y="2103120"/>
            <a:ext cx="5266944" cy="3692144"/>
          </a:xfrm>
          <a:prstGeom prst="roundRect">
            <a:avLst>
              <a:gd name="adj" fmla="val 148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2997200"/>
          </a:xfrm>
          <a:prstGeom prst="rect">
            <a:avLst/>
          </a:prstGeom>
          <a:noFill/>
          <a:ln/>
        </p:spPr>
        <p:txBody>
          <a:bodyPr wrap="square" lIns="0" tIns="0" rIns="0" bIns="0" rtlCol="0" anchor="t"/>
          <a:lstStyle/>
          <a:p>
            <a:pPr marL="342900" indent="-342900">
              <a:lnSpc>
                <a:spcPts val="1300"/>
              </a:lnSpc>
              <a:spcAft>
                <a:spcPts val="700"/>
              </a:spcAft>
              <a:buSzPct val="100000"/>
              <a:buChar char="•"/>
            </a:pPr>
            <a:r>
              <a:rPr lang="en-US" sz="1000" dirty="0">
                <a:solidFill>
                  <a:srgbClr val="4D5A68"/>
                </a:solidFill>
                <a:latin typeface="Calibri" pitchFamily="34" charset="0"/>
                <a:ea typeface="Calibri" pitchFamily="34" charset="-122"/>
                <a:cs typeface="Calibri" pitchFamily="34" charset="-120"/>
              </a:rPr>
              <a:t>POST /keys; POST /keys/{uid}/activate | revoke | rekey; DELETE /keys/{uid}; PUT /keys/{uid}/cryptoperiod; grants, groups and role permissions; POST /approvals/{id}/approve.</a:t>
            </a:r>
            <a:endParaRPr lang="en-US" sz="1000" dirty="0"/>
          </a:p>
          <a:p>
            <a:pPr marL="342900" indent="-342900">
              <a:lnSpc>
                <a:spcPts val="1300"/>
              </a:lnSpc>
              <a:spcAft>
                <a:spcPts val="700"/>
              </a:spcAft>
              <a:buSzPct val="100000"/>
              <a:buChar char="•"/>
            </a:pPr>
            <a:r>
              <a:rPr lang="en-US" sz="1000" dirty="0">
                <a:solidFill>
                  <a:srgbClr val="4D5A68"/>
                </a:solidFill>
                <a:latin typeface="Calibri" pitchFamily="34" charset="0"/>
                <a:ea typeface="Calibri" pitchFamily="34" charset="-122"/>
                <a:cs typeface="Calibri" pitchFamily="34" charset="-120"/>
              </a:rPr>
              <a:t>A dual-control refusal returns 403 carrying the approval request id and the count outstanding, so the console can render 'awaiting 2 approvals' and link to the queue. That falls out of the existing enforcement.</a:t>
            </a:r>
            <a:endParaRPr lang="en-US" sz="1000" dirty="0"/>
          </a:p>
          <a:p>
            <a:pPr marL="342900" indent="-342900">
              <a:lnSpc>
                <a:spcPts val="1300"/>
              </a:lnSpc>
              <a:spcAft>
                <a:spcPts val="700"/>
              </a:spcAft>
              <a:buSzPct val="100000"/>
              <a:buChar char="•"/>
            </a:pPr>
            <a:r>
              <a:rPr lang="en-US" sz="1000" dirty="0">
                <a:solidFill>
                  <a:srgbClr val="4D5A68"/>
                </a:solidFill>
                <a:latin typeface="Calibri" pitchFamily="34" charset="0"/>
                <a:ea typeface="Calibri" pitchFamily="34" charset="-122"/>
                <a:cs typeface="Calibri" pitchFamily="34" charset="-120"/>
              </a:rPr>
              <a:t>Three matrix gaps are closed here because they are lifecycle work: asymmetric auto-rotation, Shamir threshold split keys, and batch atomicity via a service-level transaction.</a:t>
            </a:r>
            <a:endParaRPr lang="en-US" sz="1000" dirty="0"/>
          </a:p>
          <a:p>
            <a:pPr marL="342900" indent="-342900">
              <a:lnSpc>
                <a:spcPts val="1300"/>
              </a:lnSpc>
              <a:spcAft>
                <a:spcPts val="700"/>
              </a:spcAft>
              <a:buSzPct val="100000"/>
              <a:buChar char="•"/>
            </a:pPr>
            <a:r>
              <a:rPr lang="en-US" sz="1000" dirty="0">
                <a:solidFill>
                  <a:srgbClr val="4D5A68"/>
                </a:solidFill>
                <a:latin typeface="Calibri" pitchFamily="34" charset="0"/>
                <a:ea typeface="Calibri" pitchFamily="34" charset="-122"/>
                <a:cs typeface="Calibri" pitchFamily="34" charset="-120"/>
              </a:rPr>
              <a:t>The data plane beside the control plane: POST /keys/{uid}/encrypt | decrypt | sign | mac, and /datakey returning a fresh key both wrapped under the named key and in the clear — the surface applications actually consume, and the primitives already run inside the token.</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5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Write endpoints, and the governance gaps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Lifecycle and delegation over REST, with governance applying by construction rather than by remembering.</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6766560" cy="2936494"/>
          </a:xfrm>
          <a:prstGeom prst="roundRect">
            <a:avLst>
              <a:gd name="adj" fmla="val 1868"/>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224155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All writes go through the guard. Scheduled rotation extends to key pairs using the existing ReKeyKeyPair handler; CreateSplitKey gains a Shamir method alongside XOR; the service layer wraps a batch in one transaction so a mid-batch failure rolls back.</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crypto endpoints are thin: they translate JSON to the arguments the existing Encrypt, Decrypt, Sign and MAC handlers already take. Re-wrap is decrypt-then-encrypt under the successor key, inside one guarded call so plaintext never leaves the process.</a:t>
            </a:r>
            <a:endParaRPr lang="en-US" sz="1250" dirty="0"/>
          </a:p>
        </p:txBody>
      </p:sp>
      <p:sp>
        <p:nvSpPr>
          <p:cNvPr id="10" name="Shape 8"/>
          <p:cNvSpPr/>
          <p:nvPr/>
        </p:nvSpPr>
        <p:spPr>
          <a:xfrm>
            <a:off x="7607808" y="2103120"/>
            <a:ext cx="3986784" cy="2936494"/>
          </a:xfrm>
          <a:prstGeom prst="roundRect">
            <a:avLst>
              <a:gd name="adj" fmla="val 1868"/>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4 GAP-MATRIX FEATURES</a:t>
            </a:r>
            <a:endParaRPr lang="en-US" sz="1000" dirty="0"/>
          </a:p>
        </p:txBody>
      </p:sp>
      <p:sp>
        <p:nvSpPr>
          <p:cNvPr id="12" name="Text 10"/>
          <p:cNvSpPr txBox="1"/>
          <p:nvPr/>
        </p:nvSpPr>
        <p:spPr>
          <a:xfrm>
            <a:off x="7863840" y="2615184"/>
            <a:ext cx="3474720" cy="224155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Automatic rotation</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Split knowledge / M-of-N shares</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Bulk and batch operations</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Encryption as a service (data-plane API)</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~1,350 lines, ~68 tests.</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5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Write endpoints, and the governance gaps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Lifecycle and delegation over REST, with governance applying by construction rather than by remembering.</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11027664" cy="3405759"/>
          </a:xfrm>
          <a:prstGeom prst="roundRect">
            <a:avLst>
              <a:gd name="adj" fmla="val 1611"/>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2710815"/>
          </a:xfrm>
          <a:prstGeom prst="rect">
            <a:avLst/>
          </a:prstGeom>
          <a:noFill/>
          <a:ln/>
        </p:spPr>
        <p:txBody>
          <a:bodyPr wrap="square" lIns="0" tIns="0" rIns="0" bIns="0" rtlCol="0" anchor="t"/>
          <a:lstStyle/>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The dual-control assertion from the KMIP wire test, run verbatim against REST: the first Destroy is refused, the key survives, two other identities approve, the retry succeeds, and the approval is spent.</a:t>
            </a:r>
            <a:endParaRPr lang="en-US" sz="1150" dirty="0"/>
          </a:p>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Role allowlists and group grants behave identically over both transports — parametrised over the transport, one test body.</a:t>
            </a:r>
            <a:endParaRPr lang="en-US" sz="1150" dirty="0"/>
          </a:p>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Asymmetric rotation cross-links both new objects to both old ones.</a:t>
            </a:r>
            <a:endParaRPr lang="en-US" sz="1150" dirty="0"/>
          </a:p>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Shamir: any k of n shares reconstruct, any k-1 fail.</a:t>
            </a:r>
            <a:endParaRPr lang="en-US" sz="1150" dirty="0"/>
          </a:p>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A batch whose third item fails leaves the first two unapplied.</a:t>
            </a:r>
            <a:endParaRPr lang="en-US" sz="1150" dirty="0"/>
          </a:p>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Ciphertext from the REST encrypt endpoint decrypts over KMIP and the reverse — one test body, both transports, so the two cannot diverge.</a:t>
            </a:r>
            <a:endParaRPr lang="en-US" sz="1150" dirty="0"/>
          </a:p>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A data key returns a wrapped form that unwraps to the plaintext form; re-wrap to the successor key yields the original plaintext and the old ciphertext no longer decrypts under the new version.</a:t>
            </a:r>
            <a:endParaRPr lang="en-US" sz="1150" dirty="0"/>
          </a:p>
        </p:txBody>
      </p:sp>
      <p:sp>
        <p:nvSpPr>
          <p:cNvPr id="10" name="Shape 8"/>
          <p:cNvSpPr/>
          <p:nvPr/>
        </p:nvSpPr>
        <p:spPr>
          <a:xfrm>
            <a:off x="566928" y="5783199"/>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5929503"/>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5892927"/>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The KMIP dual-control test and the REST dual-control test share one body and both pass.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6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Administration, OpenAPI, separation of duties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Complete the API surface and split the administrator so no one role can both grant access and use it.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5486400" cy="3824224"/>
          </a:xfrm>
          <a:prstGeom prst="roundRect">
            <a:avLst>
              <a:gd name="adj" fmla="val 1435"/>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312928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admin role splits in two — the first change to the authorization model since Phase 5, and the first needing a migration for existing deployments.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An OpenAPI document becomes a build artefact CI has to keep in step with the router.</a:t>
            </a:r>
            <a:endParaRPr lang="en-US" sz="1250" dirty="0"/>
          </a:p>
        </p:txBody>
      </p:sp>
      <p:sp>
        <p:nvSpPr>
          <p:cNvPr id="10" name="Shape 8"/>
          <p:cNvSpPr/>
          <p:nvPr/>
        </p:nvSpPr>
        <p:spPr>
          <a:xfrm>
            <a:off x="6327648" y="2103120"/>
            <a:ext cx="5266944" cy="3824224"/>
          </a:xfrm>
          <a:prstGeom prst="roundRect">
            <a:avLst>
              <a:gd name="adj" fmla="val 1435"/>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312928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Identity, role and group administration endpoints.</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The admin role splits into security-admin (identities, roles, policy) and key-admin (objects, cryptoperiods), so a key administrator cannot grant themselves access to what they administer.</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An OpenAPI 3.1 document generated from the router's route table, not hand-written — a hand-written spec drifts within a month.</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An interactive explorer served from that document, and client libraries generated from it in CI rather than written by hand, for the same reason: anything maintained separately from the router drifts from it.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6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Administration, OpenAPI, separation of duties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Complete the API surface and split the administrator so no one role can both grant access and use it.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Migration assigns both new roles to anyone holding admin today, so an upgrade changes nobody's access until an operator splits them.</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3 GAP-MATRIX FEATURES</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REST / JSON API</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Separation of duties</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OpenAPI specification and generated clients</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~900 lines, ~50 tests.</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6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Administration, OpenAPI, separation of duties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Complete the API surface and split the administrator so no one role can both grant access and use it.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11027664" cy="2495169"/>
          </a:xfrm>
          <a:prstGeom prst="roundRect">
            <a:avLst>
              <a:gd name="adj" fmla="val 219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800225"/>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key-admin cannot create an identity; a security-admin cannot read key material; neither can escalate to the other.</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generated OpenAPI document validates against the 3.1 schema, and a reflection test asserts every registered route appears in it.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client generated from the document round-trips a create, read and delete against a live server, so the specification is proved usable and not merely well-formed.</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Responses for a sample of endpoints match their declared schemas.</a:t>
            </a:r>
            <a:endParaRPr lang="en-US" sz="1250" dirty="0"/>
          </a:p>
        </p:txBody>
      </p:sp>
      <p:sp>
        <p:nvSpPr>
          <p:cNvPr id="10" name="Shape 8"/>
          <p:cNvSpPr/>
          <p:nvPr/>
        </p:nvSpPr>
        <p:spPr>
          <a:xfrm>
            <a:off x="566928" y="4872609"/>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5018913"/>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982337"/>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openapi.json validates, covers every route the router knows about, and the two admin roles are provably disjoint in capability.</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7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Web console and self-service</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The interface most of the market considers table stakes, and the reason the API exists.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5486400" cy="2942844"/>
          </a:xfrm>
          <a:prstGeom prst="roundRect">
            <a:avLst>
              <a:gd name="adj" fmla="val 1864"/>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224790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front-end build enters the repository — the first artefact that is neither Python nor documentation tooling.</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Content Security Policy and cookie handling become part of the security review surface.</a:t>
            </a:r>
            <a:endParaRPr lang="en-US" sz="1250" dirty="0"/>
          </a:p>
        </p:txBody>
      </p:sp>
      <p:sp>
        <p:nvSpPr>
          <p:cNvPr id="10" name="Shape 8"/>
          <p:cNvSpPr/>
          <p:nvPr/>
        </p:nvSpPr>
        <p:spPr>
          <a:xfrm>
            <a:off x="6327648" y="2103120"/>
            <a:ext cx="5266944" cy="2942844"/>
          </a:xfrm>
          <a:prstGeom prst="roundRect">
            <a:avLst>
              <a:gd name="adj" fmla="val 1864"/>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224790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 single-page client of the API. No privileged path: the console can do nothing the API forbids, and holds no credential the API would not accept from curl.</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Views: key inventory, key detail, approval queue, audit search, expiry report, identity and role administration.</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Self-service: a team member creates and rotates keys within their group's grants, without an administrator.</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7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Web console and self-service</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The interface most of the market considers table stakes, and the reason the API exists.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Served by the API listener or a CDN. Strict CSP with no unsafe-inline. Session in an httpOnly cookie, never in localStorage.</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2 GAP-MATRIX FEATURES</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Web console</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Self-service developer portal</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~2,000 lines of front-end, ~30 tests.</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7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Web console and self-service</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The interface most of the market considers table stakes, and the reason the API exists.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B</a:t>
            </a:r>
            <a:endParaRPr lang="en-US" sz="1100" dirty="0"/>
          </a:p>
        </p:txBody>
      </p:sp>
      <p:sp>
        <p:nvSpPr>
          <p:cNvPr id="7" name="Shape 5"/>
          <p:cNvSpPr/>
          <p:nvPr/>
        </p:nvSpPr>
        <p:spPr>
          <a:xfrm>
            <a:off x="566928" y="2103120"/>
            <a:ext cx="11027664" cy="1993519"/>
          </a:xfrm>
          <a:prstGeom prst="roundRect">
            <a:avLst>
              <a:gd name="adj" fmla="val 2752"/>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298575"/>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End-to-end with a headless browser (Playwright is available): log in, list keys, open the approval queue, approve a request, watch a blocked Destroy succeed on retry.</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CSP contains no unsafe-inline and no unsafe-eval.</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route the API forbids to this identity is not reachable from the console by any means, including direct navigation.</a:t>
            </a:r>
            <a:endParaRPr lang="en-US" sz="1250" dirty="0"/>
          </a:p>
        </p:txBody>
      </p:sp>
      <p:sp>
        <p:nvSpPr>
          <p:cNvPr id="10" name="Shape 8"/>
          <p:cNvSpPr/>
          <p:nvPr/>
        </p:nvSpPr>
        <p:spPr>
          <a:xfrm>
            <a:off x="566928" y="4370959"/>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517263"/>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480687"/>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An operator completes a full day of routine work — provisioning, approving, investigating an audit question — without touching the CLI.</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8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Enterprise identity and policy</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Authenticate against the corporate directory, and express conditions the role model cannot.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C</a:t>
            </a:r>
            <a:endParaRPr lang="en-US" sz="1100" dirty="0"/>
          </a:p>
        </p:txBody>
      </p:sp>
      <p:sp>
        <p:nvSpPr>
          <p:cNvPr id="7" name="Shape 5"/>
          <p:cNvSpPr/>
          <p:nvPr/>
        </p:nvSpPr>
        <p:spPr>
          <a:xfrm>
            <a:off x="566928" y="2103120"/>
            <a:ext cx="5486400" cy="2744724"/>
          </a:xfrm>
          <a:prstGeom prst="roundRect">
            <a:avLst>
              <a:gd name="adj" fmla="val 1999"/>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204978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Identity resolution gains a third path beside password and mTLS certificate.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guard gains a policy evaluation point — the first change to its order of checks since step 1.</a:t>
            </a:r>
            <a:endParaRPr lang="en-US" sz="1250" dirty="0"/>
          </a:p>
        </p:txBody>
      </p:sp>
      <p:sp>
        <p:nvSpPr>
          <p:cNvPr id="10" name="Shape 8"/>
          <p:cNvSpPr/>
          <p:nvPr/>
        </p:nvSpPr>
        <p:spPr>
          <a:xfrm>
            <a:off x="6327648" y="2103120"/>
            <a:ext cx="5266944" cy="2744724"/>
          </a:xfrm>
          <a:prstGeom prst="roundRect">
            <a:avLst>
              <a:gd name="adj" fmla="val 199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204978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OIDC: validate the ID token (issuer, audience, expiry, signature) and map a claim to a provisioned identity. LDAP/AD bind as an alternative.</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The mTLS path already proves the pattern — an external assertion resolved to a provisioned principal, never inventing one.</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Attribute-based conditions evaluated in the guard before the allowlist: time window, source network, purpose. The engine may only narrow.</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8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Enterprise identity and policy</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Authenticate against the corporate directory, and express conditions the role model cannot.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C</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Directory group to role mapping, refreshed on login.</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Policies stored in the database, versioned, and every evaluation that denies is audited with the rule that fired.</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2 GAP-MATRIX FEATURES</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Enterprise IdP — LDAP/AD, SAML, OIDC</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Attribute or policy-based access</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~900 lines, ~40 tests.</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8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Enterprise identity and policy</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Authenticate against the corporate directory, and express conditions the role model cannot.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C</a:t>
            </a:r>
            <a:endParaRPr lang="en-US" sz="1100" dirty="0"/>
          </a:p>
        </p:txBody>
      </p:sp>
      <p:sp>
        <p:nvSpPr>
          <p:cNvPr id="7" name="Shape 5"/>
          <p:cNvSpPr/>
          <p:nvPr/>
        </p:nvSpPr>
        <p:spPr>
          <a:xfrm>
            <a:off x="566928" y="2103120"/>
            <a:ext cx="11027664" cy="2288794"/>
          </a:xfrm>
          <a:prstGeom prst="roundRect">
            <a:avLst>
              <a:gd name="adj" fmla="val 239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59385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An expired, wrong-audience, wrong-issuer or unsigned token is refused; a valid token for an unprovisioned subject is refused.</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Directory group changes take effect on next login.</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policy denies outside its window and permits inside it.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Property test: for any identity and any policy set, the permitted operation set is a subset of what the role model alone would allow. A policy that widens access is a bug by construction.</a:t>
            </a:r>
            <a:endParaRPr lang="en-US" sz="1250" dirty="0"/>
          </a:p>
        </p:txBody>
      </p:sp>
      <p:sp>
        <p:nvSpPr>
          <p:cNvPr id="10" name="Shape 8"/>
          <p:cNvSpPr/>
          <p:nvPr/>
        </p:nvSpPr>
        <p:spPr>
          <a:xfrm>
            <a:off x="566928" y="4666234"/>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812538"/>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775962"/>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 corporate login yields exactly the roles the directory says, and a policy denial names the rule that fired in the audit log.</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9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Audit externalisation, compliance and ceremony</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Make the audit trail survive an attacker with file access, and produce the evidence an auditor asks for.</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C</a:t>
            </a:r>
            <a:endParaRPr lang="en-US" sz="1100" dirty="0"/>
          </a:p>
        </p:txBody>
      </p:sp>
      <p:sp>
        <p:nvSpPr>
          <p:cNvPr id="7" name="Shape 5"/>
          <p:cNvSpPr/>
          <p:nvPr/>
        </p:nvSpPr>
        <p:spPr>
          <a:xfrm>
            <a:off x="566928" y="2103120"/>
            <a:ext cx="5486400" cy="3894709"/>
          </a:xfrm>
          <a:prstGeom prst="roundRect">
            <a:avLst>
              <a:gd name="adj" fmla="val 1409"/>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3199765"/>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audit log stops being purely local: it gains an outbound path and an external dependency.</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Worker 0 takes on a third single-instance responsibility beside the scheduler and the metrics endpoint.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Startup gains a sealed state. Every health check, every deployment script and every operator runbook has to account for a service that is running but not yet open.</a:t>
            </a:r>
            <a:endParaRPr lang="en-US" sz="1250" dirty="0"/>
          </a:p>
        </p:txBody>
      </p:sp>
      <p:sp>
        <p:nvSpPr>
          <p:cNvPr id="10" name="Shape 8"/>
          <p:cNvSpPr/>
          <p:nvPr/>
        </p:nvSpPr>
        <p:spPr>
          <a:xfrm>
            <a:off x="6327648" y="2103120"/>
            <a:ext cx="5266944" cy="3894709"/>
          </a:xfrm>
          <a:prstGeom prst="roundRect">
            <a:avLst>
              <a:gd name="adj" fmla="val 140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3199765"/>
          </a:xfrm>
          <a:prstGeom prst="rect">
            <a:avLst/>
          </a:prstGeom>
          <a:noFill/>
          <a:ln/>
        </p:spPr>
        <p:txBody>
          <a:bodyPr wrap="square" lIns="0" tIns="0" rIns="0" bIns="0" rtlCol="0" anchor="t"/>
          <a:lstStyle/>
          <a:p>
            <a:pPr marL="342900" indent="-342900">
              <a:lnSpc>
                <a:spcPts val="1235"/>
              </a:lnSpc>
              <a:spcAft>
                <a:spcPts val="700"/>
              </a:spcAft>
              <a:buSzPct val="100000"/>
              <a:buChar char="•"/>
            </a:pPr>
            <a:r>
              <a:rPr lang="en-US" sz="950" dirty="0">
                <a:solidFill>
                  <a:srgbClr val="4D5A68"/>
                </a:solidFill>
                <a:latin typeface="Calibri" pitchFamily="34" charset="0"/>
                <a:ea typeface="Calibri" pitchFamily="34" charset="-122"/>
                <a:cs typeface="Calibri" pitchFamily="34" charset="-120"/>
              </a:rPr>
              <a:t>A shipper emitting audit rows as syslog/CEF, with a persisted cursor so a restart neither duplicates nor loses entries.</a:t>
            </a:r>
            <a:endParaRPr lang="en-US" sz="950" dirty="0"/>
          </a:p>
          <a:p>
            <a:pPr marL="342900" indent="-342900">
              <a:lnSpc>
                <a:spcPts val="1235"/>
              </a:lnSpc>
              <a:spcAft>
                <a:spcPts val="700"/>
              </a:spcAft>
              <a:buSzPct val="100000"/>
              <a:buChar char="•"/>
            </a:pPr>
            <a:r>
              <a:rPr lang="en-US" sz="950" dirty="0">
                <a:solidFill>
                  <a:srgbClr val="4D5A68"/>
                </a:solidFill>
                <a:latin typeface="Calibri" pitchFamily="34" charset="0"/>
                <a:ea typeface="Calibri" pitchFamily="34" charset="-122"/>
                <a:cs typeface="Calibri" pitchFamily="34" charset="-120"/>
              </a:rPr>
              <a:t>Periodic notarisation of the chain digest to an append-only external endpoint. This is the one thing the local chain cannot do: detect a wholesale, internally consistent rewrite.</a:t>
            </a:r>
            <a:endParaRPr lang="en-US" sz="950" dirty="0"/>
          </a:p>
          <a:p>
            <a:pPr marL="342900" indent="-342900">
              <a:lnSpc>
                <a:spcPts val="1235"/>
              </a:lnSpc>
              <a:spcAft>
                <a:spcPts val="700"/>
              </a:spcAft>
              <a:buSzPct val="100000"/>
              <a:buChar char="•"/>
            </a:pPr>
            <a:r>
              <a:rPr lang="en-US" sz="950" dirty="0">
                <a:solidFill>
                  <a:srgbClr val="4D5A68"/>
                </a:solidFill>
                <a:latin typeface="Calibri" pitchFamily="34" charset="0"/>
                <a:ea typeface="Calibri" pitchFamily="34" charset="-122"/>
                <a:cs typeface="Calibri" pitchFamily="34" charset="-120"/>
              </a:rPr>
              <a:t>Compliance report generators over the audit log and key inventory — PCI DSS key-management evidence, NIST SP 800-57 cryptoperiod evidence.</a:t>
            </a:r>
            <a:endParaRPr lang="en-US" sz="950" dirty="0"/>
          </a:p>
          <a:p>
            <a:pPr marL="342900" indent="-342900">
              <a:lnSpc>
                <a:spcPts val="1235"/>
              </a:lnSpc>
              <a:spcAft>
                <a:spcPts val="700"/>
              </a:spcAft>
              <a:buSzPct val="100000"/>
              <a:buChar char="•"/>
            </a:pPr>
            <a:r>
              <a:rPr lang="en-US" sz="950" dirty="0">
                <a:solidFill>
                  <a:srgbClr val="4D5A68"/>
                </a:solidFill>
                <a:latin typeface="Calibri" pitchFamily="34" charset="0"/>
                <a:ea typeface="Calibri" pitchFamily="34" charset="-122"/>
                <a:cs typeface="Calibri" pitchFamily="34" charset="-120"/>
              </a:rPr>
              <a:t>A key ceremony runbook, and a kmip-admin command producing a signed transcript of what was done, by whom and witnessed by whom — extended to the token PIN itself, split into operator-held shares so the service starts sealed and a quorum opens it. Today one PIN holder is the whole ceremony.</a:t>
            </a:r>
            <a:endParaRPr lang="en-US" sz="950" dirty="0"/>
          </a:p>
          <a:p>
            <a:pPr marL="342900" indent="-342900">
              <a:lnSpc>
                <a:spcPts val="1235"/>
              </a:lnSpc>
              <a:spcAft>
                <a:spcPts val="700"/>
              </a:spcAft>
              <a:buSzPct val="100000"/>
              <a:buChar char="•"/>
            </a:pPr>
            <a:r>
              <a:rPr lang="en-US" sz="950" dirty="0">
                <a:solidFill>
                  <a:srgbClr val="4D5A68"/>
                </a:solidFill>
                <a:latin typeface="Calibri" pitchFamily="34" charset="0"/>
                <a:ea typeface="Calibri" pitchFamily="34" charset="-122"/>
                <a:cs typeface="Calibri" pitchFamily="34" charset="-120"/>
              </a:rPr>
              <a:t>OpenTelemetry spans around every guarded operation and token call. Metrics say a request was slow; a span says which PKCS#11 call it waited on.</a:t>
            </a:r>
            <a:endParaRPr lang="en-US" sz="950" dirty="0"/>
          </a:p>
          <a:p>
            <a:pPr marL="342900" indent="-342900">
              <a:lnSpc>
                <a:spcPts val="1235"/>
              </a:lnSpc>
              <a:spcAft>
                <a:spcPts val="700"/>
              </a:spcAft>
              <a:buSzPct val="100000"/>
              <a:buChar char="•"/>
            </a:pPr>
            <a:r>
              <a:rPr lang="en-US" sz="950" dirty="0">
                <a:solidFill>
                  <a:srgbClr val="4D5A68"/>
                </a:solidFill>
                <a:latin typeface="Calibri" pitchFamily="34" charset="0"/>
                <a:ea typeface="Calibri" pitchFamily="34" charset="-122"/>
                <a:cs typeface="Calibri" pitchFamily="34" charset="-120"/>
              </a:rPr>
              <a:t>Alerting rules over the metrics already exported.</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9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Audit externalisation, compliance and ceremony</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Make the audit trail survive an attacker with file access, and produce the evidence an auditor asks for.</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C</a:t>
            </a:r>
            <a:endParaRPr lang="en-US" sz="1100" dirty="0"/>
          </a:p>
        </p:txBody>
      </p:sp>
      <p:sp>
        <p:nvSpPr>
          <p:cNvPr id="7" name="Shape 5"/>
          <p:cNvSpPr/>
          <p:nvPr/>
        </p:nvSpPr>
        <p:spPr>
          <a:xfrm>
            <a:off x="566928" y="2103120"/>
            <a:ext cx="6766560" cy="2704084"/>
          </a:xfrm>
          <a:prstGeom prst="roundRect">
            <a:avLst>
              <a:gd name="adj" fmla="val 202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200914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shipper runs in worker 0 alongside the scheduler, with the same single-instance reasoning.</a:t>
            </a:r>
            <a:endParaRPr lang="en-US" sz="1250" dirty="0"/>
          </a:p>
        </p:txBody>
      </p:sp>
      <p:sp>
        <p:nvSpPr>
          <p:cNvPr id="10" name="Shape 8"/>
          <p:cNvSpPr/>
          <p:nvPr/>
        </p:nvSpPr>
        <p:spPr>
          <a:xfrm>
            <a:off x="7607808" y="2103120"/>
            <a:ext cx="3986784" cy="2704084"/>
          </a:xfrm>
          <a:prstGeom prst="roundRect">
            <a:avLst>
              <a:gd name="adj" fmla="val 2029"/>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7 GAP-MATRIX FEATURES</a:t>
            </a:r>
            <a:endParaRPr lang="en-US" sz="1000" dirty="0"/>
          </a:p>
        </p:txBody>
      </p:sp>
      <p:sp>
        <p:nvSpPr>
          <p:cNvPr id="12" name="Text 10"/>
          <p:cNvSpPr txBox="1"/>
          <p:nvPr/>
        </p:nvSpPr>
        <p:spPr>
          <a:xfrm>
            <a:off x="7863840" y="2615184"/>
            <a:ext cx="3474720" cy="200914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Formal key ceremony</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External audit anchoring</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SIEM integration</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Compliance reporting</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Alerting</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Distributed tracing</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Sealed startup with quorum unseal</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~1,350 lines, ~60 tests.</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9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Audit externalisation, compliance and ceremony</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Make the audit trail survive an attacker with file access, and produce the evidence an auditor asks for.</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C</a:t>
            </a:r>
            <a:endParaRPr lang="en-US" sz="1100" dirty="0"/>
          </a:p>
        </p:txBody>
      </p:sp>
      <p:sp>
        <p:nvSpPr>
          <p:cNvPr id="7" name="Shape 5"/>
          <p:cNvSpPr/>
          <p:nvPr/>
        </p:nvSpPr>
        <p:spPr>
          <a:xfrm>
            <a:off x="566928" y="2103120"/>
            <a:ext cx="11027664" cy="3405759"/>
          </a:xfrm>
          <a:prstGeom prst="roundRect">
            <a:avLst>
              <a:gd name="adj" fmla="val 1611"/>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2710815"/>
          </a:xfrm>
          <a:prstGeom prst="rect">
            <a:avLst/>
          </a:prstGeom>
          <a:noFill/>
          <a:ln/>
        </p:spPr>
        <p:txBody>
          <a:bodyPr wrap="square" lIns="0" tIns="0" rIns="0" bIns="0" rtlCol="0" anchor="t"/>
          <a:lstStyle/>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The shipper emits every row exactly once across a restart — kill it mid-stream and assert the union at the collector.</a:t>
            </a:r>
            <a:endParaRPr lang="en-US" sz="1150" dirty="0"/>
          </a:p>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CEF output parses with a standard parser.</a:t>
            </a:r>
            <a:endParaRPr lang="en-US" sz="1150" dirty="0"/>
          </a:p>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Anchoring detects tampering the local chain cannot: rewrite the whole log consistently, re-chain it so verify_audit_chain passes, and assert the anchor comparison fails.</a:t>
            </a:r>
            <a:endParaRPr lang="en-US" sz="1150" dirty="0"/>
          </a:p>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Report figures match direct store queries.</a:t>
            </a:r>
            <a:endParaRPr lang="en-US" sz="1150" dirty="0"/>
          </a:p>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A ceremony transcript verifies against its signature and fails after a single byte is changed.</a:t>
            </a:r>
            <a:endParaRPr lang="en-US" sz="1150" dirty="0"/>
          </a:p>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Any k of n unseal shares start the service and any k-1 leave it sealed; a sealed service answers /health and refuses every KMIP and REST operation rather than failing obscurely deep in the shim.</a:t>
            </a:r>
            <a:endParaRPr lang="en-US" sz="1150" dirty="0"/>
          </a:p>
          <a:p>
            <a:pPr marL="342900" indent="-342900">
              <a:lnSpc>
                <a:spcPts val="1495"/>
              </a:lnSpc>
              <a:spcAft>
                <a:spcPts val="700"/>
              </a:spcAft>
              <a:buSzPct val="100000"/>
              <a:buChar char="•"/>
            </a:pPr>
            <a:r>
              <a:rPr lang="en-US" sz="1150" dirty="0">
                <a:solidFill>
                  <a:srgbClr val="4D5A68"/>
                </a:solidFill>
                <a:latin typeface="Calibri" pitchFamily="34" charset="0"/>
                <a:ea typeface="Calibri" pitchFamily="34" charset="-122"/>
                <a:cs typeface="Calibri" pitchFamily="34" charset="-120"/>
              </a:rPr>
              <a:t>A traced request carries one trace id from the HTTP layer through the guard to the token call, and a sampled-out request costs no spans.</a:t>
            </a:r>
            <a:endParaRPr lang="en-US" sz="1150" dirty="0"/>
          </a:p>
        </p:txBody>
      </p:sp>
      <p:sp>
        <p:nvSpPr>
          <p:cNvPr id="10" name="Shape 8"/>
          <p:cNvSpPr/>
          <p:nvPr/>
        </p:nvSpPr>
        <p:spPr>
          <a:xfrm>
            <a:off x="566928" y="5783199"/>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5929503"/>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5892927"/>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 rewritten but internally consistent audit log — one that passes local verification — is caught by the external anchor.</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10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Storage abstraction and PostgreSQL</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Remove the single-writer constraint that blocks everything in stage D.</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D</a:t>
            </a:r>
            <a:endParaRPr lang="en-US" sz="1100" dirty="0"/>
          </a:p>
        </p:txBody>
      </p:sp>
      <p:sp>
        <p:nvSpPr>
          <p:cNvPr id="7" name="Shape 5"/>
          <p:cNvSpPr/>
          <p:nvPr/>
        </p:nvSpPr>
        <p:spPr>
          <a:xfrm>
            <a:off x="566928" y="2103120"/>
            <a:ext cx="5486400" cy="2655824"/>
          </a:xfrm>
          <a:prstGeom prst="roundRect">
            <a:avLst>
              <a:gd name="adj" fmla="val 2066"/>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196088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metadata/store.py stops being SQLite and becomes an interface with two implementations — the largest structural change in the plan.</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Every SQLite-specific mechanism needs a deliberate equivalent, including the lock that stops the audit chain forking.</a:t>
            </a:r>
            <a:endParaRPr lang="en-US" sz="1250" dirty="0"/>
          </a:p>
        </p:txBody>
      </p:sp>
      <p:sp>
        <p:nvSpPr>
          <p:cNvPr id="10" name="Shape 8"/>
          <p:cNvSpPr/>
          <p:nvPr/>
        </p:nvSpPr>
        <p:spPr>
          <a:xfrm>
            <a:off x="6327648" y="2103120"/>
            <a:ext cx="5266944" cy="2655824"/>
          </a:xfrm>
          <a:prstGeom prst="roundRect">
            <a:avLst>
              <a:gd name="adj" fmla="val 206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196088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Extract a Store interface; SQLite becomes one implementation and PostgreSQL another.</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Each SQLite-specific mechanism needs a deliberate equivalent, not a translation: PRAGMA user_version becomes a schema-version table, json_extract becomes JSONB operators, RAISE(ABORT) triggers become PL/pgSQL triggers, and BEGIN IMMEDIATE — which is what keeps the audit chain from forking — becomes an advisory lock or SERIALIZABLE.</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10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Storage abstraction and PostgreSQL</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Remove the single-writer constraint that blocks everything in stage D.</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D</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Both backends ship. SQLite stays the default for single-node deployments; it is a good answer there and removing it would be a regression.</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1 GAP-MATRIX FEATURE</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Enterprise database backend</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~1,500 lines, ~60 tests. Needs a PostgreSQL instance in CI.</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10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Storage abstraction and PostgreSQL</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Remove the single-writer constraint that blocks everything in stage D.</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D</a:t>
            </a:r>
            <a:endParaRPr lang="en-US" sz="1100" dirty="0"/>
          </a:p>
        </p:txBody>
      </p:sp>
      <p:sp>
        <p:nvSpPr>
          <p:cNvPr id="7" name="Shape 5"/>
          <p:cNvSpPr/>
          <p:nvPr/>
        </p:nvSpPr>
        <p:spPr>
          <a:xfrm>
            <a:off x="566928" y="2103120"/>
            <a:ext cx="11027664" cy="2288794"/>
          </a:xfrm>
          <a:prstGeom prst="roundRect">
            <a:avLst>
              <a:gd name="adj" fmla="val 239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59385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entire existing store suite runs against both backends from one parametrised fixture — not a parallel copy that drifts.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audit chain survives concurrent writers on PostgreSQL: hammer it from several connections and assert the chain verifies and no sequence number is reused.</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Migrations apply identically on both; backup and restore work on both.</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store dump from one backend restores into the other.</a:t>
            </a:r>
            <a:endParaRPr lang="en-US" sz="1250" dirty="0"/>
          </a:p>
        </p:txBody>
      </p:sp>
      <p:sp>
        <p:nvSpPr>
          <p:cNvPr id="10" name="Shape 8"/>
          <p:cNvSpPr/>
          <p:nvPr/>
        </p:nvSpPr>
        <p:spPr>
          <a:xfrm>
            <a:off x="566928" y="4666234"/>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812538"/>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775962"/>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The full suite — 816 tests plus everything added since — passes against PostgreSQL as well as SQLite.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11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High availability, failover and deployment</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Survive the loss of a node, a token, or a site.</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D</a:t>
            </a:r>
            <a:endParaRPr lang="en-US" sz="1100" dirty="0"/>
          </a:p>
        </p:txBody>
      </p:sp>
      <p:sp>
        <p:nvSpPr>
          <p:cNvPr id="7" name="Shape 5"/>
          <p:cNvSpPr/>
          <p:nvPr/>
        </p:nvSpPr>
        <p:spPr>
          <a:xfrm>
            <a:off x="566928" y="2103120"/>
            <a:ext cx="5486400" cy="3140964"/>
          </a:xfrm>
          <a:prstGeom prst="roundRect">
            <a:avLst>
              <a:gd name="adj" fmla="val 1747"/>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244602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Single-process assumptions become cluster-wide ones: the scheduler needs a leader lock, not a worker index.</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pkcs11_shim gains a pool and health checks — the first change to the shim's contract since the capability probe.</a:t>
            </a:r>
            <a:endParaRPr lang="en-US" sz="1250" dirty="0"/>
          </a:p>
        </p:txBody>
      </p:sp>
      <p:sp>
        <p:nvSpPr>
          <p:cNvPr id="10" name="Shape 8"/>
          <p:cNvSpPr/>
          <p:nvPr/>
        </p:nvSpPr>
        <p:spPr>
          <a:xfrm>
            <a:off x="6327648" y="2103120"/>
            <a:ext cx="5266944" cy="3140964"/>
          </a:xfrm>
          <a:prstGeom prst="roundRect">
            <a:avLst>
              <a:gd name="adj" fmla="val 174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244602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Several nodes against one PostgreSQL. The scheduler takes a leader lock so exactly one instance enforces cryptoperiods — the same reasoning that restricts it to worker 0 today, one level up.</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An HSM pool: several tokens, health-checked, with failover. The master key must exist on each, which makes provisioning part of the design rather than an afterthought.</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Scheduled backup with offsite shipping; Helm chart and manifests; the container image and CI workflow finally executed.</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11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High availability, failover and deployment</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Survive the loss of a node, a token, or a site.</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D</a:t>
            </a:r>
            <a:endParaRPr lang="en-US" sz="1100" dirty="0"/>
          </a:p>
        </p:txBody>
      </p:sp>
      <p:sp>
        <p:nvSpPr>
          <p:cNvPr id="7" name="Shape 5"/>
          <p:cNvSpPr/>
          <p:nvPr/>
        </p:nvSpPr>
        <p:spPr>
          <a:xfrm>
            <a:off x="566928" y="2103120"/>
            <a:ext cx="6766560" cy="2417064"/>
          </a:xfrm>
          <a:prstGeom prst="roundRect">
            <a:avLst>
              <a:gd name="adj" fmla="val 227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72212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Read traffic spreads across nodes; audited writes still serialise on the chain, so this raises availability more than throughput. Say so rather than implying linear scaling.</a:t>
            </a:r>
            <a:endParaRPr lang="en-US" sz="1250" dirty="0"/>
          </a:p>
        </p:txBody>
      </p:sp>
      <p:sp>
        <p:nvSpPr>
          <p:cNvPr id="10" name="Shape 8"/>
          <p:cNvSpPr/>
          <p:nvPr/>
        </p:nvSpPr>
        <p:spPr>
          <a:xfrm>
            <a:off x="7607808" y="2103120"/>
            <a:ext cx="3986784" cy="2417064"/>
          </a:xfrm>
          <a:prstGeom prst="roundRect">
            <a:avLst>
              <a:gd name="adj" fmla="val 227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6 GAP-MATRIX FEATURES</a:t>
            </a:r>
            <a:endParaRPr lang="en-US" sz="1000" dirty="0"/>
          </a:p>
        </p:txBody>
      </p:sp>
      <p:sp>
        <p:nvSpPr>
          <p:cNvPr id="12" name="Text 10"/>
          <p:cNvSpPr txBox="1"/>
          <p:nvPr/>
        </p:nvSpPr>
        <p:spPr>
          <a:xfrm>
            <a:off x="7863840" y="2615184"/>
            <a:ext cx="3474720" cy="172212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HA clustering</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Multi-site replication and DR</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HSM failover and pooling</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Horizontal throughput</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Scheduled and offsite backup</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Kubernetes / container deployment</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~1,800 lines, ~55 tests. Needs multiple nodes and a second token.</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11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High availability, failover and deployment</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Survive the loss of a node, a token, or a site.</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D</a:t>
            </a:r>
            <a:endParaRPr lang="en-US" sz="1100" dirty="0"/>
          </a:p>
        </p:txBody>
      </p:sp>
      <p:sp>
        <p:nvSpPr>
          <p:cNvPr id="7" name="Shape 5"/>
          <p:cNvSpPr/>
          <p:nvPr/>
        </p:nvSpPr>
        <p:spPr>
          <a:xfrm>
            <a:off x="566928" y="2103120"/>
            <a:ext cx="11027664" cy="2377694"/>
          </a:xfrm>
          <a:prstGeom prst="roundRect">
            <a:avLst>
              <a:gd name="adj" fmla="val 230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68275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Kill the leader under load: another takes over within the lease period, and no key is deactivated twice.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Fail a token mid-operation: the request either completes on another or fails cleanly, never silently half-applies.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Two nodes serving concurrently produce one intact audit chain.</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scheduled backup taken on one node restores on another.</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container image builds and its health check passes — the first time this has been executed anywhere.</a:t>
            </a:r>
            <a:endParaRPr lang="en-US" sz="1250" dirty="0"/>
          </a:p>
        </p:txBody>
      </p:sp>
      <p:sp>
        <p:nvSpPr>
          <p:cNvPr id="10" name="Shape 8"/>
          <p:cNvSpPr/>
          <p:nvPr/>
        </p:nvSpPr>
        <p:spPr>
          <a:xfrm>
            <a:off x="566928" y="4755134"/>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901438"/>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864862"/>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 node is killed under sustained load: no request is lost, the audit chain verifies, and cryptoperiod enforcement continues uninterrupted.</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12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Multi-tenancy</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unrelated tenants share one deployment without seeing each other.</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D</a:t>
            </a:r>
            <a:endParaRPr lang="en-US" sz="1100" dirty="0"/>
          </a:p>
        </p:txBody>
      </p:sp>
      <p:sp>
        <p:nvSpPr>
          <p:cNvPr id="7" name="Shape 5"/>
          <p:cNvSpPr/>
          <p:nvPr/>
        </p:nvSpPr>
        <p:spPr>
          <a:xfrm>
            <a:off x="566928" y="2103120"/>
            <a:ext cx="5486400" cy="3427984"/>
          </a:xfrm>
          <a:prstGeom prst="roundRect">
            <a:avLst>
              <a:gd name="adj" fmla="val 1600"/>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273304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tenant column reaches every table, every query, the audit log, the CLI and the API.</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Object names stop being globally unique — the change most likely to surprise an existing deployment.</a:t>
            </a:r>
            <a:endParaRPr lang="en-US" sz="1250" dirty="0"/>
          </a:p>
        </p:txBody>
      </p:sp>
      <p:sp>
        <p:nvSpPr>
          <p:cNvPr id="10" name="Shape 8"/>
          <p:cNvSpPr/>
          <p:nvPr/>
        </p:nvSpPr>
        <p:spPr>
          <a:xfrm>
            <a:off x="6327648" y="2103120"/>
            <a:ext cx="5266944" cy="3427984"/>
          </a:xfrm>
          <a:prstGeom prst="roundRect">
            <a:avLst>
              <a:gd name="adj" fmla="val 160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273304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Tenant becomes a first-class column on objects, identities and audit rows, and every query is scoped by it.</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Object names become unique per tenant rather than globally — the change most likely to surprise an existing deployment.</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Quotas: object count, operations per second, storage. Per-tenant audit views. Tenant administrators who cannot see other tenants.</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This is why it is last: the boundary reaches into every query, the audit log, the CLI and the API, and half of it would be worse than none.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12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Multi-tenancy</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unrelated tenants share one deployment without seeing each other.</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D</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migration places every existing object in a default tenant, so a single-tenant deployment behaves exactly as before.</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2 GAP-MATRIX FEATURES</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Multi-tenancy and namespaces</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Per-tenant quotas</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~1,600 lines, ~80 tests.</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12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Multi-tenancy</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unrelated tenants share one deployment without seeing each other.</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D</a:t>
            </a:r>
            <a:endParaRPr lang="en-US" sz="1100" dirty="0"/>
          </a:p>
        </p:txBody>
      </p:sp>
      <p:sp>
        <p:nvSpPr>
          <p:cNvPr id="7" name="Shape 5"/>
          <p:cNvSpPr/>
          <p:nvPr/>
        </p:nvSpPr>
        <p:spPr>
          <a:xfrm>
            <a:off x="566928" y="2103120"/>
            <a:ext cx="11027664" cy="2584069"/>
          </a:xfrm>
          <a:prstGeom prst="roundRect">
            <a:avLst>
              <a:gd name="adj" fmla="val 212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889125"/>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Exhaustive isolation: parametrised over all 41 KMIP operations and every REST route, an identity in tenant B cannot read, modify, locate or destroy an object in tenant A. This is the test that matters and it should be generated from the operation table, not hand-written.</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Name collisions across tenants are allowed; within a tenant they are not.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Quota enforcement at the boundary, and the audit row that records it.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tenant administrator cannot escalate out of their tenant.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Audit search returns only the caller's tenant.</a:t>
            </a:r>
            <a:endParaRPr lang="en-US" sz="1250" dirty="0"/>
          </a:p>
        </p:txBody>
      </p:sp>
      <p:sp>
        <p:nvSpPr>
          <p:cNvPr id="10" name="Shape 8"/>
          <p:cNvSpPr/>
          <p:nvPr/>
        </p:nvSpPr>
        <p:spPr>
          <a:xfrm>
            <a:off x="566928" y="4961509"/>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5107813"/>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5071237"/>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 generated test over every operation and every route proves no cross-tenant reachability exists.</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13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KMIP JSON and XML encodings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a client speak KMIP without implementing a TTLV codec.</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E</a:t>
            </a:r>
            <a:endParaRPr lang="en-US" sz="1100" dirty="0"/>
          </a:p>
        </p:txBody>
      </p:sp>
      <p:sp>
        <p:nvSpPr>
          <p:cNvPr id="7" name="Shape 5"/>
          <p:cNvSpPr/>
          <p:nvPr/>
        </p:nvSpPr>
        <p:spPr>
          <a:xfrm>
            <a:off x="566928" y="2103120"/>
            <a:ext cx="5486400" cy="3339084"/>
          </a:xfrm>
          <a:prstGeom prst="roundRect">
            <a:avLst>
              <a:gd name="adj" fmla="val 1643"/>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264414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core/ttlv.py stops being the only codec, and the tag registry becomes shared infrastructure rather than a TTLV detail.</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Nothing above the codec changes. That is the point of the step: the service layer cannot tell which encoding a request arrived in.</a:t>
            </a:r>
            <a:endParaRPr lang="en-US" sz="1250" dirty="0"/>
          </a:p>
        </p:txBody>
      </p:sp>
      <p:sp>
        <p:nvSpPr>
          <p:cNvPr id="10" name="Shape 8"/>
          <p:cNvSpPr/>
          <p:nvPr/>
        </p:nvSpPr>
        <p:spPr>
          <a:xfrm>
            <a:off x="6327648" y="2103120"/>
            <a:ext cx="5266944" cy="3339084"/>
          </a:xfrm>
          <a:prstGeom prst="roundRect">
            <a:avLst>
              <a:gd name="adj" fmla="val 164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264414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The object model does not change. What changes is the wire: a JSON codec and an XML one beside core/ttlv.py, both driven by the same tag and type tables, so a new tag is still added in one place.</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An HTTPS binding on the API listener — POST /kmip, encoding chosen by Content-Type — rather than a second socket. The KMIP TCP port is untouched.</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Encoding is a transport concern, so it sits below the service layer: the same guard, the same handlers, the same audit rows.</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13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KMIP JSON and XML encodings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a client speak KMIP without implementing a TTLV codec.</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E</a:t>
            </a:r>
            <a:endParaRPr lang="en-US" sz="1100" dirty="0"/>
          </a:p>
        </p:txBody>
      </p:sp>
      <p:sp>
        <p:nvSpPr>
          <p:cNvPr id="7" name="Shape 5"/>
          <p:cNvSpPr/>
          <p:nvPr/>
        </p:nvSpPr>
        <p:spPr>
          <a:xfrm>
            <a:off x="566928" y="2103120"/>
            <a:ext cx="6766560" cy="2110994"/>
          </a:xfrm>
          <a:prstGeom prst="roundRect">
            <a:avLst>
              <a:gd name="adj" fmla="val 259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41605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core/encodings/ with json.py and xml.py implementing the OASIS profiles, sharing the tag registry the TTLV codec already reads.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Content negotiation, and 415 for an encoding that is not enabled. Both are off by default: a new parser is new attack surface.</a:t>
            </a:r>
            <a:endParaRPr lang="en-US" sz="1250" dirty="0"/>
          </a:p>
        </p:txBody>
      </p:sp>
      <p:sp>
        <p:nvSpPr>
          <p:cNvPr id="10" name="Shape 8"/>
          <p:cNvSpPr/>
          <p:nvPr/>
        </p:nvSpPr>
        <p:spPr>
          <a:xfrm>
            <a:off x="7607808" y="2103120"/>
            <a:ext cx="3986784" cy="2110994"/>
          </a:xfrm>
          <a:prstGeom prst="roundRect">
            <a:avLst>
              <a:gd name="adj" fmla="val 2599"/>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1 GAP-MATRIX FEATURE</a:t>
            </a:r>
            <a:endParaRPr lang="en-US" sz="1000" dirty="0"/>
          </a:p>
        </p:txBody>
      </p:sp>
      <p:sp>
        <p:nvSpPr>
          <p:cNvPr id="12" name="Text 10"/>
          <p:cNvSpPr txBox="1"/>
          <p:nvPr/>
        </p:nvSpPr>
        <p:spPr>
          <a:xfrm>
            <a:off x="7863840" y="2615184"/>
            <a:ext cx="3474720" cy="141605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KMIP JSON and XML encodings</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~700 lines, ~40 tests — mostly the existing corpus re-parametrised.</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13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KMIP JSON and XML encodings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a client speak KMIP without implementing a TTLV codec.</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E</a:t>
            </a:r>
            <a:endParaRPr lang="en-US" sz="1100" dirty="0"/>
          </a:p>
        </p:txBody>
      </p:sp>
      <p:sp>
        <p:nvSpPr>
          <p:cNvPr id="7" name="Shape 5"/>
          <p:cNvSpPr/>
          <p:nvPr/>
        </p:nvSpPr>
        <p:spPr>
          <a:xfrm>
            <a:off x="566928" y="2103120"/>
            <a:ext cx="11027664" cy="2495169"/>
          </a:xfrm>
          <a:prstGeom prst="roundRect">
            <a:avLst>
              <a:gd name="adj" fmla="val 219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800225"/>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Round-trip every operation's request and response through all three encodings and assert the decoded structures are identical — the existing conformance corpus re-run twice, not a new set of assertions.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OASIS JSON and XML test vectors decode to what the TTLV vectors decode to.</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batch, a wrapped key and a dual-control refusal behave the same over JSON as over TTLV, so an encoding cannot change semantics.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An unknown tag, a truncated document and a type mismatch are refused with the same error the TTLV codec raises.</a:t>
            </a:r>
            <a:endParaRPr lang="en-US" sz="1250" dirty="0"/>
          </a:p>
        </p:txBody>
      </p:sp>
      <p:sp>
        <p:nvSpPr>
          <p:cNvPr id="10" name="Shape 8"/>
          <p:cNvSpPr/>
          <p:nvPr/>
        </p:nvSpPr>
        <p:spPr>
          <a:xfrm>
            <a:off x="566928" y="4872609"/>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5018913"/>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982337"/>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The conformance suite passes unchanged when re-run against the JSON and XML encodings, and a request refused over TTLV is refused identically over both.</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14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Certificate discovery and expiry monitoring</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Know which certificates the estate is actually running, and warn before one expires.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E</a:t>
            </a:r>
            <a:endParaRPr lang="en-US" sz="1100" dirty="0"/>
          </a:p>
        </p:txBody>
      </p:sp>
      <p:sp>
        <p:nvSpPr>
          <p:cNvPr id="7" name="Shape 5"/>
          <p:cNvSpPr/>
          <p:nvPr/>
        </p:nvSpPr>
        <p:spPr>
          <a:xfrm>
            <a:off x="566928" y="2103120"/>
            <a:ext cx="5486400" cy="3140964"/>
          </a:xfrm>
          <a:prstGeom prst="roundRect">
            <a:avLst>
              <a:gd name="adj" fmla="val 1747"/>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244602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server starts reaching outward. Everything else here waits to be called; this initiates connections, which is a new posture for the service and for its firewall rules.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inventory stops being a view of what this KMS holds and becomes a view of the estate, including certificates it does not manage.</a:t>
            </a:r>
            <a:endParaRPr lang="en-US" sz="1250" dirty="0"/>
          </a:p>
        </p:txBody>
      </p:sp>
      <p:sp>
        <p:nvSpPr>
          <p:cNvPr id="10" name="Shape 8"/>
          <p:cNvSpPr/>
          <p:nvPr/>
        </p:nvSpPr>
        <p:spPr>
          <a:xfrm>
            <a:off x="6327648" y="2103120"/>
            <a:ext cx="5266944" cy="3140964"/>
          </a:xfrm>
          <a:prstGeom prst="roundRect">
            <a:avLst>
              <a:gd name="adj" fmla="val 174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244602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 scanner that connects to configured TLS endpoints, records the chain presented, and stores subject, issuer, fingerprint and validity window against the inventory.</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Certificates registered here are matched by fingerprint, so the report separates what this KMS manages from what it does not — the second number is the one that matters.</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Expiry thresholds feed the alerting rules built in step 9 rather than opening a second notification path.</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14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Certificate discovery and expiry monitoring</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Know which certificates the estate is actually running, and warn before one expires.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E</a:t>
            </a:r>
            <a:endParaRPr lang="en-US" sz="1100" dirty="0"/>
          </a:p>
        </p:txBody>
      </p:sp>
      <p:sp>
        <p:nvSpPr>
          <p:cNvPr id="7" name="Shape 5"/>
          <p:cNvSpPr/>
          <p:nvPr/>
        </p:nvSpPr>
        <p:spPr>
          <a:xfrm>
            <a:off x="566928" y="2103120"/>
            <a:ext cx="6766560" cy="2110994"/>
          </a:xfrm>
          <a:prstGeom prst="roundRect">
            <a:avLst>
              <a:gd name="adj" fmla="val 259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41605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kmip_pkcs11/discovery/ with the scanner, a scheduler entry beside the cryptoperiod scheduler in worker 0, and the inventory tables.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Scanning is read-only and rate-limited. This is a tool that touches production endpoints, and it should be incapable of harming them.</a:t>
            </a:r>
            <a:endParaRPr lang="en-US" sz="1250" dirty="0"/>
          </a:p>
        </p:txBody>
      </p:sp>
      <p:sp>
        <p:nvSpPr>
          <p:cNvPr id="10" name="Shape 8"/>
          <p:cNvSpPr/>
          <p:nvPr/>
        </p:nvSpPr>
        <p:spPr>
          <a:xfrm>
            <a:off x="7607808" y="2103120"/>
            <a:ext cx="3986784" cy="2110994"/>
          </a:xfrm>
          <a:prstGeom prst="roundRect">
            <a:avLst>
              <a:gd name="adj" fmla="val 2599"/>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1 GAP-MATRIX FEATURE</a:t>
            </a:r>
            <a:endParaRPr lang="en-US" sz="1000" dirty="0"/>
          </a:p>
        </p:txBody>
      </p:sp>
      <p:sp>
        <p:nvSpPr>
          <p:cNvPr id="12" name="Text 10"/>
          <p:cNvSpPr txBox="1"/>
          <p:nvPr/>
        </p:nvSpPr>
        <p:spPr>
          <a:xfrm>
            <a:off x="7863840" y="2615184"/>
            <a:ext cx="3474720" cy="141605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Certificate discovery and expiry monitoring</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~600 lines, ~30 tests.</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14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Certificate discovery and expiry monitoring</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Know which certificates the estate is actually running, and warn before one expires.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E</a:t>
            </a:r>
            <a:endParaRPr lang="en-US" sz="1100" dirty="0"/>
          </a:p>
        </p:txBody>
      </p:sp>
      <p:sp>
        <p:nvSpPr>
          <p:cNvPr id="7" name="Shape 5"/>
          <p:cNvSpPr/>
          <p:nvPr/>
        </p:nvSpPr>
        <p:spPr>
          <a:xfrm>
            <a:off x="566928" y="2103120"/>
            <a:ext cx="11027664" cy="2288794"/>
          </a:xfrm>
          <a:prstGeom prst="roundRect">
            <a:avLst>
              <a:gd name="adj" fmla="val 239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59385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scan of local TLS servers with known certificates records exactly those chains, intermediate included.</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certificate registered here and the same certificate found by scanning reconcile to one inventory row, matched on fingerprint.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An endpoint that times out, presents an expired certificate, or drops the handshake is recorded as such rather than skipped silently.</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An expiry threshold fires once per certificate per window, not on every scan.</a:t>
            </a:r>
            <a:endParaRPr lang="en-US" sz="1250" dirty="0"/>
          </a:p>
        </p:txBody>
      </p:sp>
      <p:sp>
        <p:nvSpPr>
          <p:cNvPr id="10" name="Shape 8"/>
          <p:cNvSpPr/>
          <p:nvPr/>
        </p:nvSpPr>
        <p:spPr>
          <a:xfrm>
            <a:off x="566928" y="4666234"/>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812538"/>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775962"/>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 scan of a fixture estate reports every certificate, splits managed from unmanaged correctly, and raises an expiry alert exactly once for a certificate inside the warning window.</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15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Cloud BYOK</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Generate here, import into a cloud KMS, keep custody of the source.</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F</a:t>
            </a:r>
            <a:endParaRPr lang="en-US" sz="1100" dirty="0"/>
          </a:p>
        </p:txBody>
      </p:sp>
      <p:sp>
        <p:nvSpPr>
          <p:cNvPr id="7" name="Shape 5"/>
          <p:cNvSpPr/>
          <p:nvPr/>
        </p:nvSpPr>
        <p:spPr>
          <a:xfrm>
            <a:off x="566928" y="2103120"/>
            <a:ext cx="5486400" cy="3735324"/>
          </a:xfrm>
          <a:prstGeom prst="roundRect">
            <a:avLst>
              <a:gd name="adj" fmla="val 1469"/>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304038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server gains outbound calls to third-party services, with credentials to manage and failures to handle.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key can now exist in two places at once. The object model has to say which is authoritative, and it says this one.</a:t>
            </a:r>
            <a:endParaRPr lang="en-US" sz="1250" dirty="0"/>
          </a:p>
        </p:txBody>
      </p:sp>
      <p:sp>
        <p:nvSpPr>
          <p:cNvPr id="10" name="Shape 8"/>
          <p:cNvSpPr/>
          <p:nvPr/>
        </p:nvSpPr>
        <p:spPr>
          <a:xfrm>
            <a:off x="6327648" y="2103120"/>
            <a:ext cx="5266944" cy="3735324"/>
          </a:xfrm>
          <a:prstGeom prst="roundRect">
            <a:avLst>
              <a:gd name="adj" fmla="val 146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304038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 connector per provider calling its import API: AWS ImportKeyMaterial, Azure Key Vault key import, Google Cloud KMS ImportJob. Each wants the key wrapped to a public key it issues, which the existing KeyWrappingSpecification already produces.</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The source object stays here and gains a link to what it became, so the inventory can answer where a key ended up — the question an auditor asks about BYOK and the one most implementations cannot.</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Configuration, not code, names the clouds: credentials come from the environment, never the config file.</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15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Cloud BYOK</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Generate here, import into a cloud KMS, keep custody of the source.</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F</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kmip_pkcs11/cloud/ with one module per provider behind a shared interface, driven from the service layer so the guard, audit and role checks apply to an export-to-cloud exactly as to any other disclosure.</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1 GAP-MATRIX FEATURE</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Cloud BYOK (AWS, Azure, GCP)</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~900 lines, ~40 tests. Provider SDKs are the first runtime dependencies this project would add — worth resisting; each import API is a signed HTTPS call.</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15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Cloud BYOK</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Generate here, import into a cloud KMS, keep custody of the source.</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F</a:t>
            </a:r>
            <a:endParaRPr lang="en-US" sz="1100" dirty="0"/>
          </a:p>
        </p:txBody>
      </p:sp>
      <p:sp>
        <p:nvSpPr>
          <p:cNvPr id="7" name="Shape 5"/>
          <p:cNvSpPr/>
          <p:nvPr/>
        </p:nvSpPr>
        <p:spPr>
          <a:xfrm>
            <a:off x="566928" y="2103120"/>
            <a:ext cx="11027664" cy="2495169"/>
          </a:xfrm>
          <a:prstGeom prst="roundRect">
            <a:avLst>
              <a:gd name="adj" fmla="val 219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800225"/>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Each provider's wrapping format is produced correctly, checked against its published test vectors rather than against our own encoder.</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An import failure leaves no partial state and no link claiming success.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Export-to-cloud is refused for an identity without the right, and audited on both the success and the refusal.</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link survives rotation: rotating the source key does not orphan the record of what was imported where.</a:t>
            </a:r>
            <a:endParaRPr lang="en-US" sz="1250" dirty="0"/>
          </a:p>
        </p:txBody>
      </p:sp>
      <p:sp>
        <p:nvSpPr>
          <p:cNvPr id="10" name="Shape 8"/>
          <p:cNvSpPr/>
          <p:nvPr/>
        </p:nvSpPr>
        <p:spPr>
          <a:xfrm>
            <a:off x="566928" y="4872609"/>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5018913"/>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982337"/>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 key generated in the token is imported into all three clouds, and the inventory names where each copy lives.</a:t>
            </a:r>
            <a:endParaRPr lang="en-US" sz="12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16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External key store — XKS and EKM</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a cloud service call back here for every operation, so the key never leaves at all.</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F</a:t>
            </a:r>
            <a:endParaRPr lang="en-US" sz="1100" dirty="0"/>
          </a:p>
        </p:txBody>
      </p:sp>
      <p:sp>
        <p:nvSpPr>
          <p:cNvPr id="7" name="Shape 5"/>
          <p:cNvSpPr/>
          <p:nvPr/>
        </p:nvSpPr>
        <p:spPr>
          <a:xfrm>
            <a:off x="566928" y="2103120"/>
            <a:ext cx="5486400" cy="3339084"/>
          </a:xfrm>
          <a:prstGeom prst="roundRect">
            <a:avLst>
              <a:gd name="adj" fmla="val 1643"/>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264414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server becomes latency-critical for someone else's workload — a different operational posture from a key manager clients poll.</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Availability stops being our own concern only: an outage here is an outage in the cloud service that depends on it.</a:t>
            </a:r>
            <a:endParaRPr lang="en-US" sz="1250" dirty="0"/>
          </a:p>
        </p:txBody>
      </p:sp>
      <p:sp>
        <p:nvSpPr>
          <p:cNvPr id="10" name="Shape 8"/>
          <p:cNvSpPr/>
          <p:nvPr/>
        </p:nvSpPr>
        <p:spPr>
          <a:xfrm>
            <a:off x="6327648" y="2103120"/>
            <a:ext cx="5266944" cy="3339084"/>
          </a:xfrm>
          <a:prstGeom prst="roundRect">
            <a:avLst>
              <a:gd name="adj" fmla="val 164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264414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The AWS XKS proxy API and the Google Cloud EKM API as HTTPS services in front of the same service layer. Both are small, well-specified request/response contracts over operations this server already performs.</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This is the strongest custody story the product can offer: the cloud holds ciphertext and calls out to decrypt, so revoking access here revokes it everywhere, immediately.</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Latency and availability become the cloud's problem and therefore ours: an XKS endpoint that is slow fails the caller's operation.</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16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External key store — XKS and EKM</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a cloud service call back here for every operation, so the key never leaves at all.</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F</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kmip_pkcs11/api/xks.py and ekm.py sharing the API listener, the authentication and the rate limiter built in step 3.</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Request signing verified per the provider's scheme before anything reaches the service layer.</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1 GAP-MATRIX FEATURE</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Cloud EKM / XKS / hold-your-own-key</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~1,100 lines, ~50 tests.</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16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External key store — XKS and EKM</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a cloud service call back here for every operation, so the key never leaves at all.</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F</a:t>
            </a:r>
            <a:endParaRPr lang="en-US" sz="1100" dirty="0"/>
          </a:p>
        </p:txBody>
      </p:sp>
      <p:sp>
        <p:nvSpPr>
          <p:cNvPr id="7" name="Shape 5"/>
          <p:cNvSpPr/>
          <p:nvPr/>
        </p:nvSpPr>
        <p:spPr>
          <a:xfrm>
            <a:off x="566928" y="2103120"/>
            <a:ext cx="11027664" cy="2082419"/>
          </a:xfrm>
          <a:prstGeom prst="roundRect">
            <a:avLst>
              <a:gd name="adj" fmla="val 2635"/>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387475"/>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published XKS conformance cases pass, including the error codes — a wrong code fails a caller in a way that looks like data loss.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request with a bad signature is refused before the token is touched.</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Revoking a key here makes the cloud's next operation fail, and the audit log shows why.</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Latency under sustained load stays inside the provider's timeout, measured rather than assumed.</a:t>
            </a:r>
            <a:endParaRPr lang="en-US" sz="1250" dirty="0"/>
          </a:p>
        </p:txBody>
      </p:sp>
      <p:sp>
        <p:nvSpPr>
          <p:cNvPr id="10" name="Shape 8"/>
          <p:cNvSpPr/>
          <p:nvPr/>
        </p:nvSpPr>
        <p:spPr>
          <a:xfrm>
            <a:off x="566928" y="4459859"/>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606163"/>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569587"/>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 cloud service encrypts and decrypts through this server for a full test run, and revoking the key stops it mid-run.</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17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PKCS#11 provider for applications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applications that speak PKCS#11 use this server without knowing KMIP exists.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F</a:t>
            </a:r>
            <a:endParaRPr lang="en-US" sz="1100" dirty="0"/>
          </a:p>
        </p:txBody>
      </p:sp>
      <p:sp>
        <p:nvSpPr>
          <p:cNvPr id="7" name="Shape 5"/>
          <p:cNvSpPr/>
          <p:nvPr/>
        </p:nvSpPr>
        <p:spPr>
          <a:xfrm>
            <a:off x="566928" y="2103120"/>
            <a:ext cx="5486400" cy="3339084"/>
          </a:xfrm>
          <a:prstGeom prst="roundRect">
            <a:avLst>
              <a:gd name="adj" fmla="val 1643"/>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264414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second deliverable, in another language, with its own release cycle and its own memory-safety burden.</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KMIP surface becomes an internal contract for it, so changes there can break a client nobody is testing in this repository.</a:t>
            </a:r>
            <a:endParaRPr lang="en-US" sz="1250" dirty="0"/>
          </a:p>
        </p:txBody>
      </p:sp>
      <p:sp>
        <p:nvSpPr>
          <p:cNvPr id="10" name="Shape 8"/>
          <p:cNvSpPr/>
          <p:nvPr/>
        </p:nvSpPr>
        <p:spPr>
          <a:xfrm>
            <a:off x="6327648" y="2103120"/>
            <a:ext cx="5266944" cy="3339084"/>
          </a:xfrm>
          <a:prstGeom prst="roundRect">
            <a:avLst>
              <a:gd name="adj" fmla="val 164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264414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 shared library exposing the PKCS#11 C interface and translating to KMIP over the wire — the inverse of pkcs11_shim/, and the reason that boundary was kept clean.</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 deliberate subset: C_GenerateKey, C_Encrypt, C_Decrypt, C_Sign, C_Verify, C_FindObjects and session handling. Implementing the whole of PKCS#11 badly would be worse than implementing part of it well and saying which part.</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Session and object handles map to KMIP identifiers in the library, so the server stays stateless per request.</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17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PKCS#11 provider for applications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applications that speak PKCS#11 use this server without knowing KMIP exists.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F</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separate deliverable in its own directory with its own build — C, or Rust with a C ABI. It is a client of this server, not part of it.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subset is declared in its documentation and the library returns CKR_FUNCTION_NOT_SUPPORTED honestly for the rest.</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1 GAP-MATRIX FEATURE</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PKCS#11 provider for applications</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~2,000 lines in a new language, ~50 tests. The largest single step here and the one most worth deferring until a caller asks for it.</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17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PKCS#11 provider for applications</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Let applications that speak PKCS#11 use this server without knowing KMIP exists.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F</a:t>
            </a:r>
            <a:endParaRPr lang="en-US" sz="1100" dirty="0"/>
          </a:p>
        </p:txBody>
      </p:sp>
      <p:sp>
        <p:nvSpPr>
          <p:cNvPr id="7" name="Shape 5"/>
          <p:cNvSpPr/>
          <p:nvPr/>
        </p:nvSpPr>
        <p:spPr>
          <a:xfrm>
            <a:off x="566928" y="2103120"/>
            <a:ext cx="11027664" cy="2288794"/>
          </a:xfrm>
          <a:prstGeom prst="roundRect">
            <a:avLst>
              <a:gd name="adj" fmla="val 239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59385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pkcs11-tool exercises every implemented function against a live server.</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Java keystore and an OpenSSL engine both load the library and complete a sign and a verify.</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Every unimplemented function returns CKR_FUNCTION_NOT_SUPPORTED rather than crashing or silently doing nothing.</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Handle exhaustion and concurrent sessions behave — this is C, so the tests include a leak check under repeated open and close.</a:t>
            </a:r>
            <a:endParaRPr lang="en-US" sz="1250" dirty="0"/>
          </a:p>
        </p:txBody>
      </p:sp>
      <p:sp>
        <p:nvSpPr>
          <p:cNvPr id="10" name="Shape 8"/>
          <p:cNvSpPr/>
          <p:nvPr/>
        </p:nvSpPr>
        <p:spPr>
          <a:xfrm>
            <a:off x="566928" y="4666234"/>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812538"/>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775962"/>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An unmodified application that speaks PKCS#11 signs with a key it cannot extract, and pkcs11-tool reports the supported mechanism list.</a:t>
            </a:r>
            <a:endParaRPr lang="en-US" sz="12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18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Tokenization and format-preserving encryption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Protect PAN and PII in place, where the ciphertext has to look like the plaintext.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F</a:t>
            </a:r>
            <a:endParaRPr lang="en-US" sz="1100" dirty="0"/>
          </a:p>
        </p:txBody>
      </p:sp>
      <p:sp>
        <p:nvSpPr>
          <p:cNvPr id="7" name="Shape 5"/>
          <p:cNvSpPr/>
          <p:nvPr/>
        </p:nvSpPr>
        <p:spPr>
          <a:xfrm>
            <a:off x="566928" y="2103120"/>
            <a:ext cx="5486400" cy="2744724"/>
          </a:xfrm>
          <a:prstGeom prst="roundRect">
            <a:avLst>
              <a:gd name="adj" fmla="val 1999"/>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204978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first cryptographic primitive implemented in this codebase rather than delegated to the token — which is exactly the property the project has protected so far, and the reason to keep it isolated behind its own module.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vault of reversible mappings is a new kind of asset to protect, with different backup and residency implications from a key.</a:t>
            </a:r>
            <a:endParaRPr lang="en-US" sz="1250" dirty="0"/>
          </a:p>
        </p:txBody>
      </p:sp>
      <p:sp>
        <p:nvSpPr>
          <p:cNvPr id="10" name="Shape 8"/>
          <p:cNvSpPr/>
          <p:nvPr/>
        </p:nvSpPr>
        <p:spPr>
          <a:xfrm>
            <a:off x="6327648" y="2103120"/>
            <a:ext cx="5266944" cy="2744724"/>
          </a:xfrm>
          <a:prstGeom prst="roundRect">
            <a:avLst>
              <a:gd name="adj" fmla="val 199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204978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FF1 from NIST SP 800-38G as a service in front of the token: the tokenising key stays in the HSM and the format transformation happens here.</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 token vault for the detokenisation mapping where format preservation is not enough, with the same lifecycle and audit as any other object.</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SP 800-38G's own guidance about small domains is enforced rather than documented: a domain below the safe size is refused, not warned about.</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18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Tokenization and format-preserving encryption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Protect PAN and PII in place, where the ciphertext has to look like the plaintext.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F</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kmip_pkcs11/fpe/ as a service-layer module reachable over REST. Not a KMIP operation — the protocol has no vocabulary for it, and inventing vendor extensions would interoperate with nothing.</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1 GAP-MATRIX FEATURE</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Tokenization / format-preserving encryption</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~700 lines, ~40 tests.</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18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Tokenization and format-preserving encryption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Protect PAN and PII in place, where the ciphertext has to look like the plaintext.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F</a:t>
            </a:r>
            <a:endParaRPr lang="en-US" sz="1100" dirty="0"/>
          </a:p>
        </p:txBody>
      </p:sp>
      <p:sp>
        <p:nvSpPr>
          <p:cNvPr id="7" name="Shape 5"/>
          <p:cNvSpPr/>
          <p:nvPr/>
        </p:nvSpPr>
        <p:spPr>
          <a:xfrm>
            <a:off x="566928" y="2103120"/>
            <a:ext cx="11027664" cy="2082419"/>
          </a:xfrm>
          <a:prstGeom prst="roundRect">
            <a:avLst>
              <a:gd name="adj" fmla="val 2635"/>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387475"/>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FF1 matches the NIST test vectors exactly. This is the whole correctness argument for the step and nothing else substitutes.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Round-trip over every supported alphabet and length, including the boundaries.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domain too small to be safe is refused with an error naming the limit.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Detokenisation is access-controlled and audited as a disclosure, because that is what it is.</a:t>
            </a:r>
            <a:endParaRPr lang="en-US" sz="1250" dirty="0"/>
          </a:p>
        </p:txBody>
      </p:sp>
      <p:sp>
        <p:nvSpPr>
          <p:cNvPr id="10" name="Shape 8"/>
          <p:cNvSpPr/>
          <p:nvPr/>
        </p:nvSpPr>
        <p:spPr>
          <a:xfrm>
            <a:off x="566928" y="4459859"/>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606163"/>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569587"/>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The NIST FF1 vectors pass, and a PAN tokenises to something that is still a valid PAN and detokenises only for an identity allowed to.</a:t>
            </a:r>
            <a:endParaRPr lang="en-US" sz="12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19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Vendor interoperability validation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Turn two rows that say “should work” into two rows that say “does, against these products, at these versions”.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G</a:t>
            </a:r>
            <a:endParaRPr lang="en-US" sz="1100" dirty="0"/>
          </a:p>
        </p:txBody>
      </p:sp>
      <p:sp>
        <p:nvSpPr>
          <p:cNvPr id="7" name="Shape 5"/>
          <p:cNvSpPr/>
          <p:nvPr/>
        </p:nvSpPr>
        <p:spPr>
          <a:xfrm>
            <a:off x="566928" y="1938528"/>
            <a:ext cx="11027664" cy="365760"/>
          </a:xfrm>
          <a:prstGeom prst="roundRect">
            <a:avLst>
              <a:gd name="adj" fmla="val 12500"/>
            </a:avLst>
          </a:prstGeom>
          <a:solidFill>
            <a:srgbClr val="FBF3E3"/>
          </a:solidFill>
          <a:ln w="12700">
            <a:solidFill>
              <a:srgbClr val="E8D5A8"/>
            </a:solidFill>
            <a:prstDash val="solid"/>
          </a:ln>
        </p:spPr>
      </p:sp>
      <p:sp>
        <p:nvSpPr>
          <p:cNvPr id="8" name="Text 6"/>
          <p:cNvSpPr txBox="1"/>
          <p:nvPr/>
        </p:nvSpPr>
        <p:spPr>
          <a:xfrm>
            <a:off x="786384" y="1938528"/>
            <a:ext cx="10588752" cy="365760"/>
          </a:xfrm>
          <a:prstGeom prst="rect">
            <a:avLst/>
          </a:prstGeom>
          <a:noFill/>
          <a:ln/>
        </p:spPr>
        <p:txBody>
          <a:bodyPr wrap="square" lIns="0" tIns="0" rIns="0" bIns="0" rtlCol="0" anchor="ctr"/>
          <a:lstStyle/>
          <a:p>
            <a:pPr indent="0" marL="0">
              <a:buNone/>
            </a:pPr>
            <a:r>
              <a:rPr lang="en-US" sz="1050" dirty="0">
                <a:solidFill>
                  <a:srgbClr val="9A6410"/>
                </a:solidFill>
                <a:latin typeface="Calibri" pitchFamily="34" charset="0"/>
                <a:ea typeface="Calibri" pitchFamily="34" charset="-122"/>
                <a:cs typeface="Calibri" pitchFamily="34" charset="-120"/>
              </a:rPr>
              <a:t>CANNOT START UNTIL   Licences for, or access to, the vendor products being validated.</a:t>
            </a:r>
            <a:endParaRPr lang="en-US" sz="1050" dirty="0"/>
          </a:p>
        </p:txBody>
      </p:sp>
      <p:sp>
        <p:nvSpPr>
          <p:cNvPr id="9" name="Shape 7"/>
          <p:cNvSpPr/>
          <p:nvPr/>
        </p:nvSpPr>
        <p:spPr>
          <a:xfrm>
            <a:off x="566928" y="2414016"/>
            <a:ext cx="5486400" cy="2744724"/>
          </a:xfrm>
          <a:prstGeom prst="roundRect">
            <a:avLst>
              <a:gd name="adj" fmla="val 1999"/>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822960" y="2633472"/>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11" name="Text 9"/>
          <p:cNvSpPr txBox="1"/>
          <p:nvPr/>
        </p:nvSpPr>
        <p:spPr>
          <a:xfrm>
            <a:off x="822960" y="2926080"/>
            <a:ext cx="4974336" cy="204978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conformance suite stops being only our reading of the specification and starts carrying other implementations' behaviour.</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Supported-version claims become a maintenance commitment — a validated product is one someone expects to keep working.</a:t>
            </a:r>
            <a:endParaRPr lang="en-US" sz="1250" dirty="0"/>
          </a:p>
        </p:txBody>
      </p:sp>
      <p:sp>
        <p:nvSpPr>
          <p:cNvPr id="12" name="Shape 10"/>
          <p:cNvSpPr/>
          <p:nvPr/>
        </p:nvSpPr>
        <p:spPr>
          <a:xfrm>
            <a:off x="6327648" y="2414016"/>
            <a:ext cx="5266944" cy="2744724"/>
          </a:xfrm>
          <a:prstGeom prst="roundRect">
            <a:avLst>
              <a:gd name="adj" fmla="val 199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6583680" y="2633472"/>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4" name="Text 12"/>
          <p:cNvSpPr txBox="1"/>
          <p:nvPr/>
        </p:nvSpPr>
        <p:spPr>
          <a:xfrm>
            <a:off x="6583680" y="2926080"/>
            <a:ext cx="4754880" cy="204978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 validation matrix: product, version, profile, what was exercised, what had to change. Published with the results, including the failures.</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Each vendor profile makes assumptions the specification does not state. The deliverable is the list of them, and a conformance test per assumption so it cannot regress.</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Order by what is asked for most: Oracle TDE and VMware first.</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19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Vendor interoperability validation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Turn two rows that say “should work” into two rows that say “does, against these products, at these versions”.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G</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No new subsystem — fixes land in the operations the profiles exercise, and every exchange captured becomes a test in the conformance suite.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recorded-exchange harness so a vendor's traffic can be replayed without the vendor present.</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2 GAP-MATRIX FEATURES</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Database TDE integration</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Storage, backup and VM integrations</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~400 lines of fixes and harness, ~60 recorded-exchange tests. Mostly not code: it is scheduling, licences and patience.</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19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Vendor interoperability validation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Turn two rows that say “should work” into two rows that say “does, against these products, at these versions”.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G</a:t>
            </a:r>
            <a:endParaRPr lang="en-US" sz="1100" dirty="0"/>
          </a:p>
        </p:txBody>
      </p:sp>
      <p:sp>
        <p:nvSpPr>
          <p:cNvPr id="7" name="Shape 5"/>
          <p:cNvSpPr/>
          <p:nvPr/>
        </p:nvSpPr>
        <p:spPr>
          <a:xfrm>
            <a:off x="566928" y="2103120"/>
            <a:ext cx="11027664"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captured exchange from each validated product replays green in CI forever after, which is what stops this work decaying.</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Profile-specific attribute handling is asserted per vendor rather than in general.</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matrix itself is generated from the test results, so it cannot claim a product that is not tested.</a:t>
            </a:r>
            <a:endParaRPr lang="en-US" sz="1250" dirty="0"/>
          </a:p>
        </p:txBody>
      </p:sp>
      <p:sp>
        <p:nvSpPr>
          <p:cNvPr id="10" name="Shape 8"/>
          <p:cNvSpPr/>
          <p:nvPr/>
        </p:nvSpPr>
        <p:spPr>
          <a:xfrm>
            <a:off x="566928" y="4297680"/>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443984"/>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407408"/>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At least one database and one storage product complete their full key lifecycle against this server, with the exchanges replaying in CI.</a:t>
            </a:r>
            <a:endParaRPr lang="en-US" sz="12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20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OASIS interoperability certification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Demonstrate interoperability against other implementations, in public, rather than asserting it.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G</a:t>
            </a:r>
            <a:endParaRPr lang="en-US" sz="1100" dirty="0"/>
          </a:p>
        </p:txBody>
      </p:sp>
      <p:sp>
        <p:nvSpPr>
          <p:cNvPr id="7" name="Shape 5"/>
          <p:cNvSpPr/>
          <p:nvPr/>
        </p:nvSpPr>
        <p:spPr>
          <a:xfrm>
            <a:off x="566928" y="1938528"/>
            <a:ext cx="11027664" cy="365760"/>
          </a:xfrm>
          <a:prstGeom prst="roundRect">
            <a:avLst>
              <a:gd name="adj" fmla="val 12500"/>
            </a:avLst>
          </a:prstGeom>
          <a:solidFill>
            <a:srgbClr val="FBF3E3"/>
          </a:solidFill>
          <a:ln w="12700">
            <a:solidFill>
              <a:srgbClr val="E8D5A8"/>
            </a:solidFill>
            <a:prstDash val="solid"/>
          </a:ln>
        </p:spPr>
      </p:sp>
      <p:sp>
        <p:nvSpPr>
          <p:cNvPr id="8" name="Text 6"/>
          <p:cNvSpPr txBox="1"/>
          <p:nvPr/>
        </p:nvSpPr>
        <p:spPr>
          <a:xfrm>
            <a:off x="786384" y="1938528"/>
            <a:ext cx="10588752" cy="365760"/>
          </a:xfrm>
          <a:prstGeom prst="rect">
            <a:avLst/>
          </a:prstGeom>
          <a:noFill/>
          <a:ln/>
        </p:spPr>
        <p:txBody>
          <a:bodyPr wrap="square" lIns="0" tIns="0" rIns="0" bIns="0" rtlCol="0" anchor="ctr"/>
          <a:lstStyle/>
          <a:p>
            <a:pPr indent="0" marL="0">
              <a:buNone/>
            </a:pPr>
            <a:r>
              <a:rPr lang="en-US" sz="1050" dirty="0">
                <a:solidFill>
                  <a:srgbClr val="9A6410"/>
                </a:solidFill>
                <a:latin typeface="Calibri" pitchFamily="34" charset="0"/>
                <a:ea typeface="Calibri" pitchFamily="34" charset="-122"/>
                <a:cs typeface="Calibri" pitchFamily="34" charset="-120"/>
              </a:rPr>
              <a:t>CANNOT START UNTIL   An OASIS interoperability event, and other implementations to test against.</a:t>
            </a:r>
            <a:endParaRPr lang="en-US" sz="1050" dirty="0"/>
          </a:p>
        </p:txBody>
      </p:sp>
      <p:sp>
        <p:nvSpPr>
          <p:cNvPr id="9" name="Shape 7"/>
          <p:cNvSpPr/>
          <p:nvPr/>
        </p:nvSpPr>
        <p:spPr>
          <a:xfrm>
            <a:off x="566928" y="2414016"/>
            <a:ext cx="5486400" cy="2942844"/>
          </a:xfrm>
          <a:prstGeom prst="roundRect">
            <a:avLst>
              <a:gd name="adj" fmla="val 1864"/>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822960" y="2633472"/>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11" name="Text 9"/>
          <p:cNvSpPr txBox="1"/>
          <p:nvPr/>
        </p:nvSpPr>
        <p:spPr>
          <a:xfrm>
            <a:off x="822960" y="2926080"/>
            <a:ext cx="4974336" cy="224790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External parties see the implementation's behaviour directly. Anything the specification leaves ambiguous and we resolved by assumption surfaces here.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published result is a commitment: it dates, and it has to be redone as the protocol moves.</a:t>
            </a:r>
            <a:endParaRPr lang="en-US" sz="1250" dirty="0"/>
          </a:p>
        </p:txBody>
      </p:sp>
      <p:sp>
        <p:nvSpPr>
          <p:cNvPr id="12" name="Shape 10"/>
          <p:cNvSpPr/>
          <p:nvPr/>
        </p:nvSpPr>
        <p:spPr>
          <a:xfrm>
            <a:off x="6327648" y="2414016"/>
            <a:ext cx="5266944" cy="2942844"/>
          </a:xfrm>
          <a:prstGeom prst="roundRect">
            <a:avLst>
              <a:gd name="adj" fmla="val 1864"/>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6583680" y="2633472"/>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4" name="Text 12"/>
          <p:cNvSpPr txBox="1"/>
          <p:nvPr/>
        </p:nvSpPr>
        <p:spPr>
          <a:xfrm>
            <a:off x="6583680" y="2926080"/>
            <a:ext cx="4754880" cy="224790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Run the OASIS KMIP conformance test cases end to end and publish the results, including anything that fails.</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Participate in an interop event against other vendors' clients and servers — the part that cannot be simulated, because the value is precisely that the other implementation is not ours.</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The conformance cases are already mapped in the suite; what is missing is the execution and the counterparty.</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20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OASIS interoperability certification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Demonstrate interoperability against other implementations, in public, rather than asserting it.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G</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Fixes arising from the event, and the test cases promoted into the standing suite.</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1 GAP-MATRIX FEATURE</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KMIP interoperability certification</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~200 lines of fixes, plus the event. Small in code, long in calendar.</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20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OASIS interoperability certification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Demonstrate interoperability against other implementations, in public, rather than asserting it.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G</a:t>
            </a:r>
            <a:endParaRPr lang="en-US" sz="1100" dirty="0"/>
          </a:p>
        </p:txBody>
      </p:sp>
      <p:sp>
        <p:nvSpPr>
          <p:cNvPr id="7" name="Shape 5"/>
          <p:cNvSpPr/>
          <p:nvPr/>
        </p:nvSpPr>
        <p:spPr>
          <a:xfrm>
            <a:off x="566928" y="2103120"/>
            <a:ext cx="11027664"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Every mapped OASIS conformance case executes as part of CI rather than being mapped and unrun.</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Findings from the event become regression tests before the fix lands.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published result names the profile and version tested, so a reader can tell what the certification covers.</a:t>
            </a:r>
            <a:endParaRPr lang="en-US" sz="1250" dirty="0"/>
          </a:p>
        </p:txBody>
      </p:sp>
      <p:sp>
        <p:nvSpPr>
          <p:cNvPr id="10" name="Shape 8"/>
          <p:cNvSpPr/>
          <p:nvPr/>
        </p:nvSpPr>
        <p:spPr>
          <a:xfrm>
            <a:off x="566928" y="4297680"/>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443984"/>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407408"/>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The conformance suite runs clean, and an interop event produces a result that can be published as it stands.</a:t>
            </a:r>
            <a:endParaRPr lang="en-US" sz="12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21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Certificate authority integration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Get real certificates without this server pretending to be a certificate authority.</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G</a:t>
            </a:r>
            <a:endParaRPr lang="en-US" sz="1100" dirty="0"/>
          </a:p>
        </p:txBody>
      </p:sp>
      <p:sp>
        <p:nvSpPr>
          <p:cNvPr id="7" name="Shape 5"/>
          <p:cNvSpPr/>
          <p:nvPr/>
        </p:nvSpPr>
        <p:spPr>
          <a:xfrm>
            <a:off x="566928" y="1938528"/>
            <a:ext cx="11027664" cy="365760"/>
          </a:xfrm>
          <a:prstGeom prst="roundRect">
            <a:avLst>
              <a:gd name="adj" fmla="val 12500"/>
            </a:avLst>
          </a:prstGeom>
          <a:solidFill>
            <a:srgbClr val="FBF3E3"/>
          </a:solidFill>
          <a:ln w="12700">
            <a:solidFill>
              <a:srgbClr val="E8D5A8"/>
            </a:solidFill>
            <a:prstDash val="solid"/>
          </a:ln>
        </p:spPr>
      </p:sp>
      <p:sp>
        <p:nvSpPr>
          <p:cNvPr id="8" name="Text 6"/>
          <p:cNvSpPr txBox="1"/>
          <p:nvPr/>
        </p:nvSpPr>
        <p:spPr>
          <a:xfrm>
            <a:off x="786384" y="1938528"/>
            <a:ext cx="10588752" cy="365760"/>
          </a:xfrm>
          <a:prstGeom prst="rect">
            <a:avLst/>
          </a:prstGeom>
          <a:noFill/>
          <a:ln/>
        </p:spPr>
        <p:txBody>
          <a:bodyPr wrap="square" lIns="0" tIns="0" rIns="0" bIns="0" rtlCol="0" anchor="ctr"/>
          <a:lstStyle/>
          <a:p>
            <a:pPr indent="0" marL="0">
              <a:buNone/>
            </a:pPr>
            <a:r>
              <a:rPr lang="en-US" sz="1050" dirty="0">
                <a:solidFill>
                  <a:srgbClr val="9A6410"/>
                </a:solidFill>
                <a:latin typeface="Calibri" pitchFamily="34" charset="0"/>
                <a:ea typeface="Calibri" pitchFamily="34" charset="-122"/>
                <a:cs typeface="Calibri" pitchFamily="34" charset="-120"/>
              </a:rPr>
              <a:t>CANNOT START UNTIL   A deployed certificate authority — EJBCA or equivalent.</a:t>
            </a:r>
            <a:endParaRPr lang="en-US" sz="1050" dirty="0"/>
          </a:p>
        </p:txBody>
      </p:sp>
      <p:sp>
        <p:nvSpPr>
          <p:cNvPr id="9" name="Shape 7"/>
          <p:cNvSpPr/>
          <p:nvPr/>
        </p:nvSpPr>
        <p:spPr>
          <a:xfrm>
            <a:off x="566928" y="2414016"/>
            <a:ext cx="5486400" cy="3339084"/>
          </a:xfrm>
          <a:prstGeom prst="roundRect">
            <a:avLst>
              <a:gd name="adj" fmla="val 1643"/>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822960" y="2633472"/>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11" name="Text 9"/>
          <p:cNvSpPr txBox="1"/>
          <p:nvPr/>
        </p:nvSpPr>
        <p:spPr>
          <a:xfrm>
            <a:off x="822960" y="2926080"/>
            <a:ext cx="4974336" cy="264414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An external dependency on the issuance path — the first place where an outage elsewhere blocks an operation here.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row closes by integration rather than by implementation, which is the honest way to close it and should be read that way.</a:t>
            </a:r>
            <a:endParaRPr lang="en-US" sz="1250" dirty="0"/>
          </a:p>
        </p:txBody>
      </p:sp>
      <p:sp>
        <p:nvSpPr>
          <p:cNvPr id="12" name="Shape 10"/>
          <p:cNvSpPr/>
          <p:nvPr/>
        </p:nvSpPr>
        <p:spPr>
          <a:xfrm>
            <a:off x="6327648" y="2414016"/>
            <a:ext cx="5266944" cy="3339084"/>
          </a:xfrm>
          <a:prstGeom prst="roundRect">
            <a:avLst>
              <a:gd name="adj" fmla="val 164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6583680" y="2633472"/>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4" name="Text 12"/>
          <p:cNvSpPr txBox="1"/>
          <p:nvPr/>
        </p:nvSpPr>
        <p:spPr>
          <a:xfrm>
            <a:off x="6583680" y="2926080"/>
            <a:ext cx="4754880" cy="264414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Front the deployment with an established CA — EJBCA is the reference — and make Certify and ReCertify proxy to it: the key stays in the token, the CSR goes out, the issued certificate comes back as a managed object.</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CRL and OCSP become the CA's job, and this server records and serves revocation status rather than deciding it.</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The alternative — implementing a CA here — was rejected earlier in this project and is rejected again. A weak CA inside a key manager invites exactly the reliance it cannot support.</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21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Certificate authority integration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Get real certificates without this server pretending to be a certificate authority.</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G</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CA backend interface with an EJBCA implementation, reached from the Certify and ReCertify handlers so both transports get it.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Self-signed issuance stays for development, behind a configuration flag that is off by default and logs loudly when on.</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1 GAP-MATRIX FEATURE</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Certificate lifecycle</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~600 lines, ~35 tests.</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21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Certificate authority integration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Get real certificates without this server pretending to be a certificate authority.</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G</a:t>
            </a:r>
            <a:endParaRPr lang="en-US" sz="1100" dirty="0"/>
          </a:p>
        </p:txBody>
      </p:sp>
      <p:sp>
        <p:nvSpPr>
          <p:cNvPr id="7" name="Shape 5"/>
          <p:cNvSpPr/>
          <p:nvPr/>
        </p:nvSpPr>
        <p:spPr>
          <a:xfrm>
            <a:off x="566928" y="2103120"/>
            <a:ext cx="11027664" cy="2082419"/>
          </a:xfrm>
          <a:prstGeom prst="roundRect">
            <a:avLst>
              <a:gd name="adj" fmla="val 2635"/>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387475"/>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An issued certificate chains to the CA and validates against it with a standard tool, not with our own validator.</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Revoking through the CA is reflected here, and Validate refuses the revoked certificate.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CA outage degrades honestly: issuance fails with a clear error, existing objects keep working.</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development self-signed path cannot be enabled without it appearing in the audit log.</a:t>
            </a:r>
            <a:endParaRPr lang="en-US" sz="1250" dirty="0"/>
          </a:p>
        </p:txBody>
      </p:sp>
      <p:sp>
        <p:nvSpPr>
          <p:cNvPr id="10" name="Shape 8"/>
          <p:cNvSpPr/>
          <p:nvPr/>
        </p:nvSpPr>
        <p:spPr>
          <a:xfrm>
            <a:off x="566928" y="4459859"/>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606163"/>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569587"/>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 certificate issued through this server chains to a real CA, validates with openssl verify, and stops validating once revoked.</a:t>
            </a:r>
            <a:endParaRPr lang="en-US" sz="12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22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Secrets manager integration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Serve dynamic secrets without becoming a secrets manager.</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G</a:t>
            </a:r>
            <a:endParaRPr lang="en-US" sz="1100" dirty="0"/>
          </a:p>
        </p:txBody>
      </p:sp>
      <p:sp>
        <p:nvSpPr>
          <p:cNvPr id="7" name="Shape 5"/>
          <p:cNvSpPr/>
          <p:nvPr/>
        </p:nvSpPr>
        <p:spPr>
          <a:xfrm>
            <a:off x="566928" y="1938528"/>
            <a:ext cx="11027664" cy="365760"/>
          </a:xfrm>
          <a:prstGeom prst="roundRect">
            <a:avLst>
              <a:gd name="adj" fmla="val 12500"/>
            </a:avLst>
          </a:prstGeom>
          <a:solidFill>
            <a:srgbClr val="FBF3E3"/>
          </a:solidFill>
          <a:ln w="12700">
            <a:solidFill>
              <a:srgbClr val="E8D5A8"/>
            </a:solidFill>
            <a:prstDash val="solid"/>
          </a:ln>
        </p:spPr>
      </p:sp>
      <p:sp>
        <p:nvSpPr>
          <p:cNvPr id="8" name="Text 6"/>
          <p:cNvSpPr txBox="1"/>
          <p:nvPr/>
        </p:nvSpPr>
        <p:spPr>
          <a:xfrm>
            <a:off x="786384" y="1938528"/>
            <a:ext cx="10588752" cy="365760"/>
          </a:xfrm>
          <a:prstGeom prst="rect">
            <a:avLst/>
          </a:prstGeom>
          <a:noFill/>
          <a:ln/>
        </p:spPr>
        <p:txBody>
          <a:bodyPr wrap="square" lIns="0" tIns="0" rIns="0" bIns="0" rtlCol="0" anchor="ctr"/>
          <a:lstStyle/>
          <a:p>
            <a:pPr indent="0" marL="0">
              <a:buNone/>
            </a:pPr>
            <a:r>
              <a:rPr lang="en-US" sz="1050" dirty="0">
                <a:solidFill>
                  <a:srgbClr val="9A6410"/>
                </a:solidFill>
                <a:latin typeface="Calibri" pitchFamily="34" charset="0"/>
                <a:ea typeface="Calibri" pitchFamily="34" charset="-122"/>
                <a:cs typeface="Calibri" pitchFamily="34" charset="-120"/>
              </a:rPr>
              <a:t>CANNOT START UNTIL   A deployed secrets manager to integrate with.</a:t>
            </a:r>
            <a:endParaRPr lang="en-US" sz="1050" dirty="0"/>
          </a:p>
        </p:txBody>
      </p:sp>
      <p:sp>
        <p:nvSpPr>
          <p:cNvPr id="9" name="Shape 7"/>
          <p:cNvSpPr/>
          <p:nvPr/>
        </p:nvSpPr>
        <p:spPr>
          <a:xfrm>
            <a:off x="566928" y="2414016"/>
            <a:ext cx="5486400" cy="3339084"/>
          </a:xfrm>
          <a:prstGeom prst="roundRect">
            <a:avLst>
              <a:gd name="adj" fmla="val 1643"/>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822960" y="2633472"/>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11" name="Text 9"/>
          <p:cNvSpPr txBox="1"/>
          <p:nvPr/>
        </p:nvSpPr>
        <p:spPr>
          <a:xfrm>
            <a:off x="822960" y="2926080"/>
            <a:ext cx="4974336" cy="264414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scheduler gains a second class of expiry to enforce, beside cryptoperiods.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Like step 21, this closes by integration. The product boundary does not move; the deployment story does.</a:t>
            </a:r>
            <a:endParaRPr lang="en-US" sz="1250" dirty="0"/>
          </a:p>
        </p:txBody>
      </p:sp>
      <p:sp>
        <p:nvSpPr>
          <p:cNvPr id="12" name="Shape 10"/>
          <p:cNvSpPr/>
          <p:nvPr/>
        </p:nvSpPr>
        <p:spPr>
          <a:xfrm>
            <a:off x="6327648" y="2414016"/>
            <a:ext cx="5266944" cy="3339084"/>
          </a:xfrm>
          <a:prstGeom prst="roundRect">
            <a:avLst>
              <a:gd name="adj" fmla="val 164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6583680" y="2633472"/>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4" name="Text 12"/>
          <p:cNvSpPr txBox="1"/>
          <p:nvPr/>
        </p:nvSpPr>
        <p:spPr>
          <a:xfrm>
            <a:off x="6583680" y="2926080"/>
            <a:ext cx="4754880" cy="264414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The same shape as the CA step: an established secrets manager handles dynamic issuance, templating and leases, and uses this server for the keys it protects them with.</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What this server adds is the half it should own — short-lived SecretData with automatic destruction at lease end, and the audit trail joining a lease to the identity that held it.</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Rejected again, for the third time in this plan: building an engine that mints database credentials. That needs deep knowledge of each backend and is a different product.</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22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Secrets manager integration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Serve dynamic secrets without becoming a secrets manager.</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G</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Lease expiry wired to automatic destruction in the existing scheduler, and a documented integration pattern with a reference configuration.</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1 GAP-MATRIX FEATURE</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Secrets management</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~500 lines, ~30 tests.</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22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Secrets manager integration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Serve dynamic secrets without becoming a secrets manager.</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G</a:t>
            </a:r>
            <a:endParaRPr lang="en-US" sz="1100" dirty="0"/>
          </a:p>
        </p:txBody>
      </p:sp>
      <p:sp>
        <p:nvSpPr>
          <p:cNvPr id="7" name="Shape 5"/>
          <p:cNvSpPr/>
          <p:nvPr/>
        </p:nvSpPr>
        <p:spPr>
          <a:xfrm>
            <a:off x="566928" y="2103120"/>
            <a:ext cx="11027664"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lease that expires destroys its secret, and the destruction is audited against the original requester.</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An expired lease cannot be renewed into existence.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reference integration completes a full issue, use and expire cycle against a real secrets manager.</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Clock changes do not resurrect an expired lease or destroy a live one.</a:t>
            </a:r>
            <a:endParaRPr lang="en-US" sz="1250" dirty="0"/>
          </a:p>
        </p:txBody>
      </p:sp>
      <p:sp>
        <p:nvSpPr>
          <p:cNvPr id="10" name="Shape 8"/>
          <p:cNvSpPr/>
          <p:nvPr/>
        </p:nvSpPr>
        <p:spPr>
          <a:xfrm>
            <a:off x="566928" y="4297680"/>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443984"/>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407408"/>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 secret issued under a lease is unreadable and gone after expiry, with an audit trail a reader can follow from request to destruction.</a:t>
            </a:r>
            <a:endParaRPr lang="en-US" sz="12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23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KMIP 3.0</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Move to the current specification line, which is also where post-quantum lives.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H</a:t>
            </a:r>
            <a:endParaRPr lang="en-US" sz="1100" dirty="0"/>
          </a:p>
        </p:txBody>
      </p:sp>
      <p:sp>
        <p:nvSpPr>
          <p:cNvPr id="7" name="Shape 5"/>
          <p:cNvSpPr/>
          <p:nvPr/>
        </p:nvSpPr>
        <p:spPr>
          <a:xfrm>
            <a:off x="566928" y="2103120"/>
            <a:ext cx="5486400" cy="2744724"/>
          </a:xfrm>
          <a:prstGeom prst="roundRect">
            <a:avLst>
              <a:gd name="adj" fmla="val 1999"/>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9" name="Text 7"/>
          <p:cNvSpPr txBox="1"/>
          <p:nvPr/>
        </p:nvSpPr>
        <p:spPr>
          <a:xfrm>
            <a:off x="822960" y="2615184"/>
            <a:ext cx="4974336" cy="204978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protocol layer becomes version-aware, which touches the dispatcher and every enumeration table.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Encapsulate and Decapsulate exist and work on classical algorithms, so the only thing missing for post-quantum is the token.</a:t>
            </a:r>
            <a:endParaRPr lang="en-US" sz="1250" dirty="0"/>
          </a:p>
        </p:txBody>
      </p:sp>
      <p:sp>
        <p:nvSpPr>
          <p:cNvPr id="10" name="Shape 8"/>
          <p:cNvSpPr/>
          <p:nvPr/>
        </p:nvSpPr>
        <p:spPr>
          <a:xfrm>
            <a:off x="6327648" y="2103120"/>
            <a:ext cx="5266944" cy="2744724"/>
          </a:xfrm>
          <a:prstGeom prst="roundRect">
            <a:avLst>
              <a:gd name="adj" fmla="val 199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583680" y="2322576"/>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2" name="Text 10"/>
          <p:cNvSpPr txBox="1"/>
          <p:nvPr/>
        </p:nvSpPr>
        <p:spPr>
          <a:xfrm>
            <a:off x="6583680" y="2615184"/>
            <a:ext cx="4754880" cy="204978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The 3.0 additions on top of 2.1: new enumerations, the Encapsulate and Decapsulate operations, and the protocol version negotiation that lets a 2.1 client keep working unchanged.</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Version negotiation is the part that carries risk. An existing deployment must not notice this step happened.</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Entirely in-protocol: no new dependency, no new transport, no schema change.</a:t>
            </a:r>
            <a:endParaRPr lang="en-US" sz="12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23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KMIP 3.0</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Move to the current specification line, which is also where post-quantum lives.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H</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core/enums.py extends, new operation handlers join operations/, and the dispatcher selects behaviour by negotiated version rather than assuming 2.1.</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1 GAP-MATRIX FEATURE</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KMIP 3.0</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~1,200 lines, ~70 tests.</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23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KMIP 3.0</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Move to the current specification line, which is also where post-quantum lives.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H</a:t>
            </a:r>
            <a:endParaRPr lang="en-US" sz="1100" dirty="0"/>
          </a:p>
        </p:txBody>
      </p:sp>
      <p:sp>
        <p:nvSpPr>
          <p:cNvPr id="7" name="Shape 5"/>
          <p:cNvSpPr/>
          <p:nvPr/>
        </p:nvSpPr>
        <p:spPr>
          <a:xfrm>
            <a:off x="566928" y="2103120"/>
            <a:ext cx="11027664" cy="2288794"/>
          </a:xfrm>
          <a:prstGeom prst="roundRect">
            <a:avLst>
              <a:gd name="adj" fmla="val 239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59385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Every existing 2.1 test passes unchanged against a 3.0-capable server — this is the gate, and a modified test would mean the step broke compatibility.</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2.1 client and a 3.0 client are served correctly by one server at the same time.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Encapsulate and Decapsulate round-trip, tested with a classical algorithm so the operations are proved before a PQC token exists.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Version downgrade attempts are rejected rather than silently honoured.</a:t>
            </a:r>
            <a:endParaRPr lang="en-US" sz="1250" dirty="0"/>
          </a:p>
        </p:txBody>
      </p:sp>
      <p:sp>
        <p:nvSpPr>
          <p:cNvPr id="10" name="Shape 8"/>
          <p:cNvSpPr/>
          <p:nvPr/>
        </p:nvSpPr>
        <p:spPr>
          <a:xfrm>
            <a:off x="566928" y="4666234"/>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812538"/>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775962"/>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The full 2.1 suite passes against the 3.0 server with no test modified, and both protocol versions are served concurrently.</a:t>
            </a:r>
            <a:endParaRPr lang="en-US" sz="12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24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Post-quantum and full algorithm breadth</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Run ML-KEM, ML-DSA and SLH-DSA, and light up the algorithms the current token cannot perform.</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H</a:t>
            </a:r>
            <a:endParaRPr lang="en-US" sz="1100" dirty="0"/>
          </a:p>
        </p:txBody>
      </p:sp>
      <p:sp>
        <p:nvSpPr>
          <p:cNvPr id="7" name="Shape 5"/>
          <p:cNvSpPr/>
          <p:nvPr/>
        </p:nvSpPr>
        <p:spPr>
          <a:xfrm>
            <a:off x="566928" y="1938528"/>
            <a:ext cx="11027664" cy="365760"/>
          </a:xfrm>
          <a:prstGeom prst="roundRect">
            <a:avLst>
              <a:gd name="adj" fmla="val 12500"/>
            </a:avLst>
          </a:prstGeom>
          <a:solidFill>
            <a:srgbClr val="FBF3E3"/>
          </a:solidFill>
          <a:ln w="12700">
            <a:solidFill>
              <a:srgbClr val="E8D5A8"/>
            </a:solidFill>
            <a:prstDash val="solid"/>
          </a:ln>
        </p:spPr>
      </p:sp>
      <p:sp>
        <p:nvSpPr>
          <p:cNvPr id="8" name="Text 6"/>
          <p:cNvSpPr txBox="1"/>
          <p:nvPr/>
        </p:nvSpPr>
        <p:spPr>
          <a:xfrm>
            <a:off x="786384" y="1938528"/>
            <a:ext cx="10588752" cy="365760"/>
          </a:xfrm>
          <a:prstGeom prst="rect">
            <a:avLst/>
          </a:prstGeom>
          <a:noFill/>
          <a:ln/>
        </p:spPr>
        <p:txBody>
          <a:bodyPr wrap="square" lIns="0" tIns="0" rIns="0" bIns="0" rtlCol="0" anchor="ctr"/>
          <a:lstStyle/>
          <a:p>
            <a:pPr indent="0" marL="0">
              <a:buNone/>
            </a:pPr>
            <a:r>
              <a:rPr lang="en-US" sz="1050" dirty="0">
                <a:solidFill>
                  <a:srgbClr val="9A6410"/>
                </a:solidFill>
                <a:latin typeface="Calibri" pitchFamily="34" charset="0"/>
                <a:ea typeface="Calibri" pitchFamily="34" charset="-122"/>
                <a:cs typeface="Calibri" pitchFamily="34" charset="-120"/>
              </a:rPr>
              <a:t>CANNOT START UNTIL   A PKCS#11 token implementing ML-KEM, ML-DSA and SLH-DSA. SoftHSM's work on these is in the development tree, not in any release.</a:t>
            </a:r>
            <a:endParaRPr lang="en-US" sz="1050" dirty="0"/>
          </a:p>
        </p:txBody>
      </p:sp>
      <p:sp>
        <p:nvSpPr>
          <p:cNvPr id="9" name="Shape 7"/>
          <p:cNvSpPr/>
          <p:nvPr/>
        </p:nvSpPr>
        <p:spPr>
          <a:xfrm>
            <a:off x="566928" y="2414016"/>
            <a:ext cx="5486400" cy="3537204"/>
          </a:xfrm>
          <a:prstGeom prst="roundRect">
            <a:avLst>
              <a:gd name="adj" fmla="val 1551"/>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822960" y="2633472"/>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11" name="Text 9"/>
          <p:cNvSpPr txBox="1"/>
          <p:nvPr/>
        </p:nvSpPr>
        <p:spPr>
          <a:xfrm>
            <a:off x="822960" y="2926080"/>
            <a:ext cx="4974336" cy="284226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Little changes in the code. The change is in what the deployment can claim, which is the point of the row.</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Hybrid objects are the one genuinely new modelling problem, and the one most likely to be got wrong quietly.</a:t>
            </a:r>
            <a:endParaRPr lang="en-US" sz="1250" dirty="0"/>
          </a:p>
        </p:txBody>
      </p:sp>
      <p:sp>
        <p:nvSpPr>
          <p:cNvPr id="12" name="Shape 10"/>
          <p:cNvSpPr/>
          <p:nvPr/>
        </p:nvSpPr>
        <p:spPr>
          <a:xfrm>
            <a:off x="6327648" y="2414016"/>
            <a:ext cx="5266944" cy="3537204"/>
          </a:xfrm>
          <a:prstGeom prst="roundRect">
            <a:avLst>
              <a:gd name="adj" fmla="val 1551"/>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6583680" y="2633472"/>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4" name="Text 12"/>
          <p:cNvSpPr txBox="1"/>
          <p:nvPr/>
        </p:nvSpPr>
        <p:spPr>
          <a:xfrm>
            <a:off x="6583680" y="2926080"/>
            <a:ext cx="4754880" cy="284226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No new design. The capability probe already gates every algorithm on what the token advertises, so a PQC-capable token activates these the moment it is configured — the work is proving it, not building it.</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Hybrid modes, where a classical and a post-quantum algorithm are used together, need explicit modelling: two keys, one logical object, and a lineage that survives retiring either half.</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Migration guidance matters more than the algorithms here: an estate moves to PQC over years, and the crypto-agility report from step 2 is what makes that planning possible.</a:t>
            </a:r>
            <a:endParaRPr lang="en-US"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24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Post-quantum and full algorithm breadth</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Run ML-KEM, ML-DSA and SLH-DSA, and light up the algorithms the current token cannot perform.</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H</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Algorithm and mechanism mappings for the FIPS 203, 204 and 205 families, and hybrid key-pair objects in the object model.</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2 GAP-MATRIX FEATURES</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Post-quantum (ML-KEM, ML-DSA, SLH-DSA)</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Algorithm breadth</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~800 lines, ~45 tests. Small, because the probe architecture did the work years earlier.</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24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Post-quantum and full algorithm breadth</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Run ML-KEM, ML-DSA and SLH-DSA, and light up the algorithms the current token cannot perform.</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H</a:t>
            </a:r>
            <a:endParaRPr lang="en-US" sz="1100" dirty="0"/>
          </a:p>
        </p:txBody>
      </p:sp>
      <p:sp>
        <p:nvSpPr>
          <p:cNvPr id="7" name="Shape 5"/>
          <p:cNvSpPr/>
          <p:nvPr/>
        </p:nvSpPr>
        <p:spPr>
          <a:xfrm>
            <a:off x="566928" y="2103120"/>
            <a:ext cx="11027664" cy="2495169"/>
          </a:xfrm>
          <a:prstGeom prst="roundRect">
            <a:avLst>
              <a:gd name="adj" fmla="val 219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800225"/>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full suite runs against the PQC token with the new algorithms exercised end to end, not merely advertised.</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Encapsulate and Decapsulate against ML-KEM interoperate with a reference implementation, not only with ourselves.</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hybrid object survives rotation of either half with lineage intact.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capability probe degrades correctly: on a token without these, requests are refused cleanly and everything else still works.</a:t>
            </a:r>
            <a:endParaRPr lang="en-US" sz="1250" dirty="0"/>
          </a:p>
        </p:txBody>
      </p:sp>
      <p:sp>
        <p:nvSpPr>
          <p:cNvPr id="10" name="Shape 8"/>
          <p:cNvSpPr/>
          <p:nvPr/>
        </p:nvSpPr>
        <p:spPr>
          <a:xfrm>
            <a:off x="566928" y="4872609"/>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5018913"/>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982337"/>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The suite passes on a PQC-capable token with ML-KEM and ML-DSA exercised, and unchanged on a token without them.</a:t>
            </a:r>
            <a:endParaRPr lang="en-US" sz="12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25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Validated hardware migration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Move to a token that is certified, and that can enforce policy the server currently enforces for it.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I</a:t>
            </a:r>
            <a:endParaRPr lang="en-US" sz="1100" dirty="0"/>
          </a:p>
        </p:txBody>
      </p:sp>
      <p:sp>
        <p:nvSpPr>
          <p:cNvPr id="7" name="Shape 5"/>
          <p:cNvSpPr/>
          <p:nvPr/>
        </p:nvSpPr>
        <p:spPr>
          <a:xfrm>
            <a:off x="566928" y="1938528"/>
            <a:ext cx="11027664" cy="365760"/>
          </a:xfrm>
          <a:prstGeom prst="roundRect">
            <a:avLst>
              <a:gd name="adj" fmla="val 12500"/>
            </a:avLst>
          </a:prstGeom>
          <a:solidFill>
            <a:srgbClr val="FBF3E3"/>
          </a:solidFill>
          <a:ln w="12700">
            <a:solidFill>
              <a:srgbClr val="E8D5A8"/>
            </a:solidFill>
            <a:prstDash val="solid"/>
          </a:ln>
        </p:spPr>
      </p:sp>
      <p:sp>
        <p:nvSpPr>
          <p:cNvPr id="8" name="Text 6"/>
          <p:cNvSpPr txBox="1"/>
          <p:nvPr/>
        </p:nvSpPr>
        <p:spPr>
          <a:xfrm>
            <a:off x="786384" y="1938528"/>
            <a:ext cx="10588752" cy="365760"/>
          </a:xfrm>
          <a:prstGeom prst="rect">
            <a:avLst/>
          </a:prstGeom>
          <a:noFill/>
          <a:ln/>
        </p:spPr>
        <p:txBody>
          <a:bodyPr wrap="square" lIns="0" tIns="0" rIns="0" bIns="0" rtlCol="0" anchor="ctr"/>
          <a:lstStyle/>
          <a:p>
            <a:pPr indent="0" marL="0">
              <a:buNone/>
            </a:pPr>
            <a:r>
              <a:rPr lang="en-US" sz="1050" dirty="0">
                <a:solidFill>
                  <a:srgbClr val="9A6410"/>
                </a:solidFill>
                <a:latin typeface="Calibri" pitchFamily="34" charset="0"/>
                <a:ea typeface="Calibri" pitchFamily="34" charset="-122"/>
                <a:cs typeface="Calibri" pitchFamily="34" charset="-120"/>
              </a:rPr>
              <a:t>CANNOT START UNTIL   A FIPS 140-3 and Common Criteria validated HSM, ideally one supporting key-bound approval policy.</a:t>
            </a:r>
            <a:endParaRPr lang="en-US" sz="1050" dirty="0"/>
          </a:p>
        </p:txBody>
      </p:sp>
      <p:sp>
        <p:nvSpPr>
          <p:cNvPr id="9" name="Shape 7"/>
          <p:cNvSpPr/>
          <p:nvPr/>
        </p:nvSpPr>
        <p:spPr>
          <a:xfrm>
            <a:off x="566928" y="2414016"/>
            <a:ext cx="5486400" cy="3537204"/>
          </a:xfrm>
          <a:prstGeom prst="roundRect">
            <a:avLst>
              <a:gd name="adj" fmla="val 1551"/>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822960" y="2633472"/>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11" name="Text 9"/>
          <p:cNvSpPr txBox="1"/>
          <p:nvPr/>
        </p:nvSpPr>
        <p:spPr>
          <a:xfrm>
            <a:off x="822960" y="2926080"/>
            <a:ext cx="4974336" cy="284226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strongest single improvement to the product's security posture in this plan, and the one requiring the least code.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It also tests the project's central architectural bet — that the PKCS#11 boundary makes the token swappable. If that bet is wrong, this is where it shows.</a:t>
            </a:r>
            <a:endParaRPr lang="en-US" sz="1250" dirty="0"/>
          </a:p>
        </p:txBody>
      </p:sp>
      <p:sp>
        <p:nvSpPr>
          <p:cNvPr id="12" name="Shape 10"/>
          <p:cNvSpPr/>
          <p:nvPr/>
        </p:nvSpPr>
        <p:spPr>
          <a:xfrm>
            <a:off x="6327648" y="2414016"/>
            <a:ext cx="5266944" cy="3537204"/>
          </a:xfrm>
          <a:prstGeom prst="roundRect">
            <a:avLst>
              <a:gd name="adj" fmla="val 1551"/>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6583680" y="2633472"/>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4" name="Text 12"/>
          <p:cNvSpPr txBox="1"/>
          <p:nvPr/>
        </p:nvSpPr>
        <p:spPr>
          <a:xfrm>
            <a:off x="6583680" y="2926080"/>
            <a:ext cx="4754880" cy="284226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Run the entire suite against a FIPS 140-3 and Common Criteria validated HSM. The PKCS#11 boundary is what makes this a configuration change rather than a rewrite — and this step is the first time that claim is tested rather than asserted.</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Move dual control into the key where the token supports it. Securosys Smart Key Attributes are the reference: quorum and time-lock carried in the key's own attributes, so compromising this server no longer compromises the policy.</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Server-side dual control stays as the fallback for tokens without it, and the two must not disagree.</a:t>
            </a:r>
            <a:endParaRPr lang="en-US"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25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Validated hardware migration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Move to a token that is certified, and that can enforce policy the server currently enforces for it.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I</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 token-capability layer above the shim that uses key-bound policy where offered and the existing enforcement where not, reporting which is in force.</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3 GAP-MATRIX FEATURES</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FIPS 140-2/3 validated HSM</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Common Criteria / eIDAS</a:t>
            </a:r>
            <a:endParaRPr lang="en-US" sz="1200" dirty="0"/>
          </a:p>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Key-bound usage policy enforced in hardware</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~600 lines, ~40 tests, plus the hardware and the validation reading.</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25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Validated hardware migration</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Move to a token that is certified, and that can enforce policy the server currently enforces for it.</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I</a:t>
            </a:r>
            <a:endParaRPr lang="en-US" sz="1100" dirty="0"/>
          </a:p>
        </p:txBody>
      </p:sp>
      <p:sp>
        <p:nvSpPr>
          <p:cNvPr id="7" name="Shape 5"/>
          <p:cNvSpPr/>
          <p:nvPr/>
        </p:nvSpPr>
        <p:spPr>
          <a:xfrm>
            <a:off x="566928" y="2103120"/>
            <a:ext cx="11027664" cy="2288794"/>
          </a:xfrm>
          <a:prstGeom prst="roundRect">
            <a:avLst>
              <a:gd name="adj" fmla="val 239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59385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full suite passes on validated hardware with no test modified — any modification means the abstraction leaked.</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With key-bound policy active, an operation is refused by the token even when the server is made to approve it. That is the whole point of the row and the only test that demonstrates it.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Which enforcement is in force appears in the audit record, so an auditor can tell the two apart.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Migration moves keys between tokens without exposing material.</a:t>
            </a:r>
            <a:endParaRPr lang="en-US" sz="1250" dirty="0"/>
          </a:p>
        </p:txBody>
      </p:sp>
      <p:sp>
        <p:nvSpPr>
          <p:cNvPr id="10" name="Shape 8"/>
          <p:cNvSpPr/>
          <p:nvPr/>
        </p:nvSpPr>
        <p:spPr>
          <a:xfrm>
            <a:off x="566928" y="4666234"/>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812538"/>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775962"/>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The suite passes on validated hardware, and a deliberately compromised server cannot obtain a key whose policy lives in the token.</a:t>
            </a:r>
            <a:endParaRPr lang="en-US" sz="12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26 OF 26 · DESIGN IMPACT</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Confidential computing deployment</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Run where the host operator cannot read the process.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I</a:t>
            </a:r>
            <a:endParaRPr lang="en-US" sz="1100" dirty="0"/>
          </a:p>
        </p:txBody>
      </p:sp>
      <p:sp>
        <p:nvSpPr>
          <p:cNvPr id="7" name="Shape 5"/>
          <p:cNvSpPr/>
          <p:nvPr/>
        </p:nvSpPr>
        <p:spPr>
          <a:xfrm>
            <a:off x="566928" y="1938528"/>
            <a:ext cx="11027664" cy="365760"/>
          </a:xfrm>
          <a:prstGeom prst="roundRect">
            <a:avLst>
              <a:gd name="adj" fmla="val 12500"/>
            </a:avLst>
          </a:prstGeom>
          <a:solidFill>
            <a:srgbClr val="FBF3E3"/>
          </a:solidFill>
          <a:ln w="12700">
            <a:solidFill>
              <a:srgbClr val="E8D5A8"/>
            </a:solidFill>
            <a:prstDash val="solid"/>
          </a:ln>
        </p:spPr>
      </p:sp>
      <p:sp>
        <p:nvSpPr>
          <p:cNvPr id="8" name="Text 6"/>
          <p:cNvSpPr txBox="1"/>
          <p:nvPr/>
        </p:nvSpPr>
        <p:spPr>
          <a:xfrm>
            <a:off x="786384" y="1938528"/>
            <a:ext cx="10588752" cy="365760"/>
          </a:xfrm>
          <a:prstGeom prst="rect">
            <a:avLst/>
          </a:prstGeom>
          <a:noFill/>
          <a:ln/>
        </p:spPr>
        <p:txBody>
          <a:bodyPr wrap="square" lIns="0" tIns="0" rIns="0" bIns="0" rtlCol="0" anchor="ctr"/>
          <a:lstStyle/>
          <a:p>
            <a:pPr indent="0" marL="0">
              <a:buNone/>
            </a:pPr>
            <a:r>
              <a:rPr lang="en-US" sz="1050" dirty="0">
                <a:solidFill>
                  <a:srgbClr val="9A6410"/>
                </a:solidFill>
                <a:latin typeface="Calibri" pitchFamily="34" charset="0"/>
                <a:ea typeface="Calibri" pitchFamily="34" charset="-122"/>
                <a:cs typeface="Calibri" pitchFamily="34" charset="-120"/>
              </a:rPr>
              <a:t>CANNOT START UNTIL   A confidential-computing platform with remote attestation.</a:t>
            </a:r>
            <a:endParaRPr lang="en-US" sz="1050" dirty="0"/>
          </a:p>
        </p:txBody>
      </p:sp>
      <p:sp>
        <p:nvSpPr>
          <p:cNvPr id="9" name="Shape 7"/>
          <p:cNvSpPr/>
          <p:nvPr/>
        </p:nvSpPr>
        <p:spPr>
          <a:xfrm>
            <a:off x="566928" y="2414016"/>
            <a:ext cx="5486400" cy="2942844"/>
          </a:xfrm>
          <a:prstGeom prst="roundRect">
            <a:avLst>
              <a:gd name="adj" fmla="val 1864"/>
            </a:avLst>
          </a:prstGeom>
          <a:solidFill>
            <a:srgbClr val="FBF3E3"/>
          </a:solidFill>
          <a:ln w="12700">
            <a:solidFill>
              <a:srgbClr val="FBF3E3"/>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822960" y="2633472"/>
            <a:ext cx="497433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WHAT CHANGES IN THE EXISTING DESIGN</a:t>
            </a:r>
            <a:endParaRPr lang="en-US" sz="1000" dirty="0"/>
          </a:p>
        </p:txBody>
      </p:sp>
      <p:sp>
        <p:nvSpPr>
          <p:cNvPr id="11" name="Text 9"/>
          <p:cNvSpPr txBox="1"/>
          <p:nvPr/>
        </p:nvSpPr>
        <p:spPr>
          <a:xfrm>
            <a:off x="822960" y="2926080"/>
            <a:ext cx="4974336" cy="2247900"/>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threat model changes: the host operator becomes an adversary, which is a different assumption from every other step here.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Attestation makes deployment auditable in a way a configuration file never is.</a:t>
            </a:r>
            <a:endParaRPr lang="en-US" sz="1250" dirty="0"/>
          </a:p>
        </p:txBody>
      </p:sp>
      <p:sp>
        <p:nvSpPr>
          <p:cNvPr id="12" name="Shape 10"/>
          <p:cNvSpPr/>
          <p:nvPr/>
        </p:nvSpPr>
        <p:spPr>
          <a:xfrm>
            <a:off x="6327648" y="2414016"/>
            <a:ext cx="5266944" cy="2942844"/>
          </a:xfrm>
          <a:prstGeom prst="roundRect">
            <a:avLst>
              <a:gd name="adj" fmla="val 1864"/>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6583680" y="2633472"/>
            <a:ext cx="475488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THE SHAPE OF THE SOLUTION</a:t>
            </a:r>
            <a:endParaRPr lang="en-US" sz="1000" dirty="0"/>
          </a:p>
        </p:txBody>
      </p:sp>
      <p:sp>
        <p:nvSpPr>
          <p:cNvPr id="14" name="Text 12"/>
          <p:cNvSpPr txBox="1"/>
          <p:nvPr/>
        </p:nvSpPr>
        <p:spPr>
          <a:xfrm>
            <a:off x="6583680" y="2926080"/>
            <a:ext cx="4754880" cy="2247900"/>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Deployment inside a confidential VM or enclave, with remote attestation a client can check before trusting the service.</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The store has to assume an untrusted host: everything sensitive stays encrypted outside the enclave, which the envelope encryption from Phase 1 already mostly provides.</a:t>
            </a:r>
            <a:endParaRPr lang="en-US" sz="1200" dirty="0"/>
          </a:p>
          <a:p>
            <a:pPr marL="342900" indent="-342900">
              <a:lnSpc>
                <a:spcPts val="1560"/>
              </a:lnSpc>
              <a:spcAft>
                <a:spcPts val="700"/>
              </a:spcAft>
              <a:buSzPct val="100000"/>
              <a:buChar char="•"/>
            </a:pPr>
            <a:r>
              <a:rPr lang="en-US" sz="1200" dirty="0">
                <a:solidFill>
                  <a:srgbClr val="4D5A68"/>
                </a:solidFill>
                <a:latin typeface="Calibri" pitchFamily="34" charset="0"/>
                <a:ea typeface="Calibri" pitchFamily="34" charset="-122"/>
                <a:cs typeface="Calibri" pitchFamily="34" charset="-120"/>
              </a:rPr>
              <a:t>Attestation is the deliverable, not the VM. A confidential VM nobody verifies is a normal VM with a longer invoice.</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26 OF 26 · PROPOSED SOLUTION</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Confidential computing deployment</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Run where the host operator cannot read the process.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I</a:t>
            </a:r>
            <a:endParaRPr lang="en-US" sz="1100" dirty="0"/>
          </a:p>
        </p:txBody>
      </p:sp>
      <p:sp>
        <p:nvSpPr>
          <p:cNvPr id="7" name="Shape 5"/>
          <p:cNvSpPr/>
          <p:nvPr/>
        </p:nvSpPr>
        <p:spPr>
          <a:xfrm>
            <a:off x="566928" y="2103120"/>
            <a:ext cx="6766560"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62544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GETS BUILT</a:t>
            </a:r>
            <a:endParaRPr lang="en-US" sz="1000" dirty="0"/>
          </a:p>
        </p:txBody>
      </p:sp>
      <p:sp>
        <p:nvSpPr>
          <p:cNvPr id="9" name="Text 7"/>
          <p:cNvSpPr txBox="1"/>
          <p:nvPr/>
        </p:nvSpPr>
        <p:spPr>
          <a:xfrm>
            <a:off x="822960" y="2615184"/>
            <a:ext cx="6254496"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An attestation endpoint serving the platform's evidence, and a deployment guide per platform.</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Startup refuses to unseal outside a verified enclave when configured to require one.</a:t>
            </a:r>
            <a:endParaRPr lang="en-US" sz="1250" dirty="0"/>
          </a:p>
        </p:txBody>
      </p:sp>
      <p:sp>
        <p:nvSpPr>
          <p:cNvPr id="10" name="Shape 8"/>
          <p:cNvSpPr/>
          <p:nvPr/>
        </p:nvSpPr>
        <p:spPr>
          <a:xfrm>
            <a:off x="7607808" y="2103120"/>
            <a:ext cx="3986784" cy="1920240"/>
          </a:xfrm>
          <a:prstGeom prst="roundRect">
            <a:avLst>
              <a:gd name="adj" fmla="val 2857"/>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7863840" y="2322576"/>
            <a:ext cx="3474720"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CLOSES 1 GAP-MATRIX FEATURE</a:t>
            </a:r>
            <a:endParaRPr lang="en-US" sz="1000" dirty="0"/>
          </a:p>
        </p:txBody>
      </p:sp>
      <p:sp>
        <p:nvSpPr>
          <p:cNvPr id="12" name="Text 10"/>
          <p:cNvSpPr txBox="1"/>
          <p:nvPr/>
        </p:nvSpPr>
        <p:spPr>
          <a:xfrm>
            <a:off x="7863840" y="2615184"/>
            <a:ext cx="3474720" cy="1225296"/>
          </a:xfrm>
          <a:prstGeom prst="rect">
            <a:avLst/>
          </a:prstGeom>
          <a:noFill/>
          <a:ln/>
        </p:spPr>
        <p:txBody>
          <a:bodyPr wrap="square" lIns="0" tIns="0" rIns="0" bIns="0" rtlCol="0" anchor="t"/>
          <a:lstStyle/>
          <a:p>
            <a:pPr marL="342900" indent="-342900">
              <a:lnSpc>
                <a:spcPts val="1560"/>
              </a:lnSpc>
              <a:spcAft>
                <a:spcPts val="700"/>
              </a:spcAft>
              <a:buSzPct val="100000"/>
              <a:buChar char="•"/>
            </a:pPr>
            <a:r>
              <a:rPr lang="en-US" sz="1200" dirty="0">
                <a:solidFill>
                  <a:srgbClr val="1A3A5C"/>
                </a:solidFill>
                <a:latin typeface="Calibri" pitchFamily="34" charset="0"/>
                <a:ea typeface="Calibri" pitchFamily="34" charset="-122"/>
                <a:cs typeface="Calibri" pitchFamily="34" charset="-120"/>
              </a:rPr>
              <a:t>Confidential computing deployment</a:t>
            </a:r>
            <a:endParaRPr lang="en-US" sz="1200" dirty="0"/>
          </a:p>
        </p:txBody>
      </p:sp>
      <p:sp>
        <p:nvSpPr>
          <p:cNvPr id="13" name="Text 11"/>
          <p:cNvSpPr txBox="1"/>
          <p:nvPr/>
        </p:nvSpPr>
        <p:spPr>
          <a:xfrm>
            <a:off x="566928" y="6272784"/>
            <a:ext cx="11027664" cy="310896"/>
          </a:xfrm>
          <a:prstGeom prst="rect">
            <a:avLst/>
          </a:prstGeom>
          <a:noFill/>
          <a:ln/>
        </p:spPr>
        <p:txBody>
          <a:bodyPr wrap="square" lIns="0" tIns="0" rIns="0" bIns="0" rtlCol="0" anchor="ctr"/>
          <a:lstStyle/>
          <a:p>
            <a:pPr indent="0" marL="0">
              <a:buNone/>
            </a:pPr>
            <a:r>
              <a:rPr lang="en-US" sz="1050" i="1" dirty="0">
                <a:solidFill>
                  <a:srgbClr val="7B8794"/>
                </a:solidFill>
                <a:latin typeface="Calibri" pitchFamily="34" charset="0"/>
                <a:ea typeface="Calibri" pitchFamily="34" charset="-122"/>
                <a:cs typeface="Calibri" pitchFamily="34" charset="-120"/>
              </a:rPr>
              <a:t>Estimated size: ~500 lines, ~25 tests, plus the platform.</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STEP 26 OF 26 · TEST STRATEGY</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1A3A5C"/>
                </a:solidFill>
                <a:latin typeface="Cambria" pitchFamily="34" charset="0"/>
                <a:ea typeface="Cambria" pitchFamily="34" charset="-122"/>
                <a:cs typeface="Cambria" pitchFamily="34" charset="-120"/>
              </a:rPr>
              <a:t>Confidential computing deployment</a:t>
            </a:r>
            <a:endParaRPr lang="en-US" sz="3000" dirty="0"/>
          </a:p>
        </p:txBody>
      </p:sp>
      <p:sp>
        <p:nvSpPr>
          <p:cNvPr id="4" name="Shape 2"/>
          <p:cNvSpPr/>
          <p:nvPr/>
        </p:nvSpPr>
        <p:spPr>
          <a:xfrm>
            <a:off x="566928" y="1389888"/>
            <a:ext cx="11027664" cy="475488"/>
          </a:xfrm>
          <a:prstGeom prst="roundRect">
            <a:avLst>
              <a:gd name="adj" fmla="val 11538"/>
            </a:avLst>
          </a:prstGeom>
          <a:solidFill>
            <a:srgbClr val="1A3A5C"/>
          </a:solidFill>
          <a:ln w="12700">
            <a:solidFill>
              <a:srgbClr val="1A3A5C"/>
            </a:solidFill>
            <a:prstDash val="solid"/>
          </a:ln>
        </p:spPr>
      </p:sp>
      <p:sp>
        <p:nvSpPr>
          <p:cNvPr id="5" name="Text 3"/>
          <p:cNvSpPr txBox="1"/>
          <p:nvPr/>
        </p:nvSpPr>
        <p:spPr>
          <a:xfrm>
            <a:off x="822960" y="1389888"/>
            <a:ext cx="9290304" cy="475488"/>
          </a:xfrm>
          <a:prstGeom prst="rect">
            <a:avLst/>
          </a:prstGeom>
          <a:noFill/>
          <a:ln/>
        </p:spPr>
        <p:txBody>
          <a:bodyPr wrap="square" lIns="0" tIns="0" rIns="0" bIns="0" rtlCol="0" anchor="ctr"/>
          <a:lstStyle/>
          <a:p>
            <a:pPr indent="0" marL="0">
              <a:buNone/>
            </a:pPr>
            <a:r>
              <a:rPr lang="en-US" sz="1200" dirty="0">
                <a:solidFill>
                  <a:srgbClr val="C9DAEA"/>
                </a:solidFill>
                <a:latin typeface="Calibri" pitchFamily="34" charset="0"/>
                <a:ea typeface="Calibri" pitchFamily="34" charset="-122"/>
                <a:cs typeface="Calibri" pitchFamily="34" charset="-120"/>
              </a:rPr>
              <a:t>Run where the host operator cannot read the process.</a:t>
            </a:r>
            <a:endParaRPr lang="en-US" sz="1200" dirty="0"/>
          </a:p>
        </p:txBody>
      </p:sp>
      <p:sp>
        <p:nvSpPr>
          <p:cNvPr id="6" name="Text 4"/>
          <p:cNvSpPr txBox="1"/>
          <p:nvPr/>
        </p:nvSpPr>
        <p:spPr>
          <a:xfrm>
            <a:off x="10177272" y="1389888"/>
            <a:ext cx="1188720" cy="475488"/>
          </a:xfrm>
          <a:prstGeom prst="rect">
            <a:avLst/>
          </a:prstGeom>
          <a:noFill/>
          <a:ln/>
        </p:spPr>
        <p:txBody>
          <a:bodyPr wrap="square" lIns="0" tIns="0" rIns="0" bIns="0" rtlCol="0" anchor="ctr"/>
          <a:lstStyle/>
          <a:p>
            <a:pPr algn="r" indent="0" marL="0">
              <a:buNone/>
            </a:pPr>
            <a:r>
              <a:rPr lang="en-US" sz="1100" b="1" dirty="0">
                <a:solidFill>
                  <a:srgbClr val="C8952B"/>
                </a:solidFill>
                <a:latin typeface="Calibri" pitchFamily="34" charset="0"/>
                <a:ea typeface="Calibri" pitchFamily="34" charset="-122"/>
                <a:cs typeface="Calibri" pitchFamily="34" charset="-120"/>
              </a:rPr>
              <a:t>Stage I</a:t>
            </a:r>
            <a:endParaRPr lang="en-US" sz="1100" dirty="0"/>
          </a:p>
        </p:txBody>
      </p:sp>
      <p:sp>
        <p:nvSpPr>
          <p:cNvPr id="7" name="Shape 5"/>
          <p:cNvSpPr/>
          <p:nvPr/>
        </p:nvSpPr>
        <p:spPr>
          <a:xfrm>
            <a:off x="566928" y="2103120"/>
            <a:ext cx="11027664" cy="1920240"/>
          </a:xfrm>
          <a:prstGeom prst="roundRect">
            <a:avLst>
              <a:gd name="adj" fmla="val 285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822960" y="2322576"/>
            <a:ext cx="10515600"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WHAT THE TESTS HAVE TO PROVE</a:t>
            </a:r>
            <a:endParaRPr lang="en-US" sz="1000" dirty="0"/>
          </a:p>
        </p:txBody>
      </p:sp>
      <p:sp>
        <p:nvSpPr>
          <p:cNvPr id="9" name="Text 7"/>
          <p:cNvSpPr txBox="1"/>
          <p:nvPr/>
        </p:nvSpPr>
        <p:spPr>
          <a:xfrm>
            <a:off x="822960" y="2615184"/>
            <a:ext cx="10515600" cy="1225296"/>
          </a:xfrm>
          <a:prstGeom prst="rect">
            <a:avLst/>
          </a:prstGeom>
          <a:noFill/>
          <a:ln/>
        </p:spPr>
        <p:txBody>
          <a:bodyPr wrap="square" lIns="0" tIns="0" rIns="0" bIns="0" rtlCol="0" anchor="t"/>
          <a:lstStyle/>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Attestation evidence verifies against the platform's root, and a tampered measurement fails it.</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The service refuses to start outside an enclave when configured to require one.</a:t>
            </a:r>
            <a:endParaRPr lang="en-US" sz="1250" dirty="0"/>
          </a:p>
          <a:p>
            <a:pPr marL="342900" indent="-342900">
              <a:lnSpc>
                <a:spcPts val="1625"/>
              </a:lnSpc>
              <a:spcAft>
                <a:spcPts val="700"/>
              </a:spcAft>
              <a:buSzPct val="100000"/>
              <a:buChar char="•"/>
            </a:pPr>
            <a:r>
              <a:rPr lang="en-US" sz="1250" dirty="0">
                <a:solidFill>
                  <a:srgbClr val="4D5A68"/>
                </a:solidFill>
                <a:latin typeface="Calibri" pitchFamily="34" charset="0"/>
                <a:ea typeface="Calibri" pitchFamily="34" charset="-122"/>
                <a:cs typeface="Calibri" pitchFamily="34" charset="-120"/>
              </a:rPr>
              <a:t>Everything leaving the enclave is encrypted, checked by inspecting what actually lands on the host disk rather than by reading the code — the WAL sidecar in Phase 1 is the precedent for why.</a:t>
            </a:r>
            <a:endParaRPr lang="en-US" sz="1250" dirty="0"/>
          </a:p>
        </p:txBody>
      </p:sp>
      <p:sp>
        <p:nvSpPr>
          <p:cNvPr id="10" name="Shape 8"/>
          <p:cNvSpPr/>
          <p:nvPr/>
        </p:nvSpPr>
        <p:spPr>
          <a:xfrm>
            <a:off x="566928" y="4297680"/>
            <a:ext cx="11027664" cy="914400"/>
          </a:xfrm>
          <a:prstGeom prst="roundRect">
            <a:avLst>
              <a:gd name="adj" fmla="val 6000"/>
            </a:avLst>
          </a:prstGeom>
          <a:solidFill>
            <a:srgbClr val="E2F0E7"/>
          </a:solidFill>
          <a:ln w="12700">
            <a:solidFill>
              <a:srgbClr val="E2F0E7"/>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22960" y="4443984"/>
            <a:ext cx="914400" cy="219456"/>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GATE</a:t>
            </a:r>
            <a:endParaRPr lang="en-US" sz="1000" dirty="0"/>
          </a:p>
        </p:txBody>
      </p:sp>
      <p:sp>
        <p:nvSpPr>
          <p:cNvPr id="12" name="Text 10"/>
          <p:cNvSpPr txBox="1"/>
          <p:nvPr/>
        </p:nvSpPr>
        <p:spPr>
          <a:xfrm>
            <a:off x="1773936" y="4407408"/>
            <a:ext cx="9564624" cy="694944"/>
          </a:xfrm>
          <a:prstGeom prst="rect">
            <a:avLst/>
          </a:prstGeom>
          <a:noFill/>
          <a:ln/>
        </p:spPr>
        <p:txBody>
          <a:bodyPr wrap="square" lIns="0" tIns="0" rIns="0" bIns="0" rtlCol="0" anchor="ctr"/>
          <a:lstStyle/>
          <a:p>
            <a:pPr indent="0" marL="0">
              <a:buNone/>
            </a:pPr>
            <a:r>
              <a:rPr lang="en-US" sz="1250" dirty="0">
                <a:solidFill>
                  <a:srgbClr val="1A3A5C"/>
                </a:solidFill>
                <a:latin typeface="Calibri" pitchFamily="34" charset="0"/>
                <a:ea typeface="Calibri" pitchFamily="34" charset="-122"/>
                <a:cs typeface="Calibri" pitchFamily="34" charset="-120"/>
              </a:rPr>
              <a:t>A client verifies the attestation before connecting, and a modified image fails verification.</a:t>
            </a:r>
            <a:endParaRPr lang="en-US" sz="12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AFTER STEP 26</a:t>
            </a:r>
            <a:endParaRPr lang="en-US" sz="1150" dirty="0"/>
          </a:p>
        </p:txBody>
      </p:sp>
      <p:sp>
        <p:nvSpPr>
          <p:cNvPr id="3" name="Text 1"/>
          <p:cNvSpPr txBox="1"/>
          <p:nvPr/>
        </p:nvSpPr>
        <p:spPr>
          <a:xfrm>
            <a:off x="566928" y="621792"/>
            <a:ext cx="11027664"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the plan waits on</a:t>
            </a:r>
            <a:endParaRPr lang="en-US" sz="3000" dirty="0"/>
          </a:p>
        </p:txBody>
      </p:sp>
      <p:sp>
        <p:nvSpPr>
          <p:cNvPr id="4" name="Shape 2"/>
          <p:cNvSpPr/>
          <p:nvPr/>
        </p:nvSpPr>
        <p:spPr>
          <a:xfrm>
            <a:off x="566928" y="1517904"/>
            <a:ext cx="512064" cy="512064"/>
          </a:xfrm>
          <a:prstGeom prst="roundRect">
            <a:avLst>
              <a:gd name="adj" fmla="val 10714"/>
            </a:avLst>
          </a:prstGeom>
          <a:solidFill>
            <a:srgbClr val="C8952B"/>
          </a:solidFill>
          <a:ln w="12700">
            <a:solidFill>
              <a:srgbClr val="C8952B"/>
            </a:solidFill>
            <a:prstDash val="solid"/>
          </a:ln>
        </p:spPr>
      </p:sp>
      <p:sp>
        <p:nvSpPr>
          <p:cNvPr id="5" name="Text 3"/>
          <p:cNvSpPr txBox="1"/>
          <p:nvPr/>
        </p:nvSpPr>
        <p:spPr>
          <a:xfrm>
            <a:off x="566928" y="1517904"/>
            <a:ext cx="512064" cy="512064"/>
          </a:xfrm>
          <a:prstGeom prst="rect">
            <a:avLst/>
          </a:prstGeom>
          <a:noFill/>
          <a:ln/>
        </p:spPr>
        <p:txBody>
          <a:bodyPr wrap="square" lIns="0" tIns="0" rIns="0" bIns="0" rtlCol="0" anchor="ctr"/>
          <a:lstStyle/>
          <a:p>
            <a:pPr algn="ctr" indent="0" marL="0">
              <a:buNone/>
            </a:pPr>
            <a:r>
              <a:rPr lang="en-US" sz="1700" b="1" dirty="0">
                <a:solidFill>
                  <a:srgbClr val="102437"/>
                </a:solidFill>
                <a:latin typeface="Cambria" pitchFamily="34" charset="0"/>
                <a:ea typeface="Cambria" pitchFamily="34" charset="-122"/>
                <a:cs typeface="Cambria" pitchFamily="34" charset="-120"/>
              </a:rPr>
              <a:t>19</a:t>
            </a:r>
            <a:endParaRPr lang="en-US" sz="1700" dirty="0"/>
          </a:p>
        </p:txBody>
      </p:sp>
      <p:sp>
        <p:nvSpPr>
          <p:cNvPr id="6" name="Text 4"/>
          <p:cNvSpPr txBox="1"/>
          <p:nvPr/>
        </p:nvSpPr>
        <p:spPr>
          <a:xfrm>
            <a:off x="1225296" y="1481328"/>
            <a:ext cx="475488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Vendor interoperability validation</a:t>
            </a:r>
            <a:endParaRPr lang="en-US" sz="1300" dirty="0"/>
          </a:p>
        </p:txBody>
      </p:sp>
      <p:sp>
        <p:nvSpPr>
          <p:cNvPr id="7" name="Text 5"/>
          <p:cNvSpPr txBox="1"/>
          <p:nvPr/>
        </p:nvSpPr>
        <p:spPr>
          <a:xfrm>
            <a:off x="1225296" y="1755648"/>
            <a:ext cx="4754880" cy="530352"/>
          </a:xfrm>
          <a:prstGeom prst="rect">
            <a:avLst/>
          </a:prstGeom>
          <a:noFill/>
          <a:ln/>
        </p:spPr>
        <p:txBody>
          <a:bodyPr wrap="square" lIns="0" tIns="0" rIns="0" bIns="0" rtlCol="0" anchor="ctr"/>
          <a:lstStyle/>
          <a:p>
            <a:pPr indent="0" marL="0">
              <a:lnSpc>
                <a:spcPts val="1300"/>
              </a:lnSpc>
              <a:buNone/>
            </a:pPr>
            <a:r>
              <a:rPr lang="en-US" sz="1050" dirty="0">
                <a:solidFill>
                  <a:srgbClr val="9DB8D4"/>
                </a:solidFill>
                <a:latin typeface="Calibri" pitchFamily="34" charset="0"/>
                <a:ea typeface="Calibri" pitchFamily="34" charset="-122"/>
                <a:cs typeface="Calibri" pitchFamily="34" charset="-120"/>
              </a:rPr>
              <a:t>Licences for, or access to, the vendor products being validated.</a:t>
            </a:r>
            <a:endParaRPr lang="en-US" sz="1050" dirty="0"/>
          </a:p>
        </p:txBody>
      </p:sp>
      <p:sp>
        <p:nvSpPr>
          <p:cNvPr id="8" name="Shape 6"/>
          <p:cNvSpPr/>
          <p:nvPr/>
        </p:nvSpPr>
        <p:spPr>
          <a:xfrm>
            <a:off x="566928" y="2359152"/>
            <a:ext cx="512064" cy="512064"/>
          </a:xfrm>
          <a:prstGeom prst="roundRect">
            <a:avLst>
              <a:gd name="adj" fmla="val 10714"/>
            </a:avLst>
          </a:prstGeom>
          <a:solidFill>
            <a:srgbClr val="C8952B"/>
          </a:solidFill>
          <a:ln w="12700">
            <a:solidFill>
              <a:srgbClr val="C8952B"/>
            </a:solidFill>
            <a:prstDash val="solid"/>
          </a:ln>
        </p:spPr>
      </p:sp>
      <p:sp>
        <p:nvSpPr>
          <p:cNvPr id="9" name="Text 7"/>
          <p:cNvSpPr txBox="1"/>
          <p:nvPr/>
        </p:nvSpPr>
        <p:spPr>
          <a:xfrm>
            <a:off x="566928" y="2359152"/>
            <a:ext cx="512064" cy="512064"/>
          </a:xfrm>
          <a:prstGeom prst="rect">
            <a:avLst/>
          </a:prstGeom>
          <a:noFill/>
          <a:ln/>
        </p:spPr>
        <p:txBody>
          <a:bodyPr wrap="square" lIns="0" tIns="0" rIns="0" bIns="0" rtlCol="0" anchor="ctr"/>
          <a:lstStyle/>
          <a:p>
            <a:pPr algn="ctr" indent="0" marL="0">
              <a:buNone/>
            </a:pPr>
            <a:r>
              <a:rPr lang="en-US" sz="1700" b="1" dirty="0">
                <a:solidFill>
                  <a:srgbClr val="102437"/>
                </a:solidFill>
                <a:latin typeface="Cambria" pitchFamily="34" charset="0"/>
                <a:ea typeface="Cambria" pitchFamily="34" charset="-122"/>
                <a:cs typeface="Cambria" pitchFamily="34" charset="-120"/>
              </a:rPr>
              <a:t>20</a:t>
            </a:r>
            <a:endParaRPr lang="en-US" sz="1700" dirty="0"/>
          </a:p>
        </p:txBody>
      </p:sp>
      <p:sp>
        <p:nvSpPr>
          <p:cNvPr id="10" name="Text 8"/>
          <p:cNvSpPr txBox="1"/>
          <p:nvPr/>
        </p:nvSpPr>
        <p:spPr>
          <a:xfrm>
            <a:off x="1225296" y="2322576"/>
            <a:ext cx="475488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OASIS interoperability certification</a:t>
            </a:r>
            <a:endParaRPr lang="en-US" sz="1300" dirty="0"/>
          </a:p>
        </p:txBody>
      </p:sp>
      <p:sp>
        <p:nvSpPr>
          <p:cNvPr id="11" name="Text 9"/>
          <p:cNvSpPr txBox="1"/>
          <p:nvPr/>
        </p:nvSpPr>
        <p:spPr>
          <a:xfrm>
            <a:off x="1225296" y="2596896"/>
            <a:ext cx="4754880" cy="530352"/>
          </a:xfrm>
          <a:prstGeom prst="rect">
            <a:avLst/>
          </a:prstGeom>
          <a:noFill/>
          <a:ln/>
        </p:spPr>
        <p:txBody>
          <a:bodyPr wrap="square" lIns="0" tIns="0" rIns="0" bIns="0" rtlCol="0" anchor="ctr"/>
          <a:lstStyle/>
          <a:p>
            <a:pPr indent="0" marL="0">
              <a:lnSpc>
                <a:spcPts val="1300"/>
              </a:lnSpc>
              <a:buNone/>
            </a:pPr>
            <a:r>
              <a:rPr lang="en-US" sz="1050" dirty="0">
                <a:solidFill>
                  <a:srgbClr val="9DB8D4"/>
                </a:solidFill>
                <a:latin typeface="Calibri" pitchFamily="34" charset="0"/>
                <a:ea typeface="Calibri" pitchFamily="34" charset="-122"/>
                <a:cs typeface="Calibri" pitchFamily="34" charset="-120"/>
              </a:rPr>
              <a:t>An OASIS interoperability event, and other implementations to test against.</a:t>
            </a:r>
            <a:endParaRPr lang="en-US" sz="1050" dirty="0"/>
          </a:p>
        </p:txBody>
      </p:sp>
      <p:sp>
        <p:nvSpPr>
          <p:cNvPr id="12" name="Shape 10"/>
          <p:cNvSpPr/>
          <p:nvPr/>
        </p:nvSpPr>
        <p:spPr>
          <a:xfrm>
            <a:off x="566928" y="3200400"/>
            <a:ext cx="512064" cy="512064"/>
          </a:xfrm>
          <a:prstGeom prst="roundRect">
            <a:avLst>
              <a:gd name="adj" fmla="val 10714"/>
            </a:avLst>
          </a:prstGeom>
          <a:solidFill>
            <a:srgbClr val="C8952B"/>
          </a:solidFill>
          <a:ln w="12700">
            <a:solidFill>
              <a:srgbClr val="C8952B"/>
            </a:solidFill>
            <a:prstDash val="solid"/>
          </a:ln>
        </p:spPr>
      </p:sp>
      <p:sp>
        <p:nvSpPr>
          <p:cNvPr id="13" name="Text 11"/>
          <p:cNvSpPr txBox="1"/>
          <p:nvPr/>
        </p:nvSpPr>
        <p:spPr>
          <a:xfrm>
            <a:off x="566928" y="3200400"/>
            <a:ext cx="512064" cy="512064"/>
          </a:xfrm>
          <a:prstGeom prst="rect">
            <a:avLst/>
          </a:prstGeom>
          <a:noFill/>
          <a:ln/>
        </p:spPr>
        <p:txBody>
          <a:bodyPr wrap="square" lIns="0" tIns="0" rIns="0" bIns="0" rtlCol="0" anchor="ctr"/>
          <a:lstStyle/>
          <a:p>
            <a:pPr algn="ctr" indent="0" marL="0">
              <a:buNone/>
            </a:pPr>
            <a:r>
              <a:rPr lang="en-US" sz="1700" b="1" dirty="0">
                <a:solidFill>
                  <a:srgbClr val="102437"/>
                </a:solidFill>
                <a:latin typeface="Cambria" pitchFamily="34" charset="0"/>
                <a:ea typeface="Cambria" pitchFamily="34" charset="-122"/>
                <a:cs typeface="Cambria" pitchFamily="34" charset="-120"/>
              </a:rPr>
              <a:t>21</a:t>
            </a:r>
            <a:endParaRPr lang="en-US" sz="1700" dirty="0"/>
          </a:p>
        </p:txBody>
      </p:sp>
      <p:sp>
        <p:nvSpPr>
          <p:cNvPr id="14" name="Text 12"/>
          <p:cNvSpPr txBox="1"/>
          <p:nvPr/>
        </p:nvSpPr>
        <p:spPr>
          <a:xfrm>
            <a:off x="1225296" y="3163824"/>
            <a:ext cx="475488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Certificate authority integration</a:t>
            </a:r>
            <a:endParaRPr lang="en-US" sz="1300" dirty="0"/>
          </a:p>
        </p:txBody>
      </p:sp>
      <p:sp>
        <p:nvSpPr>
          <p:cNvPr id="15" name="Text 13"/>
          <p:cNvSpPr txBox="1"/>
          <p:nvPr/>
        </p:nvSpPr>
        <p:spPr>
          <a:xfrm>
            <a:off x="1225296" y="3438144"/>
            <a:ext cx="4754880" cy="530352"/>
          </a:xfrm>
          <a:prstGeom prst="rect">
            <a:avLst/>
          </a:prstGeom>
          <a:noFill/>
          <a:ln/>
        </p:spPr>
        <p:txBody>
          <a:bodyPr wrap="square" lIns="0" tIns="0" rIns="0" bIns="0" rtlCol="0" anchor="ctr"/>
          <a:lstStyle/>
          <a:p>
            <a:pPr indent="0" marL="0">
              <a:lnSpc>
                <a:spcPts val="1300"/>
              </a:lnSpc>
              <a:buNone/>
            </a:pPr>
            <a:r>
              <a:rPr lang="en-US" sz="1050" dirty="0">
                <a:solidFill>
                  <a:srgbClr val="9DB8D4"/>
                </a:solidFill>
                <a:latin typeface="Calibri" pitchFamily="34" charset="0"/>
                <a:ea typeface="Calibri" pitchFamily="34" charset="-122"/>
                <a:cs typeface="Calibri" pitchFamily="34" charset="-120"/>
              </a:rPr>
              <a:t>A deployed certificate authority — EJBCA or equivalent.</a:t>
            </a:r>
            <a:endParaRPr lang="en-US" sz="1050" dirty="0"/>
          </a:p>
        </p:txBody>
      </p:sp>
      <p:sp>
        <p:nvSpPr>
          <p:cNvPr id="16" name="Shape 14"/>
          <p:cNvSpPr/>
          <p:nvPr/>
        </p:nvSpPr>
        <p:spPr>
          <a:xfrm>
            <a:off x="566928" y="4041648"/>
            <a:ext cx="512064" cy="512064"/>
          </a:xfrm>
          <a:prstGeom prst="roundRect">
            <a:avLst>
              <a:gd name="adj" fmla="val 10714"/>
            </a:avLst>
          </a:prstGeom>
          <a:solidFill>
            <a:srgbClr val="C8952B"/>
          </a:solidFill>
          <a:ln w="12700">
            <a:solidFill>
              <a:srgbClr val="C8952B"/>
            </a:solidFill>
            <a:prstDash val="solid"/>
          </a:ln>
        </p:spPr>
      </p:sp>
      <p:sp>
        <p:nvSpPr>
          <p:cNvPr id="17" name="Text 15"/>
          <p:cNvSpPr txBox="1"/>
          <p:nvPr/>
        </p:nvSpPr>
        <p:spPr>
          <a:xfrm>
            <a:off x="566928" y="4041648"/>
            <a:ext cx="512064" cy="512064"/>
          </a:xfrm>
          <a:prstGeom prst="rect">
            <a:avLst/>
          </a:prstGeom>
          <a:noFill/>
          <a:ln/>
        </p:spPr>
        <p:txBody>
          <a:bodyPr wrap="square" lIns="0" tIns="0" rIns="0" bIns="0" rtlCol="0" anchor="ctr"/>
          <a:lstStyle/>
          <a:p>
            <a:pPr algn="ctr" indent="0" marL="0">
              <a:buNone/>
            </a:pPr>
            <a:r>
              <a:rPr lang="en-US" sz="1700" b="1" dirty="0">
                <a:solidFill>
                  <a:srgbClr val="102437"/>
                </a:solidFill>
                <a:latin typeface="Cambria" pitchFamily="34" charset="0"/>
                <a:ea typeface="Cambria" pitchFamily="34" charset="-122"/>
                <a:cs typeface="Cambria" pitchFamily="34" charset="-120"/>
              </a:rPr>
              <a:t>22</a:t>
            </a:r>
            <a:endParaRPr lang="en-US" sz="1700" dirty="0"/>
          </a:p>
        </p:txBody>
      </p:sp>
      <p:sp>
        <p:nvSpPr>
          <p:cNvPr id="18" name="Text 16"/>
          <p:cNvSpPr txBox="1"/>
          <p:nvPr/>
        </p:nvSpPr>
        <p:spPr>
          <a:xfrm>
            <a:off x="1225296" y="4005072"/>
            <a:ext cx="475488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Secrets manager integration</a:t>
            </a:r>
            <a:endParaRPr lang="en-US" sz="1300" dirty="0"/>
          </a:p>
        </p:txBody>
      </p:sp>
      <p:sp>
        <p:nvSpPr>
          <p:cNvPr id="19" name="Text 17"/>
          <p:cNvSpPr txBox="1"/>
          <p:nvPr/>
        </p:nvSpPr>
        <p:spPr>
          <a:xfrm>
            <a:off x="1225296" y="4279392"/>
            <a:ext cx="4754880" cy="530352"/>
          </a:xfrm>
          <a:prstGeom prst="rect">
            <a:avLst/>
          </a:prstGeom>
          <a:noFill/>
          <a:ln/>
        </p:spPr>
        <p:txBody>
          <a:bodyPr wrap="square" lIns="0" tIns="0" rIns="0" bIns="0" rtlCol="0" anchor="ctr"/>
          <a:lstStyle/>
          <a:p>
            <a:pPr indent="0" marL="0">
              <a:lnSpc>
                <a:spcPts val="1300"/>
              </a:lnSpc>
              <a:buNone/>
            </a:pPr>
            <a:r>
              <a:rPr lang="en-US" sz="1050" dirty="0">
                <a:solidFill>
                  <a:srgbClr val="9DB8D4"/>
                </a:solidFill>
                <a:latin typeface="Calibri" pitchFamily="34" charset="0"/>
                <a:ea typeface="Calibri" pitchFamily="34" charset="-122"/>
                <a:cs typeface="Calibri" pitchFamily="34" charset="-120"/>
              </a:rPr>
              <a:t>A deployed secrets manager to integrate with.</a:t>
            </a:r>
            <a:endParaRPr lang="en-US" sz="1050" dirty="0"/>
          </a:p>
        </p:txBody>
      </p:sp>
      <p:sp>
        <p:nvSpPr>
          <p:cNvPr id="20" name="Shape 18"/>
          <p:cNvSpPr/>
          <p:nvPr/>
        </p:nvSpPr>
        <p:spPr>
          <a:xfrm>
            <a:off x="6199632" y="1517904"/>
            <a:ext cx="512064" cy="512064"/>
          </a:xfrm>
          <a:prstGeom prst="roundRect">
            <a:avLst>
              <a:gd name="adj" fmla="val 10714"/>
            </a:avLst>
          </a:prstGeom>
          <a:solidFill>
            <a:srgbClr val="C8952B"/>
          </a:solidFill>
          <a:ln w="12700">
            <a:solidFill>
              <a:srgbClr val="C8952B"/>
            </a:solidFill>
            <a:prstDash val="solid"/>
          </a:ln>
        </p:spPr>
      </p:sp>
      <p:sp>
        <p:nvSpPr>
          <p:cNvPr id="21" name="Text 19"/>
          <p:cNvSpPr txBox="1"/>
          <p:nvPr/>
        </p:nvSpPr>
        <p:spPr>
          <a:xfrm>
            <a:off x="6199632" y="1517904"/>
            <a:ext cx="512064" cy="512064"/>
          </a:xfrm>
          <a:prstGeom prst="rect">
            <a:avLst/>
          </a:prstGeom>
          <a:noFill/>
          <a:ln/>
        </p:spPr>
        <p:txBody>
          <a:bodyPr wrap="square" lIns="0" tIns="0" rIns="0" bIns="0" rtlCol="0" anchor="ctr"/>
          <a:lstStyle/>
          <a:p>
            <a:pPr algn="ctr" indent="0" marL="0">
              <a:buNone/>
            </a:pPr>
            <a:r>
              <a:rPr lang="en-US" sz="1700" b="1" dirty="0">
                <a:solidFill>
                  <a:srgbClr val="102437"/>
                </a:solidFill>
                <a:latin typeface="Cambria" pitchFamily="34" charset="0"/>
                <a:ea typeface="Cambria" pitchFamily="34" charset="-122"/>
                <a:cs typeface="Cambria" pitchFamily="34" charset="-120"/>
              </a:rPr>
              <a:t>24</a:t>
            </a:r>
            <a:endParaRPr lang="en-US" sz="1700" dirty="0"/>
          </a:p>
        </p:txBody>
      </p:sp>
      <p:sp>
        <p:nvSpPr>
          <p:cNvPr id="22" name="Text 20"/>
          <p:cNvSpPr txBox="1"/>
          <p:nvPr/>
        </p:nvSpPr>
        <p:spPr>
          <a:xfrm>
            <a:off x="6858000" y="1481328"/>
            <a:ext cx="475488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Post-quantum and full algorithm breadth</a:t>
            </a:r>
            <a:endParaRPr lang="en-US" sz="1300" dirty="0"/>
          </a:p>
        </p:txBody>
      </p:sp>
      <p:sp>
        <p:nvSpPr>
          <p:cNvPr id="23" name="Text 21"/>
          <p:cNvSpPr txBox="1"/>
          <p:nvPr/>
        </p:nvSpPr>
        <p:spPr>
          <a:xfrm>
            <a:off x="6858000" y="1755648"/>
            <a:ext cx="4754880" cy="530352"/>
          </a:xfrm>
          <a:prstGeom prst="rect">
            <a:avLst/>
          </a:prstGeom>
          <a:noFill/>
          <a:ln/>
        </p:spPr>
        <p:txBody>
          <a:bodyPr wrap="square" lIns="0" tIns="0" rIns="0" bIns="0" rtlCol="0" anchor="ctr"/>
          <a:lstStyle/>
          <a:p>
            <a:pPr indent="0" marL="0">
              <a:lnSpc>
                <a:spcPts val="1300"/>
              </a:lnSpc>
              <a:buNone/>
            </a:pPr>
            <a:r>
              <a:rPr lang="en-US" sz="1050" dirty="0">
                <a:solidFill>
                  <a:srgbClr val="9DB8D4"/>
                </a:solidFill>
                <a:latin typeface="Calibri" pitchFamily="34" charset="0"/>
                <a:ea typeface="Calibri" pitchFamily="34" charset="-122"/>
                <a:cs typeface="Calibri" pitchFamily="34" charset="-120"/>
              </a:rPr>
              <a:t>A PKCS#11 token implementing ML-KEM, ML-DSA and SLH-DSA. SoftHSM's work on these is in the development tree, not in any release.</a:t>
            </a:r>
            <a:endParaRPr lang="en-US" sz="1050" dirty="0"/>
          </a:p>
        </p:txBody>
      </p:sp>
      <p:sp>
        <p:nvSpPr>
          <p:cNvPr id="24" name="Shape 22"/>
          <p:cNvSpPr/>
          <p:nvPr/>
        </p:nvSpPr>
        <p:spPr>
          <a:xfrm>
            <a:off x="6199632" y="2359152"/>
            <a:ext cx="512064" cy="512064"/>
          </a:xfrm>
          <a:prstGeom prst="roundRect">
            <a:avLst>
              <a:gd name="adj" fmla="val 10714"/>
            </a:avLst>
          </a:prstGeom>
          <a:solidFill>
            <a:srgbClr val="C8952B"/>
          </a:solidFill>
          <a:ln w="12700">
            <a:solidFill>
              <a:srgbClr val="C8952B"/>
            </a:solidFill>
            <a:prstDash val="solid"/>
          </a:ln>
        </p:spPr>
      </p:sp>
      <p:sp>
        <p:nvSpPr>
          <p:cNvPr id="25" name="Text 23"/>
          <p:cNvSpPr txBox="1"/>
          <p:nvPr/>
        </p:nvSpPr>
        <p:spPr>
          <a:xfrm>
            <a:off x="6199632" y="2359152"/>
            <a:ext cx="512064" cy="512064"/>
          </a:xfrm>
          <a:prstGeom prst="rect">
            <a:avLst/>
          </a:prstGeom>
          <a:noFill/>
          <a:ln/>
        </p:spPr>
        <p:txBody>
          <a:bodyPr wrap="square" lIns="0" tIns="0" rIns="0" bIns="0" rtlCol="0" anchor="ctr"/>
          <a:lstStyle/>
          <a:p>
            <a:pPr algn="ctr" indent="0" marL="0">
              <a:buNone/>
            </a:pPr>
            <a:r>
              <a:rPr lang="en-US" sz="1700" b="1" dirty="0">
                <a:solidFill>
                  <a:srgbClr val="102437"/>
                </a:solidFill>
                <a:latin typeface="Cambria" pitchFamily="34" charset="0"/>
                <a:ea typeface="Cambria" pitchFamily="34" charset="-122"/>
                <a:cs typeface="Cambria" pitchFamily="34" charset="-120"/>
              </a:rPr>
              <a:t>25</a:t>
            </a:r>
            <a:endParaRPr lang="en-US" sz="1700" dirty="0"/>
          </a:p>
        </p:txBody>
      </p:sp>
      <p:sp>
        <p:nvSpPr>
          <p:cNvPr id="26" name="Text 24"/>
          <p:cNvSpPr txBox="1"/>
          <p:nvPr/>
        </p:nvSpPr>
        <p:spPr>
          <a:xfrm>
            <a:off x="6858000" y="2322576"/>
            <a:ext cx="475488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Validated hardware migration</a:t>
            </a:r>
            <a:endParaRPr lang="en-US" sz="1300" dirty="0"/>
          </a:p>
        </p:txBody>
      </p:sp>
      <p:sp>
        <p:nvSpPr>
          <p:cNvPr id="27" name="Text 25"/>
          <p:cNvSpPr txBox="1"/>
          <p:nvPr/>
        </p:nvSpPr>
        <p:spPr>
          <a:xfrm>
            <a:off x="6858000" y="2596896"/>
            <a:ext cx="4754880" cy="530352"/>
          </a:xfrm>
          <a:prstGeom prst="rect">
            <a:avLst/>
          </a:prstGeom>
          <a:noFill/>
          <a:ln/>
        </p:spPr>
        <p:txBody>
          <a:bodyPr wrap="square" lIns="0" tIns="0" rIns="0" bIns="0" rtlCol="0" anchor="ctr"/>
          <a:lstStyle/>
          <a:p>
            <a:pPr indent="0" marL="0">
              <a:lnSpc>
                <a:spcPts val="1300"/>
              </a:lnSpc>
              <a:buNone/>
            </a:pPr>
            <a:r>
              <a:rPr lang="en-US" sz="1050" dirty="0">
                <a:solidFill>
                  <a:srgbClr val="9DB8D4"/>
                </a:solidFill>
                <a:latin typeface="Calibri" pitchFamily="34" charset="0"/>
                <a:ea typeface="Calibri" pitchFamily="34" charset="-122"/>
                <a:cs typeface="Calibri" pitchFamily="34" charset="-120"/>
              </a:rPr>
              <a:t>A FIPS 140-3 and Common Criteria validated HSM, ideally one supporting key-bound approval policy.</a:t>
            </a:r>
            <a:endParaRPr lang="en-US" sz="1050" dirty="0"/>
          </a:p>
        </p:txBody>
      </p:sp>
      <p:sp>
        <p:nvSpPr>
          <p:cNvPr id="28" name="Shape 26"/>
          <p:cNvSpPr/>
          <p:nvPr/>
        </p:nvSpPr>
        <p:spPr>
          <a:xfrm>
            <a:off x="6199632" y="3200400"/>
            <a:ext cx="512064" cy="512064"/>
          </a:xfrm>
          <a:prstGeom prst="roundRect">
            <a:avLst>
              <a:gd name="adj" fmla="val 10714"/>
            </a:avLst>
          </a:prstGeom>
          <a:solidFill>
            <a:srgbClr val="C8952B"/>
          </a:solidFill>
          <a:ln w="12700">
            <a:solidFill>
              <a:srgbClr val="C8952B"/>
            </a:solidFill>
            <a:prstDash val="solid"/>
          </a:ln>
        </p:spPr>
      </p:sp>
      <p:sp>
        <p:nvSpPr>
          <p:cNvPr id="29" name="Text 27"/>
          <p:cNvSpPr txBox="1"/>
          <p:nvPr/>
        </p:nvSpPr>
        <p:spPr>
          <a:xfrm>
            <a:off x="6199632" y="3200400"/>
            <a:ext cx="512064" cy="512064"/>
          </a:xfrm>
          <a:prstGeom prst="rect">
            <a:avLst/>
          </a:prstGeom>
          <a:noFill/>
          <a:ln/>
        </p:spPr>
        <p:txBody>
          <a:bodyPr wrap="square" lIns="0" tIns="0" rIns="0" bIns="0" rtlCol="0" anchor="ctr"/>
          <a:lstStyle/>
          <a:p>
            <a:pPr algn="ctr" indent="0" marL="0">
              <a:buNone/>
            </a:pPr>
            <a:r>
              <a:rPr lang="en-US" sz="1700" b="1" dirty="0">
                <a:solidFill>
                  <a:srgbClr val="102437"/>
                </a:solidFill>
                <a:latin typeface="Cambria" pitchFamily="34" charset="0"/>
                <a:ea typeface="Cambria" pitchFamily="34" charset="-122"/>
                <a:cs typeface="Cambria" pitchFamily="34" charset="-120"/>
              </a:rPr>
              <a:t>26</a:t>
            </a:r>
            <a:endParaRPr lang="en-US" sz="1700" dirty="0"/>
          </a:p>
        </p:txBody>
      </p:sp>
      <p:sp>
        <p:nvSpPr>
          <p:cNvPr id="30" name="Text 28"/>
          <p:cNvSpPr txBox="1"/>
          <p:nvPr/>
        </p:nvSpPr>
        <p:spPr>
          <a:xfrm>
            <a:off x="6858000" y="3163824"/>
            <a:ext cx="475488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Confidential computing deployment</a:t>
            </a:r>
            <a:endParaRPr lang="en-US" sz="1300" dirty="0"/>
          </a:p>
        </p:txBody>
      </p:sp>
      <p:sp>
        <p:nvSpPr>
          <p:cNvPr id="31" name="Text 29"/>
          <p:cNvSpPr txBox="1"/>
          <p:nvPr/>
        </p:nvSpPr>
        <p:spPr>
          <a:xfrm>
            <a:off x="6858000" y="3438144"/>
            <a:ext cx="4754880" cy="530352"/>
          </a:xfrm>
          <a:prstGeom prst="rect">
            <a:avLst/>
          </a:prstGeom>
          <a:noFill/>
          <a:ln/>
        </p:spPr>
        <p:txBody>
          <a:bodyPr wrap="square" lIns="0" tIns="0" rIns="0" bIns="0" rtlCol="0" anchor="ctr"/>
          <a:lstStyle/>
          <a:p>
            <a:pPr indent="0" marL="0">
              <a:lnSpc>
                <a:spcPts val="1300"/>
              </a:lnSpc>
              <a:buNone/>
            </a:pPr>
            <a:r>
              <a:rPr lang="en-US" sz="1050" dirty="0">
                <a:solidFill>
                  <a:srgbClr val="9DB8D4"/>
                </a:solidFill>
                <a:latin typeface="Calibri" pitchFamily="34" charset="0"/>
                <a:ea typeface="Calibri" pitchFamily="34" charset="-122"/>
                <a:cs typeface="Calibri" pitchFamily="34" charset="-120"/>
              </a:rPr>
              <a:t>A confidential-computing platform with remote attestation.</a:t>
            </a:r>
            <a:endParaRPr lang="en-US" sz="1050" dirty="0"/>
          </a:p>
        </p:txBody>
      </p:sp>
      <p:sp>
        <p:nvSpPr>
          <p:cNvPr id="32" name="Shape 30"/>
          <p:cNvSpPr/>
          <p:nvPr/>
        </p:nvSpPr>
        <p:spPr>
          <a:xfrm>
            <a:off x="566928" y="5175504"/>
            <a:ext cx="11027664" cy="987552"/>
          </a:xfrm>
          <a:prstGeom prst="roundRect">
            <a:avLst>
              <a:gd name="adj" fmla="val 5556"/>
            </a:avLst>
          </a:prstGeom>
          <a:solidFill>
            <a:srgbClr val="1B3350"/>
          </a:solidFill>
          <a:ln w="12700">
            <a:solidFill>
              <a:srgbClr val="2A4A6B"/>
            </a:solidFill>
            <a:prstDash val="solid"/>
          </a:ln>
        </p:spPr>
      </p:sp>
      <p:sp>
        <p:nvSpPr>
          <p:cNvPr id="33" name="Text 31"/>
          <p:cNvSpPr txBox="1"/>
          <p:nvPr/>
        </p:nvSpPr>
        <p:spPr>
          <a:xfrm>
            <a:off x="841248" y="5175504"/>
            <a:ext cx="10479024" cy="987552"/>
          </a:xfrm>
          <a:prstGeom prst="rect">
            <a:avLst/>
          </a:prstGeom>
          <a:noFill/>
          <a:ln/>
        </p:spPr>
        <p:txBody>
          <a:bodyPr wrap="square" lIns="0" tIns="0" rIns="0" bIns="0" rtlCol="0" anchor="ctr"/>
          <a:lstStyle/>
          <a:p>
            <a:pPr indent="0" marL="0">
              <a:lnSpc>
                <a:spcPts val="1900"/>
              </a:lnSpc>
              <a:buNone/>
            </a:pPr>
            <a:r>
              <a:rPr lang="en-US" sz="1300" i="1" dirty="0">
                <a:solidFill>
                  <a:srgbClr val="FFFFFF"/>
                </a:solidFill>
                <a:latin typeface="Cambria" pitchFamily="34" charset="0"/>
                <a:ea typeface="Cambria" pitchFamily="34" charset="-122"/>
                <a:cs typeface="Cambria" pitchFamily="34" charset="-120"/>
              </a:rPr>
              <a:t>All 50 open features are routed to a step — none is deferred. But routed is not schedulable: 19 of the 26 steps could start this week and 7 cannot begin until somebody buys hardware, deploys a product, or an external body runs an event. A plan that closes everything has to say that plainly.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REST KMS delivery plan</dc:title>
  <dc:subject>PptxGenJS Presentation</dc:subject>
  <dc:creator>kmip_pkcs11</dc:creator>
  <cp:lastModifiedBy>kmip_pkcs11</cp:lastModifiedBy>
  <cp:revision>1</cp:revision>
  <dcterms:created xsi:type="dcterms:W3CDTF">2026-09-12T17:54:19Z</dcterms:created>
  <dcterms:modified xsi:type="dcterms:W3CDTF">2026-09-12T17:54:19Z</dcterms:modified>
</cp:coreProperties>
</file>