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slides per step: what it does to the existing design, what gets built, and how it is proven. Every word in this deck comes from plan_steps.json, which the plan generator emits — the deck cannot say anything the written plan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is dictated by dependency. Step 1 must precede everything: authorization, dual control and audit currently live inside the KMIP dispatcher, and a REST layer built before they move would bypass all three silently.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Make authorization, dual control, audit and metrics impossible to bypass — before a second transport exists to bypass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Make authorization, dual control, audit and metrics impossible to bypass — before a second transport exists to bypass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Let the store answer the questions a console asks, in one query rather than N+1.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Let the store answer the questions a console asks, in one query rather than N+1.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An authenticated HTTPS listener that shares nothing with the KMIP port, and cannot be flooded.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An authenticated HTTPS listener that shares nothing with the KMIP port, and cannot be flooded.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Everything a console displays, with authorization identical to KMIP.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Everything a console displays, with authorization identical to KMIP.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Lifecycle and delegation over REST, with governance applying by construction rather than by remembering.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Lifecycle and delegation over REST, with governance applying by construction rather than by remembering.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Complete the API surface and split the administrator so no one role can both grant access and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Complete the API surface and split the administrator so no one role can both grant access and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The interface most of the market considers table stakes, and the reason the API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The interface most of the market considers table stakes, and the reason the API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Authenticate against the corporate directory, and express conditions the role model cannot.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Authenticate against the corporate directory, and express conditions the role model cannot.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Make the audit trail survive an attacker with file access, and produce the evidence an auditor asks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Make the audit trail survive an attacker with file access, and produce the evidence an auditor asks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Remove the single-writer constraint that blocks everything in stage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Remove the single-writer constraint that blocks everything in stage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Survive the loss of a node, a token, or a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Survive the loss of a node, a token, or a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Let unrelated tenants share one deployment without seeing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Let unrelated tenants share one deployment without seeing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Let a client speak KMIP without implementing a TTLV codec.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Let a client speak KMIP without implementing a TTLV codec.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Know which certificates the estate is actually running, and warn before one expires.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Know which certificates the estate is actually running, and warn before one expires.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step is finished when its gate is demonstrated, not when its code is written. Tests run live against a real SoftHSM2 token — the token is never mocked, because the defects worth catching are at that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 boundary: the plan says what it cannot do as clearly as what it can, and the generator refuses to build if those two lists stop adding up to the gap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91640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Completing the KMS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61518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DB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steps to a REST-fronted key management service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6382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impact · proposed solution · test strategy, for every step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8795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54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5 stages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355848" y="418795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355848" y="4754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short of full coverage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44768" y="418795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144768" y="4754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by this plan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933688" y="418795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933688" y="4754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deferred, with reasons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0716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e44a2ef · 816 tests green · 11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AT A GLANCE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stages, 14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044598" cy="658368"/>
          </a:xfrm>
          <a:prstGeom prst="roundRect">
            <a:avLst>
              <a:gd name="adj" fmla="val 833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463040"/>
            <a:ext cx="17885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Foundation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76272"/>
            <a:ext cx="18617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attack surface. Makes the rest safe to build.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74320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74320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and guard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190902" y="274320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338328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38328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338328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reporting layer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190902" y="338328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38958" y="1709928"/>
            <a:ext cx="164592" cy="164592"/>
          </a:xfrm>
          <a:prstGeom prst="rightArrow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12694" y="1463040"/>
            <a:ext cx="2044598" cy="658368"/>
          </a:xfrm>
          <a:prstGeom prst="roundRect">
            <a:avLst>
              <a:gd name="adj" fmla="val 833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0710" y="1463040"/>
            <a:ext cx="17885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The REST control plane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904134" y="2176272"/>
            <a:ext cx="18617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API, then the console that uses it.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12694" y="274320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04134" y="274320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233318" y="274320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transport, sessions and service accounts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436669" y="274320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12694" y="338328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04134" y="338328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233318" y="338328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endpoints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436669" y="338328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12694" y="402336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04134" y="402336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233318" y="402336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endpoints, and the governance gaps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436669" y="402336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12694" y="466344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904134" y="466344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233318" y="466344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Administration, OpenAPI, separation of duties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436669" y="466344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12694" y="530352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904134" y="530352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233318" y="530352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 and self-service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436669" y="530352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84725" y="1709928"/>
            <a:ext cx="164592" cy="164592"/>
          </a:xfrm>
          <a:prstGeom prst="rightArrow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58461" y="1463040"/>
            <a:ext cx="2044598" cy="658368"/>
          </a:xfrm>
          <a:prstGeom prst="roundRect">
            <a:avLst>
              <a:gd name="adj" fmla="val 833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186477" y="1463040"/>
            <a:ext cx="17885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Enterprise fit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5149901" y="2176272"/>
            <a:ext cx="18617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auditor and a security team ask for.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58461" y="274320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49901" y="274320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479085" y="274320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identity and policy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6682435" y="274320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58461" y="338328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149901" y="338328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479085" y="338328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externalisation, compliance and ceremony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6682435" y="338328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130491" y="1709928"/>
            <a:ext cx="164592" cy="164592"/>
          </a:xfrm>
          <a:prstGeom prst="rightArrow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04227" y="1463040"/>
            <a:ext cx="2044598" cy="658368"/>
          </a:xfrm>
          <a:prstGeom prst="roundRect">
            <a:avLst>
              <a:gd name="adj" fmla="val 833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32243" y="1463040"/>
            <a:ext cx="17885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· Scale, availability and tenancy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7395667" y="2176272"/>
            <a:ext cx="18617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infrastructure to verify.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304227" y="274320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395667" y="274320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7724851" y="274320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abstraction and PostgreSQL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928202" y="274320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304227" y="338328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395667" y="338328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7724851" y="338328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availability, failover and deployment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928202" y="338328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304227" y="402336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395667" y="402336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7724851" y="402336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8928202" y="402336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376258" y="1709928"/>
            <a:ext cx="164592" cy="164592"/>
          </a:xfrm>
          <a:prstGeom prst="rightArrow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549994" y="1463040"/>
            <a:ext cx="2044598" cy="658368"/>
          </a:xfrm>
          <a:prstGeom prst="roundRect">
            <a:avLst>
              <a:gd name="adj" fmla="val 833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678010" y="1463040"/>
            <a:ext cx="17885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· Protocol and estate reach</a:t>
            </a:r>
            <a:endParaRPr lang="en-US" sz="1250" dirty="0"/>
          </a:p>
        </p:txBody>
      </p:sp>
      <p:sp>
        <p:nvSpPr>
          <p:cNvPr id="70" name="Text 68"/>
          <p:cNvSpPr txBox="1"/>
          <p:nvPr/>
        </p:nvSpPr>
        <p:spPr>
          <a:xfrm>
            <a:off x="9641434" y="2176272"/>
            <a:ext cx="18617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Additive, independent of D, verifiable here.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549994" y="274320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641434" y="274320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9970618" y="274320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KMIP JSON and XML encodings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11173968" y="274320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549994" y="3383280"/>
            <a:ext cx="2044598" cy="566928"/>
          </a:xfrm>
          <a:prstGeom prst="roundRect">
            <a:avLst>
              <a:gd name="adj" fmla="val 806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641434" y="338328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9970618" y="338328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discovery and expiry monitoring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11173968" y="338328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+n is the number of gap-matrix features the step closes. Steps 1 and 2 close nothing and are the two the rest depends 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layer and guard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authorization, dual control, audit and metrics impossible to bypass — before a second transport exists to bypass them.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2744724"/>
          </a:xfrm>
          <a:prstGeom prst="roundRect">
            <a:avLst>
              <a:gd name="adj" fmla="val 1999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2049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OperationDispatcher loses its cross-cutting logic and becomes a codec: decode, call the service, encode.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access_control.py and dual_control.py are invoked from one place instead of being wired into a transport.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 change, no configuration change, nothing on the wire changes.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2744724"/>
          </a:xfrm>
          <a:prstGeom prst="roundRect">
            <a:avLst>
              <a:gd name="adj" fmla="val 1999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2049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kmip_pkcs11/service/ package: CallContext (identity, peer address, transport), a guard() context manager, and KeyService / AdminService facades over the existing handlers and store.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runs the role allowlist, then dual control, then the operation, then audit and metrics — the exact order dispatch() uses today.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OperationDispatcher shrinks to: decode TTLV, call the service, encode TTLV.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layer and guard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authorization, dual control, audit and metrics impossible to bypass — before a second transport exists to bypass them.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1920240"/>
          </a:xfrm>
          <a:prstGeom prst="roundRect">
            <a:avLst>
              <a:gd name="adj" fmla="val 285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check_operation_allowed, dual_control_enforce, _audit and _record_metric out of the dispatcher into the guard. Operation handlers are not touched.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method takes a CallContext as its first argument, so a caller cannot forget to say who is asking.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279392"/>
            <a:ext cx="11027664" cy="841248"/>
          </a:xfrm>
          <a:prstGeom prst="roundRect">
            <a:avLst>
              <a:gd name="adj" fmla="val 6522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279392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no gap-matrix feature directly. It exists so that every step after it can be built without re-litigating authorization — and so a later endpoint cannot silently become a path around dual control.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~600 lines moved, ~15 new tests. No new dependencies.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layer and guard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authorization, dual control, audit and metrics impossible to bypass — before a second transport exists to bypass them.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2199894"/>
          </a:xfrm>
          <a:prstGeom prst="roundRect">
            <a:avLst>
              <a:gd name="adj" fmla="val 2494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suite must pass unmodified — this step changes no behaviour, and a test that needed editing would mean it did.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a reflection test that enumerates every public method on the service classes and asserts each one is guard-wrapped. This is the test that stops step 5 from quietly reintroducing a bypass.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guard writes an audit row on success and on failure; consumes a dual-control approval before the handler runs, not after; records metrics on both paths.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577334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72363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4687062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816 existing tests pass with no test file modified, and the reflection test proves no service method escapes the guard.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and reporting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store answer the questions a console asks, in one query rather than N+1.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2546604"/>
          </a:xfrm>
          <a:prstGeom prst="roundRect">
            <a:avLst>
              <a:gd name="adj" fmla="val 2154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metadata/store.py gains paged query methods; the existing locate() is untouched, so the KMIP handler is unaffected.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indexes on the sortable columns — the first schema migration since Phase 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2546604"/>
          </a:xfrm>
          <a:prstGeom prst="roundRect">
            <a:avLst>
              <a:gd name="adj" fmla="val 2154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store.locate_page(filters, sort, cursor, limit) returning full rows, an opaque cursor and a total — not the bare identifiers Locate returns.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is (sort key, uid) encoded, not an offset: offset paging over a table that is being written double-shows rows.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store.inventory_report() and store.algorithm_usage() for the two reporting gaps.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and reporting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store answer the questions a console asks, in one query rather than N+1.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6766560" cy="1920240"/>
          </a:xfrm>
          <a:prstGeom prst="roundRect">
            <a:avLst>
              <a:gd name="adj" fmla="val 285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62544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new methods beside the existing locate(), which stays exactly as it is for the KMIP handler.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to match the sort columns the console offers.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07808" y="2103120"/>
            <a:ext cx="3986784" cy="1920240"/>
          </a:xfrm>
          <a:prstGeom prst="roundRect">
            <a:avLst>
              <a:gd name="adj" fmla="val 2857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2 GAP-MATRIX FEATURES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15184"/>
            <a:ext cx="3474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inventory and discovery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Crypto-agility reporting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~400 lines, ~20 tests.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and reporting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store answer the questions a console asks, in one query rather than N+1.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1993519"/>
          </a:xfrm>
          <a:prstGeom prst="roundRect">
            <a:avLst>
              <a:gd name="adj" fmla="val 2752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1298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 over a table mutated between pages neither duplicates nor skips a row — insert and delete between fetches and assert the union.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each supported column, ascending and descending; total equals a brute-force count; a tampered cursor is rejected rather than trusted.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algorithm counts match a brute-force scan of the same store.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370959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517263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4480687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 holding 12,000 objects returns page one of fifty, sorted by expiry, in a single query, with the same figures a full scan produces.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transport, sessions and service accounts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authenticated HTTPS listener that shares nothing with the KMIP port, and cannot be flooded.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4022344"/>
          </a:xfrm>
          <a:prstGeom prst="roundRect">
            <a:avLst>
              <a:gd name="adj" fmla="val 1364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332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listener and a second authenticated entry point: the security surface roughly doubles.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 section, new tables for tokens, new failure modes the KMIP path never had (429, CSRF).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observability.py keeps its own unauthenticated port, deliberately separate.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4022344"/>
          </a:xfrm>
          <a:prstGeom prst="roundRect">
            <a:avLst>
              <a:gd name="adj" fmla="val 1364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332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api: configuration section — own port, TLS mandatory, off by default. Not the observability port: /metrics and /ready are deliberately unauthenticated and must stay that way.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256-bit tokens stored as SHA-256 hashes, with identity, label, created / expires / last used / revoked. Not JWTs: revocation matters more than statelessness, and there is already a database.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get an httpOnly, Secure, SameSite cookie plus a CSRF token; machine clients send a bearer header. Long-lived labelled tokens are the service-account mechanism.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connection semaphore and a per-identity token bucket.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transport, sessions and service accounts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authenticated HTTPS listener that shares nothing with the KMIP port, and cannot be flooded.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6766560" cy="2199894"/>
          </a:xfrm>
          <a:prstGeom prst="roundRect">
            <a:avLst>
              <a:gd name="adj" fmla="val 2494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6254496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kmip_pkcs11/api/ with a small stdlib router on ThreadingHTTPServer — the project has three runtime dependencies and none of them does cryptography, which is a property worth keeping.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order: authenticate, rate limit, route, translate exceptions into RFC 9457 problem+json.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and DELETE /api/v1/session, GET /api/v1/me.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07808" y="2103120"/>
            <a:ext cx="3986784" cy="2199894"/>
          </a:xfrm>
          <a:prstGeom prst="roundRect">
            <a:avLst>
              <a:gd name="adj" fmla="val 2494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3 GAP-MATRIX FEATURES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15184"/>
            <a:ext cx="347472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/ service accounts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and rate limiting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bounds and DoS resistance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~900 lines, ~35 tests.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transport, sessions and service accounts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authenticated HTTPS listener that shares nothing with the KMIP port, and cannot be flooded.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2790444"/>
          </a:xfrm>
          <a:prstGeom prst="roundRect">
            <a:avLst>
              <a:gd name="adj" fmla="val 1966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succeeds and fails correctly; a disabled identity is refused; a deleted identity's live session stops working immediately.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revocation takes effect on the next request; absolute and idle expiry; a cookie request without a CSRF token is refused while a bearer request is not.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returns 429 and recovers; the connection cap holds under 200 concurrent connections; the KMIP port is unaffected throughout.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refuses api.enabled without TLS.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login, logout, token issue and token revoke is an audit row.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5167884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53141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5277612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hundred concurrent connections do not exhaust the listener, a revoked token is refused on its next use, and the KMIP port serves normally while the API is under load.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endpoints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console displays, with authorization identical to KMIP.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2457704"/>
          </a:xfrm>
          <a:prstGeom prst="roundRect">
            <a:avLst>
              <a:gd name="adj" fmla="val 2232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176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paths gain an HTTP representation; the KMIP path does not change at all.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404-versus-403 decision becomes an API contract every later step must preserve.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2457704"/>
          </a:xfrm>
          <a:prstGeom prst="roundRect">
            <a:avLst>
              <a:gd name="adj" fmla="val 2232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176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/keys (paged, filtered, sorted), /keys/{uid}, /keys/{uid}/attributes, /audit, /audit/verify, /approvals, /reports/expiring, /reports/inventory.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and 403 are chosen deliberately: an object the caller may not see returns the same answer as one that does not exist, so the API does not become an existence oracle.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endpoints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console displays, with authorization identical to KMIP.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1920240"/>
          </a:xfrm>
          <a:prstGeom prst="roundRect">
            <a:avLst>
              <a:gd name="adj" fmla="val 285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handlers calling the services from step 1 — no store access from the transport layer, which the guard reflection test enforces.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279392"/>
            <a:ext cx="11027664" cy="841248"/>
          </a:xfrm>
          <a:prstGeom prst="roundRect">
            <a:avLst>
              <a:gd name="adj" fmla="val 6522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279392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no gap-matrix feature directly. It exists so that every step after it can be built without re-litigating authorization — and so a later endpoint cannot silently become a path around dual control.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~700 lines, ~40 tests.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endpoints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console displays, with authorization identical to KMIP.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2584069"/>
          </a:xfrm>
          <a:prstGeom prst="roundRect">
            <a:avLst>
              <a:gd name="adj" fmla="val 2123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188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parity: for a given identity, GET /keys returns exactly the set KMIP Locate returns. Parametrised over owner, admin, grantee, group member and stranger.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paging contract from step 2 holds through the HTTP layer.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filters by identity, object, result and time range; the approval queue lists pending requests only.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 of an object the caller may not see is indistinguishable from a read of one that does not exist.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is audited — 'who exported this key' is a read.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961509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5107813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5071237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console renders key inventory, audit search and the approval queue against real data, and a test proves no write path is reachable through any registered route.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endpoints, and the governance gaps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and delegation over REST, with governance applying by construction rather than by remembering.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3692144"/>
          </a:xfrm>
          <a:prstGeom prst="roundRect">
            <a:avLst>
              <a:gd name="adj" fmla="val 1486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paths over HTTP, with governance applied through the guard rather than re-implemented beside it.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lifecycle/governance.py extends to key pairs, create_split_key gains a second method, and the service layer gains transactions.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acquires a data plane. Until now every caller fetched a key reference and asked the token to act on it; now applications send data and never see a key at all.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3692144"/>
          </a:xfrm>
          <a:prstGeom prst="roundRect">
            <a:avLst>
              <a:gd name="adj" fmla="val 1486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/keys; POST /keys/{uid}/activate | revoke | rekey; DELETE /keys/{uid}; PUT /keys/{uid}/cryptoperiod; grants, groups and role permissions; POST /approvals/{id}/approve.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dual-control refusal returns 403 carrying the approval request id and the count outstanding, so the console can render 'awaiting 2 approvals' and link to the queue. That falls out of the existing enforcement.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matrix gaps are closed here because they are lifecycle work: asymmetric auto-rotation, Shamir threshold split keys, and batch atomicity via a service-level transaction.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plane beside the control plane: POST /keys/{uid}/encrypt | decrypt | sign | mac, and /datakey returning a fresh key both wrapped under the named key and in the clear — the surface applications actually consume, and the primitives already run inside the token.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endpoints, and the governance gaps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and delegation over REST, with governance applying by construction rather than by remembering.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6766560" cy="2936494"/>
          </a:xfrm>
          <a:prstGeom prst="roundRect">
            <a:avLst>
              <a:gd name="adj" fmla="val 1868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6254496" cy="224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writes go through the guard. Scheduled rotation extends to key pairs using the existing ReKeyKeyPair handler; CreateSplitKey gains a Shamir method alongside XOR; the service layer wraps a batch in one transaction so a mid-batch failure rolls back.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crypto endpoints are thin: they translate JSON to the arguments the existing Encrypt, Decrypt, Sign and MAC handlers already take. Re-wrap is decrypt-then-encrypt under the successor key, inside one guarded call so plaintext never leaves the process.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07808" y="2103120"/>
            <a:ext cx="3986784" cy="2936494"/>
          </a:xfrm>
          <a:prstGeom prst="roundRect">
            <a:avLst>
              <a:gd name="adj" fmla="val 1868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4 GAP-MATRIX FEATURES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15184"/>
            <a:ext cx="3474720" cy="224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rotation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knowledge / M-of-N shares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and batch operations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as a service (data-plane API)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~1,350 lines, ~68 tests.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endpoints, and the governance gaps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and delegation over REST, with governance applying by construction rather than by remembering.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3405759"/>
          </a:xfrm>
          <a:prstGeom prst="roundRect">
            <a:avLst>
              <a:gd name="adj" fmla="val 1611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27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dual-control assertion from the KMIP wire test, run verbatim against REST: the first Destroy is refused, the key survives, two other identities approve, the retry succeeds, and the approval is spent.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allowlists and group grants behave identically over both transports — parametrised over the transport, one test body.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rotation cross-links both new objects to both old ones.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Shamir: any k of n shares reconstruct, any k-1 fail.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whose third item fails leaves the first two unapplied.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from the REST encrypt endpoint decrypts over KMIP and the reverse — one test body, both transports, so the two cannot diverge.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key returns a wrapped form that unwraps to the plaintext form; re-wrap to the successor key yields the original plaintext and the old ciphertext no longer decrypts under the new version.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5783199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5929503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5892927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KMIP dual-control test and the REST dual-control test share one body and both pass.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Administration, OpenAPI, separation of duties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API surface and split the administrator so no one role can both grant access and use it.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3824224"/>
          </a:xfrm>
          <a:prstGeom prst="roundRect">
            <a:avLst>
              <a:gd name="adj" fmla="val 1435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312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role splits in two — the first change to the authorization model since Phase 5, and the first needing a migration for existing deployments.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OpenAPI document becomes a build artefact CI has to keep in step with the router.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3824224"/>
          </a:xfrm>
          <a:prstGeom prst="roundRect">
            <a:avLst>
              <a:gd name="adj" fmla="val 1435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312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role and group administration endpoints.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role splits into security-admin (identities, roles, policy) and key-admin (objects, cryptoperiods), so a key administrator cannot grant themselves access to what they administer.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OpenAPI 3.1 document generated from the router's route table, not hand-written — a hand-written spec drifts within a month.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explorer served from that document, and client libraries generated from it in CI rather than written by hand, for the same reason: anything maintained separately from the router drifts from it.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Administration, OpenAPI, separation of duties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API surface and split the administrator so no one role can both grant access and use it.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6766560" cy="1920240"/>
          </a:xfrm>
          <a:prstGeom prst="roundRect">
            <a:avLst>
              <a:gd name="adj" fmla="val 285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62544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assigns both new roles to anyone holding admin today, so an upgrade changes nobody's access until an operator splits them.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07808" y="2103120"/>
            <a:ext cx="3986784" cy="1920240"/>
          </a:xfrm>
          <a:prstGeom prst="roundRect">
            <a:avLst>
              <a:gd name="adj" fmla="val 2857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3 GAP-MATRIX FEATURES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15184"/>
            <a:ext cx="3474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 API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specification and generated clients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~900 lines, ~50 tests.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Administration, OpenAPI, separation of duties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API surface and split the administrator so no one role can both grant access and use it.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2495169"/>
          </a:xfrm>
          <a:prstGeom prst="roundRect">
            <a:avLst>
              <a:gd name="adj" fmla="val 2199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key-admin cannot create an identity; a security-admin cannot read key material; neither can escalate to the other.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OpenAPI document validates against the 3.1 schema, and a reflection test asserts every registered route appears in it.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generated from the document round-trips a create, read and delete against a live server, so the specification is proved usable and not merely well-formed.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for a sample of endpoints match their declared schemas.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872609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5018913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4982337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openapi.json validates, covers every route the router knows about, and the two admin roles are provably disjoint in capability.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console and self-service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most of the market considers table stakes, and the reason the API exists.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2942844"/>
          </a:xfrm>
          <a:prstGeom prst="roundRect">
            <a:avLst>
              <a:gd name="adj" fmla="val 1864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front-end build enters the repository — the first artefact that is neither Python nor documentation tooling.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 and cookie handling become part of the security review surface.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2942844"/>
          </a:xfrm>
          <a:prstGeom prst="roundRect">
            <a:avLst>
              <a:gd name="adj" fmla="val 1864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client of the API. No privileged path: the console can do nothing the API forbids, and holds no credential the API would not accept from curl.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Views: key inventory, key detail, approval queue, audit search, expiry report, identity and role administration.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Self-service: a team member creates and rotates keys within their group's grants, without an administrator.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console and self-service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most of the market considers table stakes, and the reason the API exists.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6766560" cy="1920240"/>
          </a:xfrm>
          <a:prstGeom prst="roundRect">
            <a:avLst>
              <a:gd name="adj" fmla="val 285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62544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 the API listener or a CDN. Strict CSP with no unsafe-inline. Session in an httpOnly cookie, never in localStorage.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07808" y="2103120"/>
            <a:ext cx="3986784" cy="1920240"/>
          </a:xfrm>
          <a:prstGeom prst="roundRect">
            <a:avLst>
              <a:gd name="adj" fmla="val 2857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2 GAP-MATRIX FEATURES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15184"/>
            <a:ext cx="3474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developer portal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~2,000 lines of front-end, ~30 tests.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console and self-service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most of the market considers table stakes, and the reason the API exists.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1993519"/>
          </a:xfrm>
          <a:prstGeom prst="roundRect">
            <a:avLst>
              <a:gd name="adj" fmla="val 2752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1298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with a headless browser (Playwright is available): log in, list keys, open the approval queue, approve a request, watch a blocked Destroy succeed on retry.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CSP contains no unsafe-inline and no unsafe-eval.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the API forbids to this identity is not reachable from the console by any means, including direct navigation.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370959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517263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4480687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completes a full day of routine work — provisioning, approving, investigating an audit question — without touching the CLI.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identity and policy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against the corporate directory, and express conditions the role model cannot.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2744724"/>
          </a:xfrm>
          <a:prstGeom prst="roundRect">
            <a:avLst>
              <a:gd name="adj" fmla="val 1999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2049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gains a third path beside password and mTLS certificate.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gains a policy evaluation point — the first change to its order of checks since step 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2744724"/>
          </a:xfrm>
          <a:prstGeom prst="roundRect">
            <a:avLst>
              <a:gd name="adj" fmla="val 1999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2049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OIDC: validate the ID token (issuer, audience, expiry, signature) and map a claim to a provisioned identity. LDAP/AD bind as an alternative.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mTLS path already proves the pattern — an external assertion resolved to a provisioned principal, never inventing one.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Attribute-based conditions evaluated in the guard before the allowlist: time window, source network, purpose. The engine may only narrow.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identity and policy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against the corporate directory, and express conditions the role model cannot.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6766560" cy="1920240"/>
          </a:xfrm>
          <a:prstGeom prst="roundRect">
            <a:avLst>
              <a:gd name="adj" fmla="val 285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62544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group to role mapping, refreshed on login.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stored in the database, versioned, and every evaluation that denies is audited with the rule that fired.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07808" y="2103120"/>
            <a:ext cx="3986784" cy="1920240"/>
          </a:xfrm>
          <a:prstGeom prst="roundRect">
            <a:avLst>
              <a:gd name="adj" fmla="val 2857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2 GAP-MATRIX FEATURES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15184"/>
            <a:ext cx="3474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IdP — LDAP/AD, SAML, OIDC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or policy-based access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~900 lines, ~40 tests.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identity and policy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against the corporate directory, and express conditions the role model cannot.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2288794"/>
          </a:xfrm>
          <a:prstGeom prst="roundRect">
            <a:avLst>
              <a:gd name="adj" fmla="val 239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159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expired, wrong-audience, wrong-issuer or unsigned token is refused; a valid token for an unprovisioned subject is refused.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group changes take effect on next login.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denies outside its window and permits inside it.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test: for any identity and any policy set, the permitted operation set is a subset of what the role model alone would allow. A policy that widens access is a bug by construction.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666234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81253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4775962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corporate login yields exactly the roles the directory says, and a policy denial names the rule that fired in the audit log.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externalisation, compliance and ceremony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audit trail survive an attacker with file access, and produce the evidence an auditor asks for.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3894709"/>
          </a:xfrm>
          <a:prstGeom prst="roundRect">
            <a:avLst>
              <a:gd name="adj" fmla="val 1409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3199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log stops being purely local: it gains an outbound path and an external dependency.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0 takes on a third single-instance responsibility beside the scheduler and the metrics endpoint.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gains a sealed state. Every health check, every deployment script and every operator runbook has to account for a service that is running but not yet open.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3894709"/>
          </a:xfrm>
          <a:prstGeom prst="roundRect">
            <a:avLst>
              <a:gd name="adj" fmla="val 1409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3199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35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shipper emitting audit rows as syslog/CEF, with a persisted cursor so a restart neither duplicates nor loses entries.</a:t>
            </a:r>
            <a:endParaRPr lang="en-US" sz="950" dirty="0"/>
          </a:p>
          <a:p>
            <a:pPr marL="342900" indent="-342900">
              <a:lnSpc>
                <a:spcPts val="1235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notarisation of the chain digest to an append-only external endpoint. This is the one thing the local chain cannot do: detect a wholesale, internally consistent rewrite.</a:t>
            </a:r>
            <a:endParaRPr lang="en-US" sz="950" dirty="0"/>
          </a:p>
          <a:p>
            <a:pPr marL="342900" indent="-342900">
              <a:lnSpc>
                <a:spcPts val="1235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 generators over the audit log and key inventory — PCI DSS key-management evidence, NIST SP 800-57 cryptoperiod evidence.</a:t>
            </a:r>
            <a:endParaRPr lang="en-US" sz="950" dirty="0"/>
          </a:p>
          <a:p>
            <a:pPr marL="342900" indent="-342900">
              <a:lnSpc>
                <a:spcPts val="1235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ceremony runbook, and a kmip-admin command producing a signed transcript of what was done, by whom and witnessed by whom — extended to the token PIN itself, split into operator-held shares so the service starts sealed and a quorum opens it. Today one PIN holder is the whole ceremony.</a:t>
            </a:r>
            <a:endParaRPr lang="en-US" sz="950" dirty="0"/>
          </a:p>
          <a:p>
            <a:pPr marL="342900" indent="-342900">
              <a:lnSpc>
                <a:spcPts val="1235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around every guarded operation and token call. Metrics say a request was slow; a span says which PKCS#11 call it waited on.</a:t>
            </a:r>
            <a:endParaRPr lang="en-US" sz="950" dirty="0"/>
          </a:p>
          <a:p>
            <a:pPr marL="342900" indent="-342900">
              <a:lnSpc>
                <a:spcPts val="1235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rules over the metrics already exported.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externalisation, compliance and ceremony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audit trail survive an attacker with file access, and produce the evidence an auditor asks for.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6766560" cy="2704084"/>
          </a:xfrm>
          <a:prstGeom prst="roundRect">
            <a:avLst>
              <a:gd name="adj" fmla="val 2029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6254496" cy="200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shipper runs in worker 0 alongside the scheduler, with the same single-instance reasoning.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07808" y="2103120"/>
            <a:ext cx="3986784" cy="2704084"/>
          </a:xfrm>
          <a:prstGeom prst="roundRect">
            <a:avLst>
              <a:gd name="adj" fmla="val 2029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7 GAP-MATRIX FEATURES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15184"/>
            <a:ext cx="3474720" cy="200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key ceremony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audit anchoring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startup with quorum unseal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~1,350 lines, ~60 tests.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externalisation, compliance and ceremony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audit trail survive an attacker with file access, and produce the evidence an auditor asks for.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3405759"/>
          </a:xfrm>
          <a:prstGeom prst="roundRect">
            <a:avLst>
              <a:gd name="adj" fmla="val 1611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27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shipper emits every row exactly once across a restart — kill it mid-stream and assert the union at the collector.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output parses with a standard parser.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detects tampering the local chain cannot: rewrite the whole log consistently, re-chain it so verify_audit_chain passes, and assert the anchor comparison fails.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figures match direct store queries.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ceremony transcript verifies against its signature and fails after a single byte is changed.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k of n unseal shares start the service and any k-1 leave it sealed; a sealed service answers /health and refuses every KMIP and REST operation rather than failing obscurely deep in the shim.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traced request carries one trace id from the HTTP layer through the guard to the token call, and a sampled-out request costs no spans.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5783199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5929503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5892927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rewritten but internally consistent audit log — one that passes local verification — is caught by the external anchor.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abstraction and PostgreSQL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single-writer constraint that blocks everything in stage D.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2655824"/>
          </a:xfrm>
          <a:prstGeom prst="roundRect">
            <a:avLst>
              <a:gd name="adj" fmla="val 2066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19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metadata/store.py stops being SQLite and becomes an interface with two implementations — the largest structural change in the plan.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SQLite-specific mechanism needs a deliberate equivalent, including the lock that stops the audit chain forking.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2655824"/>
          </a:xfrm>
          <a:prstGeom prst="roundRect">
            <a:avLst>
              <a:gd name="adj" fmla="val 2066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19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Store interface; SQLite becomes one implementation and PostgreSQL another.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SQLite-specific mechanism needs a deliberate equivalent, not a translation: PRAGMA user_version becomes a schema-version table, json_extract becomes JSONB operators, RAISE(ABORT) triggers become PL/pgSQL triggers, and BEGIN IMMEDIATE — which is what keeps the audit chain from forking — becomes an advisory lock or SERIALIZABLE.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abstraction and PostgreSQL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single-writer constraint that blocks everything in stage D.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6766560" cy="1920240"/>
          </a:xfrm>
          <a:prstGeom prst="roundRect">
            <a:avLst>
              <a:gd name="adj" fmla="val 285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62544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backends ship. SQLite stays the default for single-node deployments; it is a good answer there and removing it would be a regression.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07808" y="2103120"/>
            <a:ext cx="3986784" cy="1920240"/>
          </a:xfrm>
          <a:prstGeom prst="roundRect">
            <a:avLst>
              <a:gd name="adj" fmla="val 2857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1 GAP-MATRIX FEATURE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15184"/>
            <a:ext cx="3474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database backend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~1,500 lines, ~60 tests. Needs a PostgreSQL instance in CI.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abstraction and PostgreSQL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single-writer constraint that blocks everything in stage D.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2288794"/>
          </a:xfrm>
          <a:prstGeom prst="roundRect">
            <a:avLst>
              <a:gd name="adj" fmla="val 239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159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existing store suite runs against both backends from one parametrised fixture — not a parallel copy that drifts.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chain survives concurrent writers on PostgreSQL: hammer it from several connections and assert the chain verifies and no sequence number is reused.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apply identically on both; backup and restore work on both.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 dump from one backend restores into the other.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666234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81253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4775962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suite — 816 tests plus everything added since — passes against PostgreSQL as well as SQLite.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availability, failover and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the loss of a node, a token, or a site.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3140964"/>
          </a:xfrm>
          <a:prstGeom prst="roundRect">
            <a:avLst>
              <a:gd name="adj" fmla="val 1747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Single-process assumptions become cluster-wide ones: the scheduler needs a leader lock, not a worker index.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pkcs11_shim gains a pool and health checks — the first change to the shim's contract since the capability probe.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3140964"/>
          </a:xfrm>
          <a:prstGeom prst="roundRect">
            <a:avLst>
              <a:gd name="adj" fmla="val 174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nodes against one PostgreSQL. The scheduler takes a leader lock so exactly one instance enforces cryptoperiods — the same reasoning that restricts it to worker 0 today, one level up.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HSM pool: several tokens, health-checked, with failover. The master key must exist on each, which makes provisioning part of the design rather than an afterthought.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backup with offsite shipping; Helm chart and manifests; the container image and CI workflow finally executed.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availability, failover and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the loss of a node, a token, or a site.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6766560" cy="2417064"/>
          </a:xfrm>
          <a:prstGeom prst="roundRect">
            <a:avLst>
              <a:gd name="adj" fmla="val 2270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6254496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traffic spreads across nodes; audited writes still serialise on the chain, so this raises availability more than throughput. Say so rather than implying linear scaling.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07808" y="2103120"/>
            <a:ext cx="3986784" cy="2417064"/>
          </a:xfrm>
          <a:prstGeom prst="roundRect">
            <a:avLst>
              <a:gd name="adj" fmla="val 227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6 GAP-MATRIX FEATURES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15184"/>
            <a:ext cx="347472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clustering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replication and DR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 failover and pooling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throughput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and offsite backup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container deployment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~1,800 lines, ~55 tests. Needs multiple nodes and a second token.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availability, failover and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the loss of a node, a token, or a site.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2377694"/>
          </a:xfrm>
          <a:prstGeom prst="roundRect">
            <a:avLst>
              <a:gd name="adj" fmla="val 230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168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leader under load: another takes over within the lease period, and no key is deactivated twice.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a token mid-operation: the request either completes on another or fails cleanly, never silently half-applies.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nodes serving concurrently produce one intact audit chain.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backup taken on one node restores on another.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image builds and its health check passes — the first time this has been executed anywhere.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755134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90143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4864862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is killed under sustained load: no request is lost, the audit chain verifies, and cryptoperiod enforcement continues uninterrupted.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unrelated tenants share one deployment without seeing each other.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3427984"/>
          </a:xfrm>
          <a:prstGeom prst="roundRect">
            <a:avLst>
              <a:gd name="adj" fmla="val 1600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273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tenant column reaches every table, every query, the audit log, the CLI and the API.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names stop being globally unique — the change most likely to surprise an existing deployment.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3427984"/>
          </a:xfrm>
          <a:prstGeom prst="roundRect">
            <a:avLst>
              <a:gd name="adj" fmla="val 1600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273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becomes a first-class column on objects, identities and audit rows, and every query is scoped by it.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names become unique per tenant rather than globally — the change most likely to surprise an existing deployment.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Quotas: object count, operations per second, storage. Per-tenant audit views. Tenant administrators who cannot see other tenants.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it is last: the boundary reaches into every query, the audit log, the CLI and the API, and half of it would be worse than none.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unrelated tenants share one deployment without seeing each other.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6766560" cy="1920240"/>
          </a:xfrm>
          <a:prstGeom prst="roundRect">
            <a:avLst>
              <a:gd name="adj" fmla="val 285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62544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migration places every existing object in a default tenant, so a single-tenant deployment behaves exactly as before.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07808" y="2103120"/>
            <a:ext cx="3986784" cy="1920240"/>
          </a:xfrm>
          <a:prstGeom prst="roundRect">
            <a:avLst>
              <a:gd name="adj" fmla="val 2857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2 GAP-MATRIX FEATURES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15184"/>
            <a:ext cx="3474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and namespaces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quotas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~1,600 lines, ~80 tests.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unrelated tenants share one deployment without seeing each other.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2584069"/>
          </a:xfrm>
          <a:prstGeom prst="roundRect">
            <a:avLst>
              <a:gd name="adj" fmla="val 2123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188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isolation: parametrised over all 41 KMIP operations and every REST route, an identity in tenant B cannot read, modify, locate or destroy an object in tenant A. This is the test that matters and it should be generated from the operation table, not hand-written.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collisions across tenants are allowed; within a tenant they are not.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enforcement at the boundary, and the audit row that records it.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tenant administrator cannot escalate out of their tenant.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search returns only the caller's tenant.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961509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5107813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5071237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test over every operation and every route proves no cross-tenant reachability exists.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KMIP JSON and XML encodings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client speak KMIP without implementing a TTLV codec.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3339084"/>
          </a:xfrm>
          <a:prstGeom prst="roundRect">
            <a:avLst>
              <a:gd name="adj" fmla="val 1643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2644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core/ttlv.py stops being the only codec, and the tag registry becomes shared infrastructure rather than a TTLV detail.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above the codec changes. That is the point of the step: the service layer cannot tell which encoding a request arrived 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3339084"/>
          </a:xfrm>
          <a:prstGeom prst="roundRect">
            <a:avLst>
              <a:gd name="adj" fmla="val 1643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2644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model does not change. What changes is the wire: a JSON codec and an XML one beside core/ttlv.py, both driven by the same tag and type tables, so a new tag is still added in one place.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HTTPS binding on the API listener — POST /kmip, encoding chosen by Content-Type — rather than a second socket. The KMIP TCP port is untouched.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is a transport concern, so it sits below the service layer: the same guard, the same handlers, the same audit rows.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KMIP JSON and XML encodings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client speak KMIP without implementing a TTLV codec.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6766560" cy="2110994"/>
          </a:xfrm>
          <a:prstGeom prst="roundRect">
            <a:avLst>
              <a:gd name="adj" fmla="val 2599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6254496" cy="141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core/encodings/ with json.py and xml.py implementing the OASIS profiles, sharing the tag registry the TTLV codec already reads.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negotiation, and 415 for an encoding that is not enabled. Both are off by default: a new parser is new attack surface.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07808" y="2103120"/>
            <a:ext cx="3986784" cy="2110994"/>
          </a:xfrm>
          <a:prstGeom prst="roundRect">
            <a:avLst>
              <a:gd name="adj" fmla="val 2599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1 GAP-MATRIX FEATURE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15184"/>
            <a:ext cx="3474720" cy="141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KMIP JSON and XML encodings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~700 lines, ~40 tests — mostly the existing corpus re-parametrised.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KMIP JSON and XML encodings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client speak KMIP without implementing a TTLV codec.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2495169"/>
          </a:xfrm>
          <a:prstGeom prst="roundRect">
            <a:avLst>
              <a:gd name="adj" fmla="val 2199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every operation's request and response through all three encodings and assert the decoded structures are identical — the existing conformance corpus re-run twice, not a new set of assertions.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OASIS JSON and XML test vectors decode to what the TTLV vectors decode to.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batch, a wrapped key and a dual-control refusal behave the same over JSON as over TTLV, so an encoding cannot change semantics.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unknown tag, a truncated document and a type mismatch are refused with the same error the TTLV codec raises.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872609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5018913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4982337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conformance suite passes unchanged when re-run against the JSON and XML encodings, and a request refused over TTLV is refused identically over both.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OF 14 · DESIGN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discovery and expiry monitoring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certificates the estate is actually running, and warn before one expires.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486400" cy="3140964"/>
          </a:xfrm>
          <a:prstGeom prst="roundRect">
            <a:avLst>
              <a:gd name="adj" fmla="val 1747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EXISTING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4974336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starts reaching outward. Everything else here waits to be called; this initiates connections, which is a new posture for the service and for its firewall rules.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inventory stops being a view of what this KMS holds and becomes a view of the estate, including certificates it does not manage.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103120"/>
            <a:ext cx="5266944" cy="3140964"/>
          </a:xfrm>
          <a:prstGeom prst="roundRect">
            <a:avLst>
              <a:gd name="adj" fmla="val 174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475488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scanner that connects to configured TLS endpoints, records the chain presented, and stores subject, issuer, fingerprint and validity window against the inventory.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registered here are matched by fingerprint, so the report separates what this KMS manages from what it does not — the second number is the one that matters.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thresholds feed the alerting rules built in step 9 rather than opening a second notification path.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OF 14 · 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discovery and expiry monitoring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certificates the estate is actually running, and warn before one expires.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6766560" cy="2110994"/>
          </a:xfrm>
          <a:prstGeom prst="roundRect">
            <a:avLst>
              <a:gd name="adj" fmla="val 2599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6254496" cy="141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kmip_pkcs11/discovery/ with the scanner, a scheduler entry beside the cryptoperiod scheduler in worker 0, and the inventory tables.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is read-only and rate-limited. This is a tool that touches production endpoints, and it should be incapable of harming them.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07808" y="2103120"/>
            <a:ext cx="3986784" cy="2110994"/>
          </a:xfrm>
          <a:prstGeom prst="roundRect">
            <a:avLst>
              <a:gd name="adj" fmla="val 2599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1 GAP-MATRIX FEATURE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15184"/>
            <a:ext cx="3474720" cy="141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discovery and expiry monitoring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727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size: ~600 lines, ~30 tests.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OF 14 · TEST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discovery and expiry monitoring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27664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89888"/>
            <a:ext cx="9290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certificates the estate is actually running, and warn before one expires.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77272" y="1389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2288794"/>
          </a:xfrm>
          <a:prstGeom prst="roundRect">
            <a:avLst>
              <a:gd name="adj" fmla="val 2397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2257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HAVE TO PROVE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10515600" cy="159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 of local TLS servers with known certificates records exactly those chains, intermediate included.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certificate registered here and the same certificate found by scanning reconcile to one inventory row, matched on fingerprint.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endpoint that times out, presents an expired certificate, or drops the handshake is recorded as such rather than skipped silently.</a:t>
            </a:r>
            <a:endParaRPr lang="en-US" sz="1250" dirty="0"/>
          </a:p>
          <a:p>
            <a:pPr marL="342900" indent="-342900">
              <a:lnSpc>
                <a:spcPts val="16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D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expiry threshold fires once per certificate per window, not on every scan.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666234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8C9A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81253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4775962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 of a fixture estate reports every certificate, splits managed from unmanaged correctly, and raises an expiry alert exactly once for a certificate inside the warning window.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02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STEP 12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plan does not close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92224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BYOK (AWS, Azure, GCP) · Cloud EKM / XKS / hold-your-own-key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77977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35808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TDE integration · Storage, backup and VM integrations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02336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SCOPE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279392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 · Certificate lifecycle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334256" y="153619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334256" y="1792224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breadth · Post-quantum (ML-KEM, ML-DSA, SLH-DSA) · Key-bound usage policy enforced in hardware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334256" y="277977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STEP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334256" y="3035808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KMIP 3.0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334256" y="402336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34256" y="4279392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KMIP interoperability certification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3619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1792224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PKCS#11 provider for applications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101584" y="277977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101584" y="3035808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/ format-preserving encryption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101584" y="402336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01584" y="4279392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140-2/3 validated HSM · Common Criteria / eIDAS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175504"/>
            <a:ext cx="11027664" cy="987552"/>
          </a:xfrm>
          <a:prstGeom prst="roundRect">
            <a:avLst>
              <a:gd name="adj" fmla="val 5556"/>
            </a:avLst>
          </a:prstGeom>
          <a:solidFill>
            <a:srgbClr val="1B3350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5175504"/>
            <a:ext cx="104790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of 50 closed by the 14 steps. 8 more are work someone could schedule — integration, vendor validation, or a product decision. The last 8 depend on a supplier, a procurement decision, an OASIS event or hardware this project cannot verify; no amount of planning moves them.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KMS delivery plan</dc:title>
  <dc:subject>PptxGenJS Presentation</dc:subject>
  <dc:creator>kmip_pkcs11</dc:creator>
  <cp:lastModifiedBy>kmip_pkcs11</cp:lastModifiedBy>
  <cp:revision>1</cp:revision>
  <dcterms:created xsi:type="dcterms:W3CDTF">2026-09-11T23:18:40Z</dcterms:created>
  <dcterms:modified xsi:type="dcterms:W3CDTF">2026-09-11T23:18:40Z</dcterms:modified>
</cp:coreProperties>
</file>